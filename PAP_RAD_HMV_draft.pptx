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 40 content + 5 discussion. 22 content slides. Sections: I clinical problem, II polio lineage, III sleep lineage, IV the regulatory fork, V convergence, VI current categories, VII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devices yet. Return to these three in the final slide. The point of the third column is that consequence-of-interruption, not disease severity, is what separates the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E0470 example is the whole talk in miniature: one code, two coverage universes, depending only on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pressure was in industrial use (Draeger, gas poisoning and mining) two decades before the negative-pressure clinical era. Worth one sentence: the technology direction of travel is not what people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Ibsen 1954; Lassen Lancet 1953; Trubuhovich Crit Care Resusc 2007 for Bower/Bennett. The four-box diagram is the setup for the entire regulatory story: Medicare ends up paying for box one and, through FSS, partly for boxes two through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90 seconds. The teaching point is the three-part requirement, not the philanthropy trivia.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Katie Beckett is Medicaid and is about access to home care — not the later RAD billing story. Keep it to 45 seconds. Distinguish the 1981 individual intervention from the 1982 statutory option. Goldberg/CHOP detail is King 2012 personal communication — mention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conceptual advance is pneumatic splinting of the upper airway through a nasal interface — not replacement of ventilatory work. Contrast directly with the tank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FIGURE FIRST. Two horizontal tracks converging but never merging. Do NOT draw a single ladder from CPAP to RAD to HMV — that is the mental model the talk exists to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BPAP use for severe COPD and neuromuscular disease became widespread through the 1990s (ONMAP). These smaller devices opened home ventilatory support to OSA, COPD, CSA and hypoventilation — four populations the single E0470 code cannot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FSS was 'intended to include items which require frequent servicing in order to avoid imminent danger to a beneficiary's health' (H.R. Conf. Rep. 103-213). E0453, 'therapeutic ventilator; suitable for use 12 hours or less per day,' was created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things happen in the same window and fellows conflate them: the coverage criteria (a) and the payment category (b). The criteria came first and the payment fight dragged on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ONMAP's nuance, say it out loud: FSS is an EQUIPMENT-servicing payment category, not a guaranteed schedule of professional RT visits. CMS 'will correctly argue that the statute and regulations apply to frequent and substantial servicing for equipment, not professional services.' The RT support is a culture that grew up around the payment, not a benefit the payment defines.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punchline of the entire regulatory section. ONMAP: 'The clinicians honestly stated that it was easier to prescribe HMV than a device with S/T mode capability' — and they believed the lifelong clinical/technical support that came with HMV was essential. Migration coincided with COPD readmission penalties.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Schematic square waves on purpose — clearer than a realistic trace. Walk left to right: what problem does each added feature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ask fellows to memorize FDA product codes. The point is only that two agencies drew two different lines through the same devices, and neither line is physiology.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Counterweight if time allows: alarms are a capability, not a guarantee. King's 2010 MAUDE review found at least 11 home-ventilation deaths reported; in at least 5 the ventilator did not alarm. One narrative: 'Husband unsure if alarm going off or not, as there were always alarms going off.' Sources disagree on the RAD ceiling — 25 (Gusman &amp; Wolfe) vs 30 (Jimenez &amp; Choi). Say model-dependent.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navigation slide. Fellows do not need to memorize thresholds — they need to know which document to open and what clinical distinction it encodes.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discharge pathway is the one fellows will use most and know least. No ABG needed. Months 7-12 require adherence in EACH paid rental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ALS line out loud and pause. It is the single highest-yield practical correction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linger. This is a reference slide; the fellows will photograph it. Spend the time on the COPD row and the neuromuscular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cite ONMAP's figure for Kohnlein, note their '36% relative reduction' does not reconcile with 12% vs 33%. Use ARR 21% / NNT 5 (D'Cruz &amp; 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dependent patient: an explicit interruption-response plan. Note CMS supports a second device only for the wheelchair-mounted plus bedside scenario — 'documentation that states the need for a second device as backup in case of device failure is not supported by CMS' — even though patients requiring &gt;18 h/day are functionally ventilator-dependent.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closing quote: 'It has been stated that ontogeny recapitulates phylogeny and perhaps so should technology recapitulate pathology. Technology in this arena, however, has taken off in such a quantum fashion that it assumed its own trajectory.' — Gay &amp; Owens, ONMAP 2021. Then 5 minutes of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057400"/>
            <a:ext cx="10911535" cy="822960"/>
          </a:xfrm>
          <a:prstGeom prst="rect">
            <a:avLst/>
          </a:prstGeom>
          <a:noFill/>
          <a:ln/>
        </p:spPr>
        <p:txBody>
          <a:bodyPr wrap="square" lIns="0" tIns="0" rIns="0" bIns="0" rtlCol="0" anchor="ctr"/>
          <a:lstStyle/>
          <a:p>
            <a:pPr indent="0" marL="0">
              <a:buNone/>
            </a:pPr>
            <a:r>
              <a:rPr lang="en-US" sz="4000" b="1" dirty="0">
                <a:solidFill>
                  <a:srgbClr val="000000"/>
                </a:solidFill>
                <a:latin typeface="Cambria" pitchFamily="34" charset="0"/>
                <a:ea typeface="Cambria" pitchFamily="34" charset="-122"/>
                <a:cs typeface="Cambria" pitchFamily="34" charset="-120"/>
              </a:rPr>
              <a:t>PAP, RADs, and Home Mechanical Ventilators</a:t>
            </a:r>
            <a:endParaRPr lang="en-US" sz="4000" dirty="0"/>
          </a:p>
        </p:txBody>
      </p:sp>
      <p:sp>
        <p:nvSpPr>
          <p:cNvPr id="3" name="Shape 1"/>
          <p:cNvSpPr/>
          <p:nvPr/>
        </p:nvSpPr>
        <p:spPr>
          <a:xfrm>
            <a:off x="640080" y="2999232"/>
            <a:ext cx="3840480" cy="0"/>
          </a:xfrm>
          <a:prstGeom prst="line">
            <a:avLst/>
          </a:prstGeom>
          <a:noFill/>
          <a:ln w="15875">
            <a:solidFill>
              <a:srgbClr val="000000"/>
            </a:solidFill>
            <a:prstDash val="solid"/>
          </a:ln>
        </p:spPr>
      </p:sp>
      <p:sp>
        <p:nvSpPr>
          <p:cNvPr id="4" name="Text 2"/>
          <p:cNvSpPr txBox="1"/>
          <p:nvPr/>
        </p:nvSpPr>
        <p:spPr>
          <a:xfrm>
            <a:off x="640080" y="3200400"/>
            <a:ext cx="10911535" cy="731520"/>
          </a:xfrm>
          <a:prstGeom prst="rect">
            <a:avLst/>
          </a:prstGeom>
          <a:noFill/>
          <a:ln/>
        </p:spPr>
        <p:txBody>
          <a:bodyPr wrap="square" lIns="0" tIns="0" rIns="0" bIns="0" rtlCol="0" anchor="ctr"/>
          <a:lstStyle/>
          <a:p>
            <a:pPr indent="0" marL="0">
              <a:lnSpc>
                <a:spcPct val="120000"/>
              </a:lnSpc>
              <a:buNone/>
            </a:pPr>
            <a:r>
              <a:rPr lang="en-US" sz="1700" i="1" dirty="0">
                <a:solidFill>
                  <a:srgbClr val="1A1A1A"/>
                </a:solidFill>
                <a:latin typeface="Cambria" pitchFamily="34" charset="0"/>
                <a:ea typeface="Cambria" pitchFamily="34" charset="-122"/>
                <a:cs typeface="Cambria" pitchFamily="34" charset="-120"/>
              </a:rPr>
              <a:t>How an epidemic, a blower, and a sentence in a 1993 tax bill</a:t>
            </a:r>
            <a:endParaRPr lang="en-US" sz="1700" dirty="0"/>
          </a:p>
          <a:p>
            <a:pPr indent="0" marL="0">
              <a:lnSpc>
                <a:spcPct val="120000"/>
              </a:lnSpc>
              <a:buNone/>
            </a:pPr>
            <a:r>
              <a:rPr lang="en-US" sz="1700" i="1" dirty="0">
                <a:solidFill>
                  <a:srgbClr val="1A1A1A"/>
                </a:solidFill>
                <a:latin typeface="Cambria" pitchFamily="34" charset="0"/>
                <a:ea typeface="Cambria" pitchFamily="34" charset="-122"/>
                <a:cs typeface="Cambria" pitchFamily="34" charset="-120"/>
              </a:rPr>
              <a:t>produced three device categories</a:t>
            </a:r>
            <a:endParaRPr lang="en-US" sz="1700" dirty="0"/>
          </a:p>
        </p:txBody>
      </p:sp>
      <p:sp>
        <p:nvSpPr>
          <p:cNvPr id="5" name="Text 3"/>
          <p:cNvSpPr txBox="1"/>
          <p:nvPr/>
        </p:nvSpPr>
        <p:spPr>
          <a:xfrm>
            <a:off x="640080" y="5029200"/>
            <a:ext cx="10911535" cy="27432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Pulmonary &amp; Critical Care Fellows Conference  ·  45 minutes</a:t>
            </a:r>
            <a:endParaRPr lang="en-US" sz="1200" dirty="0"/>
          </a:p>
        </p:txBody>
      </p:sp>
      <p:sp>
        <p:nvSpPr>
          <p:cNvPr id="6" name="Text 4"/>
          <p:cNvSpPr txBox="1"/>
          <p:nvPr/>
        </p:nvSpPr>
        <p:spPr>
          <a:xfrm>
            <a:off x="640080" y="5349240"/>
            <a:ext cx="10911535"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Medicare policy verified September 2026  ·  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 · THE CLINICAL PROBLEM</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Three patients need positive pressure.</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They do not need the same thing.</a:t>
            </a:r>
            <a:endParaRPr lang="en-US" sz="1250" dirty="0"/>
          </a:p>
        </p:txBody>
      </p:sp>
      <p:sp>
        <p:nvSpPr>
          <p:cNvPr id="6" name="Shape 4"/>
          <p:cNvSpPr/>
          <p:nvPr/>
        </p:nvSpPr>
        <p:spPr>
          <a:xfrm>
            <a:off x="640080" y="1444752"/>
            <a:ext cx="3401568" cy="0"/>
          </a:xfrm>
          <a:prstGeom prst="line">
            <a:avLst/>
          </a:prstGeom>
          <a:noFill/>
          <a:ln w="15875">
            <a:solidFill>
              <a:srgbClr val="000000"/>
            </a:solidFill>
            <a:prstDash val="solid"/>
          </a:ln>
        </p:spPr>
      </p:sp>
      <p:sp>
        <p:nvSpPr>
          <p:cNvPr id="7" name="Text 5"/>
          <p:cNvSpPr txBox="1"/>
          <p:nvPr/>
        </p:nvSpPr>
        <p:spPr>
          <a:xfrm>
            <a:off x="640080" y="1536192"/>
            <a:ext cx="3401568" cy="347472"/>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A</a:t>
            </a:r>
            <a:endParaRPr lang="en-US" sz="1700" dirty="0"/>
          </a:p>
        </p:txBody>
      </p:sp>
      <p:sp>
        <p:nvSpPr>
          <p:cNvPr id="8" name="Text 6"/>
          <p:cNvSpPr txBox="1"/>
          <p:nvPr/>
        </p:nvSpPr>
        <p:spPr>
          <a:xfrm>
            <a:off x="640080" y="1975104"/>
            <a:ext cx="3401568" cy="100584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54M, symptomatic OSA</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AHI 38, normal awake ABG,</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preserved muscle strength</a:t>
            </a:r>
            <a:endParaRPr lang="en-US" sz="1300" dirty="0"/>
          </a:p>
        </p:txBody>
      </p:sp>
      <p:sp>
        <p:nvSpPr>
          <p:cNvPr id="9" name="Shape 7"/>
          <p:cNvSpPr/>
          <p:nvPr/>
        </p:nvSpPr>
        <p:spPr>
          <a:xfrm>
            <a:off x="640080" y="3163824"/>
            <a:ext cx="3401568" cy="0"/>
          </a:xfrm>
          <a:prstGeom prst="line">
            <a:avLst/>
          </a:prstGeom>
          <a:noFill/>
          <a:ln w="9525">
            <a:solidFill>
              <a:srgbClr val="C8C8C8"/>
            </a:solidFill>
            <a:prstDash val="solid"/>
          </a:ln>
        </p:spPr>
      </p:sp>
      <p:sp>
        <p:nvSpPr>
          <p:cNvPr id="10" name="Text 8"/>
          <p:cNvSpPr txBox="1"/>
          <p:nvPr/>
        </p:nvSpPr>
        <p:spPr>
          <a:xfrm>
            <a:off x="640080" y="3255264"/>
            <a:ext cx="3401568" cy="219456"/>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A night without the device</a:t>
            </a:r>
            <a:endParaRPr lang="en-US" sz="1000" dirty="0"/>
          </a:p>
        </p:txBody>
      </p:sp>
      <p:sp>
        <p:nvSpPr>
          <p:cNvPr id="11" name="Text 9"/>
          <p:cNvSpPr txBox="1"/>
          <p:nvPr/>
        </p:nvSpPr>
        <p:spPr>
          <a:xfrm>
            <a:off x="640080" y="3529584"/>
            <a:ext cx="3401568" cy="6858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Sleepy. Hypertensive.</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Nothing acute.</a:t>
            </a:r>
            <a:endParaRPr lang="en-US" sz="1300" dirty="0"/>
          </a:p>
        </p:txBody>
      </p:sp>
      <p:sp>
        <p:nvSpPr>
          <p:cNvPr id="12" name="Shape 10"/>
          <p:cNvSpPr/>
          <p:nvPr/>
        </p:nvSpPr>
        <p:spPr>
          <a:xfrm>
            <a:off x="4398264" y="1444752"/>
            <a:ext cx="3401568" cy="0"/>
          </a:xfrm>
          <a:prstGeom prst="line">
            <a:avLst/>
          </a:prstGeom>
          <a:noFill/>
          <a:ln w="15875">
            <a:solidFill>
              <a:srgbClr val="000000"/>
            </a:solidFill>
            <a:prstDash val="solid"/>
          </a:ln>
        </p:spPr>
      </p:sp>
      <p:sp>
        <p:nvSpPr>
          <p:cNvPr id="13" name="Text 11"/>
          <p:cNvSpPr txBox="1"/>
          <p:nvPr/>
        </p:nvSpPr>
        <p:spPr>
          <a:xfrm>
            <a:off x="4398264" y="1536192"/>
            <a:ext cx="3401568" cy="347472"/>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B</a:t>
            </a:r>
            <a:endParaRPr lang="en-US" sz="1700" dirty="0"/>
          </a:p>
        </p:txBody>
      </p:sp>
      <p:sp>
        <p:nvSpPr>
          <p:cNvPr id="14" name="Text 12"/>
          <p:cNvSpPr txBox="1"/>
          <p:nvPr/>
        </p:nvSpPr>
        <p:spPr>
          <a:xfrm>
            <a:off x="4398264" y="1975104"/>
            <a:ext cx="3401568" cy="100584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68F, COPD</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PaCO₂ 58 mmHg two weeks</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after an exacerbation, on 2 L</a:t>
            </a:r>
            <a:endParaRPr lang="en-US" sz="1300" dirty="0"/>
          </a:p>
        </p:txBody>
      </p:sp>
      <p:sp>
        <p:nvSpPr>
          <p:cNvPr id="15" name="Shape 13"/>
          <p:cNvSpPr/>
          <p:nvPr/>
        </p:nvSpPr>
        <p:spPr>
          <a:xfrm>
            <a:off x="4398264" y="3163824"/>
            <a:ext cx="3401568" cy="0"/>
          </a:xfrm>
          <a:prstGeom prst="line">
            <a:avLst/>
          </a:prstGeom>
          <a:noFill/>
          <a:ln w="9525">
            <a:solidFill>
              <a:srgbClr val="C8C8C8"/>
            </a:solidFill>
            <a:prstDash val="solid"/>
          </a:ln>
        </p:spPr>
      </p:sp>
      <p:sp>
        <p:nvSpPr>
          <p:cNvPr id="16" name="Text 14"/>
          <p:cNvSpPr txBox="1"/>
          <p:nvPr/>
        </p:nvSpPr>
        <p:spPr>
          <a:xfrm>
            <a:off x="4398264" y="3255264"/>
            <a:ext cx="3401568" cy="219456"/>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A night without the device</a:t>
            </a:r>
            <a:endParaRPr lang="en-US" sz="1000" dirty="0"/>
          </a:p>
        </p:txBody>
      </p:sp>
      <p:sp>
        <p:nvSpPr>
          <p:cNvPr id="17" name="Text 15"/>
          <p:cNvSpPr txBox="1"/>
          <p:nvPr/>
        </p:nvSpPr>
        <p:spPr>
          <a:xfrm>
            <a:off x="4398264" y="3529584"/>
            <a:ext cx="3401568" cy="6858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Progressive CO₂ rise.</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Readmission.</a:t>
            </a:r>
            <a:endParaRPr lang="en-US" sz="1300" dirty="0"/>
          </a:p>
        </p:txBody>
      </p:sp>
      <p:sp>
        <p:nvSpPr>
          <p:cNvPr id="18" name="Shape 16"/>
          <p:cNvSpPr/>
          <p:nvPr/>
        </p:nvSpPr>
        <p:spPr>
          <a:xfrm>
            <a:off x="8156448" y="1444752"/>
            <a:ext cx="3401568" cy="0"/>
          </a:xfrm>
          <a:prstGeom prst="line">
            <a:avLst/>
          </a:prstGeom>
          <a:noFill/>
          <a:ln w="15875">
            <a:solidFill>
              <a:srgbClr val="000000"/>
            </a:solidFill>
            <a:prstDash val="solid"/>
          </a:ln>
        </p:spPr>
      </p:sp>
      <p:sp>
        <p:nvSpPr>
          <p:cNvPr id="19" name="Text 17"/>
          <p:cNvSpPr txBox="1"/>
          <p:nvPr/>
        </p:nvSpPr>
        <p:spPr>
          <a:xfrm>
            <a:off x="8156448" y="1536192"/>
            <a:ext cx="3401568" cy="347472"/>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C</a:t>
            </a:r>
            <a:endParaRPr lang="en-US" sz="1700" dirty="0"/>
          </a:p>
        </p:txBody>
      </p:sp>
      <p:sp>
        <p:nvSpPr>
          <p:cNvPr id="20" name="Text 18"/>
          <p:cNvSpPr txBox="1"/>
          <p:nvPr/>
        </p:nvSpPr>
        <p:spPr>
          <a:xfrm>
            <a:off x="8156448" y="1975104"/>
            <a:ext cx="3401568" cy="100584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61M, ALS</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FVC 42%, now needs support</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during meals and conversation</a:t>
            </a:r>
            <a:endParaRPr lang="en-US" sz="1300" dirty="0"/>
          </a:p>
        </p:txBody>
      </p:sp>
      <p:sp>
        <p:nvSpPr>
          <p:cNvPr id="21" name="Shape 19"/>
          <p:cNvSpPr/>
          <p:nvPr/>
        </p:nvSpPr>
        <p:spPr>
          <a:xfrm>
            <a:off x="8156448" y="3163824"/>
            <a:ext cx="3401568" cy="0"/>
          </a:xfrm>
          <a:prstGeom prst="line">
            <a:avLst/>
          </a:prstGeom>
          <a:noFill/>
          <a:ln w="9525">
            <a:solidFill>
              <a:srgbClr val="C8C8C8"/>
            </a:solidFill>
            <a:prstDash val="solid"/>
          </a:ln>
        </p:spPr>
      </p:sp>
      <p:sp>
        <p:nvSpPr>
          <p:cNvPr id="22" name="Text 20"/>
          <p:cNvSpPr txBox="1"/>
          <p:nvPr/>
        </p:nvSpPr>
        <p:spPr>
          <a:xfrm>
            <a:off x="8156448" y="3255264"/>
            <a:ext cx="3401568" cy="219456"/>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A night without the device</a:t>
            </a:r>
            <a:endParaRPr lang="en-US" sz="1000" dirty="0"/>
          </a:p>
        </p:txBody>
      </p:sp>
      <p:sp>
        <p:nvSpPr>
          <p:cNvPr id="23" name="Text 21"/>
          <p:cNvSpPr txBox="1"/>
          <p:nvPr/>
        </p:nvSpPr>
        <p:spPr>
          <a:xfrm>
            <a:off x="8156448" y="3529584"/>
            <a:ext cx="3401568" cy="6858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An unrecognized interruption</a:t>
            </a:r>
            <a:endParaRPr lang="en-US" sz="1300" dirty="0"/>
          </a:p>
          <a:p>
            <a:pPr indent="0" marL="0">
              <a:lnSpc>
                <a:spcPct val="120000"/>
              </a:lnSpc>
              <a:buNone/>
            </a:pPr>
            <a:r>
              <a:rPr lang="en-US" sz="1300" dirty="0">
                <a:solidFill>
                  <a:srgbClr val="1A1A1A"/>
                </a:solidFill>
                <a:latin typeface="Calibri" pitchFamily="34" charset="0"/>
                <a:ea typeface="Calibri" pitchFamily="34" charset="-122"/>
                <a:cs typeface="Calibri" pitchFamily="34" charset="-120"/>
              </a:rPr>
              <a:t>may be fatal.</a:t>
            </a:r>
            <a:endParaRPr lang="en-US" sz="1300" dirty="0"/>
          </a:p>
        </p:txBody>
      </p:sp>
      <p:sp>
        <p:nvSpPr>
          <p:cNvPr id="24" name="Shape 22"/>
          <p:cNvSpPr/>
          <p:nvPr/>
        </p:nvSpPr>
        <p:spPr>
          <a:xfrm>
            <a:off x="640080" y="4983480"/>
            <a:ext cx="10911535" cy="0"/>
          </a:xfrm>
          <a:prstGeom prst="line">
            <a:avLst/>
          </a:prstGeom>
          <a:noFill/>
          <a:ln w="12700">
            <a:solidFill>
              <a:srgbClr val="000000"/>
            </a:solidFill>
            <a:prstDash val="solid"/>
          </a:ln>
        </p:spPr>
      </p:sp>
      <p:sp>
        <p:nvSpPr>
          <p:cNvPr id="25" name="Text 23"/>
          <p:cNvSpPr txBox="1"/>
          <p:nvPr/>
        </p:nvSpPr>
        <p:spPr>
          <a:xfrm>
            <a:off x="640080" y="5102352"/>
            <a:ext cx="10911535" cy="365760"/>
          </a:xfrm>
          <a:prstGeom prst="rect">
            <a:avLst/>
          </a:prstGeom>
          <a:noFill/>
          <a:ln/>
        </p:spPr>
        <p:txBody>
          <a:bodyPr wrap="square" lIns="0" tIns="0" rIns="0" bIns="0" rtlCol="0" anchor="t"/>
          <a:lstStyle/>
          <a:p>
            <a:pPr indent="0" marL="0">
              <a:lnSpc>
                <a:spcPct val="112000"/>
              </a:lnSpc>
              <a:buNone/>
            </a:pPr>
            <a:r>
              <a:rPr lang="en-US" sz="1500" i="1" dirty="0">
                <a:solidFill>
                  <a:srgbClr val="000000"/>
                </a:solidFill>
                <a:latin typeface="Cambria" pitchFamily="34" charset="0"/>
                <a:ea typeface="Cambria" pitchFamily="34" charset="-122"/>
                <a:cs typeface="Cambria" pitchFamily="34" charset="-120"/>
              </a:rPr>
              <a:t>What must the system do for each patient?  And what happens if it stops?</a:t>
            </a:r>
            <a:endParaRPr lang="en-US" sz="1500" dirty="0"/>
          </a:p>
        </p:txBody>
      </p:sp>
      <p:sp>
        <p:nvSpPr>
          <p:cNvPr id="26" name="Shape 24"/>
          <p:cNvSpPr/>
          <p:nvPr/>
        </p:nvSpPr>
        <p:spPr>
          <a:xfrm>
            <a:off x="640080" y="5522976"/>
            <a:ext cx="10911535" cy="0"/>
          </a:xfrm>
          <a:prstGeom prst="line">
            <a:avLst/>
          </a:prstGeom>
          <a:noFill/>
          <a:ln w="9525">
            <a:solidFill>
              <a:srgbClr val="C8C8C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 · THE CLINICAL PROBLEM</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Four decisions, routinely collapsed into one</a:t>
            </a:r>
            <a:endParaRPr lang="en-US" sz="2700" dirty="0"/>
          </a:p>
        </p:txBody>
      </p:sp>
      <p:sp>
        <p:nvSpPr>
          <p:cNvPr id="5" name="Shape 3"/>
          <p:cNvSpPr/>
          <p:nvPr/>
        </p:nvSpPr>
        <p:spPr>
          <a:xfrm>
            <a:off x="640080" y="1316736"/>
            <a:ext cx="2395728" cy="658368"/>
          </a:xfrm>
          <a:prstGeom prst="rect">
            <a:avLst/>
          </a:prstGeom>
          <a:solidFill>
            <a:srgbClr val="FFFFFF"/>
          </a:solidFill>
          <a:ln w="12700">
            <a:solidFill>
              <a:srgbClr val="000000"/>
            </a:solidFill>
            <a:prstDash val="solid"/>
          </a:ln>
        </p:spPr>
      </p:sp>
      <p:sp>
        <p:nvSpPr>
          <p:cNvPr id="6" name="Text 4"/>
          <p:cNvSpPr txBox="1"/>
          <p:nvPr/>
        </p:nvSpPr>
        <p:spPr>
          <a:xfrm>
            <a:off x="713232" y="1316736"/>
            <a:ext cx="2249424" cy="658368"/>
          </a:xfrm>
          <a:prstGeom prst="rect">
            <a:avLst/>
          </a:prstGeom>
          <a:noFill/>
          <a:ln/>
        </p:spPr>
        <p:txBody>
          <a:bodyPr wrap="square" lIns="0" tIns="0" rIns="0" bIns="0" rtlCol="0" anchor="ctr"/>
          <a:lstStyle/>
          <a:p>
            <a:pPr algn="ctr" indent="0" marL="0">
              <a:lnSpc>
                <a:spcPct val="105000"/>
              </a:lnSpc>
              <a:buNone/>
            </a:pPr>
            <a:r>
              <a:rPr lang="en-US" sz="1250" b="1" dirty="0">
                <a:solidFill>
                  <a:srgbClr val="1A1A1A"/>
                </a:solidFill>
                <a:latin typeface="Calibri" pitchFamily="34" charset="0"/>
                <a:ea typeface="Calibri" pitchFamily="34" charset="-122"/>
                <a:cs typeface="Calibri" pitchFamily="34" charset="-120"/>
              </a:rPr>
              <a:t>Diagnosis</a:t>
            </a:r>
            <a:endParaRPr lang="en-US" sz="1250" dirty="0"/>
          </a:p>
        </p:txBody>
      </p:sp>
      <p:sp>
        <p:nvSpPr>
          <p:cNvPr id="7" name="Shape 5"/>
          <p:cNvSpPr/>
          <p:nvPr/>
        </p:nvSpPr>
        <p:spPr>
          <a:xfrm>
            <a:off x="3108960" y="1645920"/>
            <a:ext cx="292608" cy="0"/>
          </a:xfrm>
          <a:prstGeom prst="line">
            <a:avLst/>
          </a:prstGeom>
          <a:noFill/>
          <a:ln w="12700">
            <a:solidFill>
              <a:srgbClr val="000000"/>
            </a:solidFill>
            <a:prstDash val="solid"/>
            <a:tailEnd type="triangle"/>
          </a:ln>
        </p:spPr>
      </p:sp>
      <p:sp>
        <p:nvSpPr>
          <p:cNvPr id="8" name="Shape 6"/>
          <p:cNvSpPr/>
          <p:nvPr/>
        </p:nvSpPr>
        <p:spPr>
          <a:xfrm>
            <a:off x="3474720" y="1316736"/>
            <a:ext cx="2395728" cy="658368"/>
          </a:xfrm>
          <a:prstGeom prst="rect">
            <a:avLst/>
          </a:prstGeom>
          <a:solidFill>
            <a:srgbClr val="FFFFFF"/>
          </a:solidFill>
          <a:ln w="12700">
            <a:solidFill>
              <a:srgbClr val="000000"/>
            </a:solidFill>
            <a:prstDash val="solid"/>
          </a:ln>
        </p:spPr>
      </p:sp>
      <p:sp>
        <p:nvSpPr>
          <p:cNvPr id="9" name="Text 7"/>
          <p:cNvSpPr txBox="1"/>
          <p:nvPr/>
        </p:nvSpPr>
        <p:spPr>
          <a:xfrm>
            <a:off x="3547872" y="1316736"/>
            <a:ext cx="2249424" cy="658368"/>
          </a:xfrm>
          <a:prstGeom prst="rect">
            <a:avLst/>
          </a:prstGeom>
          <a:noFill/>
          <a:ln/>
        </p:spPr>
        <p:txBody>
          <a:bodyPr wrap="square" lIns="0" tIns="0" rIns="0" bIns="0" rtlCol="0" anchor="ctr"/>
          <a:lstStyle/>
          <a:p>
            <a:pPr algn="ctr" indent="0" marL="0">
              <a:lnSpc>
                <a:spcPct val="105000"/>
              </a:lnSpc>
              <a:buNone/>
            </a:pPr>
            <a:r>
              <a:rPr lang="en-US" sz="1250" b="1" dirty="0">
                <a:solidFill>
                  <a:srgbClr val="1A1A1A"/>
                </a:solidFill>
                <a:latin typeface="Calibri" pitchFamily="34" charset="0"/>
                <a:ea typeface="Calibri" pitchFamily="34" charset="-122"/>
                <a:cs typeface="Calibri" pitchFamily="34" charset="-120"/>
              </a:rPr>
              <a:t>Treatment mode</a:t>
            </a:r>
            <a:endParaRPr lang="en-US" sz="1250" dirty="0"/>
          </a:p>
        </p:txBody>
      </p:sp>
      <p:sp>
        <p:nvSpPr>
          <p:cNvPr id="10" name="Shape 8"/>
          <p:cNvSpPr/>
          <p:nvPr/>
        </p:nvSpPr>
        <p:spPr>
          <a:xfrm>
            <a:off x="5943600" y="1645920"/>
            <a:ext cx="292608" cy="0"/>
          </a:xfrm>
          <a:prstGeom prst="line">
            <a:avLst/>
          </a:prstGeom>
          <a:noFill/>
          <a:ln w="12700">
            <a:solidFill>
              <a:srgbClr val="000000"/>
            </a:solidFill>
            <a:prstDash val="solid"/>
            <a:tailEnd type="triangle"/>
          </a:ln>
        </p:spPr>
      </p:sp>
      <p:sp>
        <p:nvSpPr>
          <p:cNvPr id="11" name="Shape 9"/>
          <p:cNvSpPr/>
          <p:nvPr/>
        </p:nvSpPr>
        <p:spPr>
          <a:xfrm>
            <a:off x="6309360" y="1316736"/>
            <a:ext cx="2395728" cy="658368"/>
          </a:xfrm>
          <a:prstGeom prst="rect">
            <a:avLst/>
          </a:prstGeom>
          <a:solidFill>
            <a:srgbClr val="FFFFFF"/>
          </a:solidFill>
          <a:ln w="12700">
            <a:solidFill>
              <a:srgbClr val="000000"/>
            </a:solidFill>
            <a:prstDash val="solid"/>
          </a:ln>
        </p:spPr>
      </p:sp>
      <p:sp>
        <p:nvSpPr>
          <p:cNvPr id="12" name="Text 10"/>
          <p:cNvSpPr txBox="1"/>
          <p:nvPr/>
        </p:nvSpPr>
        <p:spPr>
          <a:xfrm>
            <a:off x="6382512" y="1316736"/>
            <a:ext cx="2249424" cy="658368"/>
          </a:xfrm>
          <a:prstGeom prst="rect">
            <a:avLst/>
          </a:prstGeom>
          <a:noFill/>
          <a:ln/>
        </p:spPr>
        <p:txBody>
          <a:bodyPr wrap="square" lIns="0" tIns="0" rIns="0" bIns="0" rtlCol="0" anchor="ctr"/>
          <a:lstStyle/>
          <a:p>
            <a:pPr algn="ctr" indent="0" marL="0">
              <a:lnSpc>
                <a:spcPct val="105000"/>
              </a:lnSpc>
              <a:buNone/>
            </a:pPr>
            <a:r>
              <a:rPr lang="en-US" sz="1250" b="1" dirty="0">
                <a:solidFill>
                  <a:srgbClr val="1A1A1A"/>
                </a:solidFill>
                <a:latin typeface="Calibri" pitchFamily="34" charset="0"/>
                <a:ea typeface="Calibri" pitchFamily="34" charset="-122"/>
                <a:cs typeface="Calibri" pitchFamily="34" charset="-120"/>
              </a:rPr>
              <a:t>Platform capabilities</a:t>
            </a:r>
            <a:endParaRPr lang="en-US" sz="1250" dirty="0"/>
          </a:p>
        </p:txBody>
      </p:sp>
      <p:sp>
        <p:nvSpPr>
          <p:cNvPr id="13" name="Shape 11"/>
          <p:cNvSpPr/>
          <p:nvPr/>
        </p:nvSpPr>
        <p:spPr>
          <a:xfrm>
            <a:off x="8778240" y="1645920"/>
            <a:ext cx="292608" cy="0"/>
          </a:xfrm>
          <a:prstGeom prst="line">
            <a:avLst/>
          </a:prstGeom>
          <a:noFill/>
          <a:ln w="12700">
            <a:solidFill>
              <a:srgbClr val="000000"/>
            </a:solidFill>
            <a:prstDash val="solid"/>
            <a:tailEnd type="triangle"/>
          </a:ln>
        </p:spPr>
      </p:sp>
      <p:sp>
        <p:nvSpPr>
          <p:cNvPr id="14" name="Shape 12"/>
          <p:cNvSpPr/>
          <p:nvPr/>
        </p:nvSpPr>
        <p:spPr>
          <a:xfrm>
            <a:off x="9144000" y="1316736"/>
            <a:ext cx="2395728" cy="658368"/>
          </a:xfrm>
          <a:prstGeom prst="rect">
            <a:avLst/>
          </a:prstGeom>
          <a:solidFill>
            <a:srgbClr val="FFFFFF"/>
          </a:solidFill>
          <a:ln w="12700">
            <a:solidFill>
              <a:srgbClr val="000000"/>
            </a:solidFill>
            <a:prstDash val="solid"/>
          </a:ln>
        </p:spPr>
      </p:sp>
      <p:sp>
        <p:nvSpPr>
          <p:cNvPr id="15" name="Text 13"/>
          <p:cNvSpPr txBox="1"/>
          <p:nvPr/>
        </p:nvSpPr>
        <p:spPr>
          <a:xfrm>
            <a:off x="9217152" y="1316736"/>
            <a:ext cx="2249424" cy="658368"/>
          </a:xfrm>
          <a:prstGeom prst="rect">
            <a:avLst/>
          </a:prstGeom>
          <a:noFill/>
          <a:ln/>
        </p:spPr>
        <p:txBody>
          <a:bodyPr wrap="square" lIns="0" tIns="0" rIns="0" bIns="0" rtlCol="0" anchor="ctr"/>
          <a:lstStyle/>
          <a:p>
            <a:pPr algn="ctr" indent="0" marL="0">
              <a:lnSpc>
                <a:spcPct val="105000"/>
              </a:lnSpc>
              <a:buNone/>
            </a:pPr>
            <a:r>
              <a:rPr lang="en-US" sz="1250" b="1" dirty="0">
                <a:solidFill>
                  <a:srgbClr val="1A1A1A"/>
                </a:solidFill>
                <a:latin typeface="Calibri" pitchFamily="34" charset="0"/>
                <a:ea typeface="Calibri" pitchFamily="34" charset="-122"/>
                <a:cs typeface="Calibri" pitchFamily="34" charset="-120"/>
              </a:rPr>
              <a:t>Coverage pathway</a:t>
            </a:r>
            <a:endParaRPr lang="en-US" sz="1250" dirty="0"/>
          </a:p>
        </p:txBody>
      </p:sp>
      <p:sp>
        <p:nvSpPr>
          <p:cNvPr id="16" name="Text 14"/>
          <p:cNvSpPr txBox="1"/>
          <p:nvPr/>
        </p:nvSpPr>
        <p:spPr>
          <a:xfrm>
            <a:off x="640080" y="2523744"/>
            <a:ext cx="10911535" cy="27432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The correction that has to come early</a:t>
            </a:r>
            <a:endParaRPr lang="en-US" sz="1200" dirty="0"/>
          </a:p>
        </p:txBody>
      </p:sp>
      <p:sp>
        <p:nvSpPr>
          <p:cNvPr id="17" name="Text 15"/>
          <p:cNvSpPr txBox="1"/>
          <p:nvPr/>
        </p:nvSpPr>
        <p:spPr>
          <a:xfrm>
            <a:off x="640080" y="2798064"/>
            <a:ext cx="10911535" cy="731520"/>
          </a:xfrm>
          <a:prstGeom prst="rect">
            <a:avLst/>
          </a:prstGeom>
          <a:noFill/>
          <a:ln/>
        </p:spPr>
        <p:txBody>
          <a:bodyPr wrap="square" lIns="0" tIns="0" rIns="0" bIns="0" rtlCol="0" anchor="t"/>
          <a:lstStyle/>
          <a:p>
            <a:pPr indent="0" marL="0">
              <a:lnSpc>
                <a:spcPct val="115000"/>
              </a:lnSpc>
              <a:buNone/>
            </a:pPr>
            <a:r>
              <a:rPr lang="en-US" sz="1300" b="1" dirty="0">
                <a:solidFill>
                  <a:srgbClr val="1A1A1A"/>
                </a:solidFill>
                <a:latin typeface="Calibri" pitchFamily="34" charset="0"/>
                <a:ea typeface="Calibri" pitchFamily="34" charset="-122"/>
                <a:cs typeface="Calibri" pitchFamily="34" charset="-120"/>
              </a:rPr>
              <a:t>PAP, RAD, and HMV are not mutually exclusive categories.</a:t>
            </a:r>
            <a:endParaRPr lang="en-US" sz="1300" dirty="0"/>
          </a:p>
          <a:p>
            <a:pPr indent="0" marL="0">
              <a:lnSpc>
                <a:spcPct val="115000"/>
              </a:lnSpc>
              <a:buNone/>
            </a:pPr>
            <a:r>
              <a:rPr lang="en-US" sz="1300" dirty="0">
                <a:solidFill>
                  <a:srgbClr val="1A1A1A"/>
                </a:solidFill>
                <a:latin typeface="Calibri" pitchFamily="34" charset="0"/>
                <a:ea typeface="Calibri" pitchFamily="34" charset="-122"/>
                <a:cs typeface="Calibri" pitchFamily="34" charset="-120"/>
              </a:rPr>
              <a:t>Medicare's OSA policy (LCD L33718) defines “PAP device” to mean both E0601 CPAP and E0470 bilevel-without-backup. The same E0470 code follows an entirely different coverage pathway when the diagnosis is not OSA.</a:t>
            </a:r>
            <a:endParaRPr lang="en-US" sz="1300" dirty="0"/>
          </a:p>
        </p:txBody>
      </p:sp>
      <p:sp>
        <p:nvSpPr>
          <p:cNvPr id="18" name="Shape 16"/>
          <p:cNvSpPr/>
          <p:nvPr/>
        </p:nvSpPr>
        <p:spPr>
          <a:xfrm>
            <a:off x="640080" y="4041648"/>
            <a:ext cx="10911535" cy="0"/>
          </a:xfrm>
          <a:prstGeom prst="line">
            <a:avLst/>
          </a:prstGeom>
          <a:noFill/>
          <a:ln w="9525">
            <a:solidFill>
              <a:srgbClr val="C8C8C8"/>
            </a:solidFill>
            <a:prstDash val="solid"/>
          </a:ln>
        </p:spPr>
      </p:sp>
      <p:sp>
        <p:nvSpPr>
          <p:cNvPr id="19" name="Text 17"/>
          <p:cNvSpPr txBox="1"/>
          <p:nvPr/>
        </p:nvSpPr>
        <p:spPr>
          <a:xfrm>
            <a:off x="640080" y="4169664"/>
            <a:ext cx="10911535"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Objectives</a:t>
            </a:r>
            <a:endParaRPr lang="en-US" sz="1200" dirty="0"/>
          </a:p>
        </p:txBody>
      </p:sp>
      <p:sp>
        <p:nvSpPr>
          <p:cNvPr id="20" name="Text 18"/>
          <p:cNvSpPr txBox="1"/>
          <p:nvPr/>
        </p:nvSpPr>
        <p:spPr>
          <a:xfrm>
            <a:off x="685800" y="4443984"/>
            <a:ext cx="10865815" cy="128016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Explain why two engineering lineages converged in capability but not in category</a:t>
            </a:r>
            <a:endParaRPr lang="en-US" sz="1250" dirty="0"/>
          </a:p>
          <a:p>
            <a:pPr marL="165100" indent="-165100">
              <a:lnSpc>
                <a:spcPct val="115000"/>
              </a:lnSpc>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Distinguish mode from platform from billing code</a:t>
            </a:r>
            <a:endParaRPr lang="en-US" sz="1250" dirty="0"/>
          </a:p>
          <a:p>
            <a:pPr marL="165100" indent="-165100">
              <a:lnSpc>
                <a:spcPct val="115000"/>
              </a:lnSpc>
              <a:spcAft>
                <a:spcPts val="700"/>
              </a:spcAft>
              <a:buSzPct val="100000"/>
              <a:buChar char="•"/>
            </a:pPr>
            <a:r>
              <a:rPr lang="en-US" sz="1250" dirty="0">
                <a:solidFill>
                  <a:srgbClr val="1A1A1A"/>
                </a:solidFill>
                <a:latin typeface="Calibri" pitchFamily="34" charset="0"/>
                <a:ea typeface="Calibri" pitchFamily="34" charset="-122"/>
                <a:cs typeface="Calibri" pitchFamily="34" charset="-120"/>
              </a:rPr>
              <a:t>Select and justify a home support system from clinical need and consequence of interruption — not device prestige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 · LINEAGE ONE — POLIO</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Before you can treat hypoventilation, you must be able to see it</a:t>
            </a:r>
            <a:endParaRPr lang="en-US" sz="2700" dirty="0"/>
          </a:p>
        </p:txBody>
      </p:sp>
      <p:sp>
        <p:nvSpPr>
          <p:cNvPr id="5" name="Shape 3"/>
          <p:cNvSpPr/>
          <p:nvPr/>
        </p:nvSpPr>
        <p:spPr>
          <a:xfrm>
            <a:off x="640080" y="1664208"/>
            <a:ext cx="10911535" cy="0"/>
          </a:xfrm>
          <a:prstGeom prst="line">
            <a:avLst/>
          </a:prstGeom>
          <a:noFill/>
          <a:ln w="15875">
            <a:solidFill>
              <a:srgbClr val="000000"/>
            </a:solidFill>
            <a:prstDash val="solid"/>
          </a:ln>
        </p:spPr>
      </p:sp>
      <p:sp>
        <p:nvSpPr>
          <p:cNvPr id="6" name="Shape 4"/>
          <p:cNvSpPr/>
          <p:nvPr/>
        </p:nvSpPr>
        <p:spPr>
          <a:xfrm>
            <a:off x="658368" y="1664208"/>
            <a:ext cx="0" cy="182880"/>
          </a:xfrm>
          <a:prstGeom prst="line">
            <a:avLst/>
          </a:prstGeom>
          <a:noFill/>
          <a:ln w="15875">
            <a:solidFill>
              <a:srgbClr val="000000"/>
            </a:solidFill>
            <a:prstDash val="solid"/>
          </a:ln>
        </p:spPr>
      </p:sp>
      <p:sp>
        <p:nvSpPr>
          <p:cNvPr id="7" name="Text 5"/>
          <p:cNvSpPr txBox="1"/>
          <p:nvPr/>
        </p:nvSpPr>
        <p:spPr>
          <a:xfrm>
            <a:off x="640080" y="1883664"/>
            <a:ext cx="2487168" cy="310896"/>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1832</a:t>
            </a:r>
            <a:endParaRPr lang="en-US" sz="1600" dirty="0"/>
          </a:p>
        </p:txBody>
      </p:sp>
      <p:sp>
        <p:nvSpPr>
          <p:cNvPr id="8" name="Text 6"/>
          <p:cNvSpPr txBox="1"/>
          <p:nvPr/>
        </p:nvSpPr>
        <p:spPr>
          <a:xfrm>
            <a:off x="640080" y="2231136"/>
            <a:ext cx="2487168" cy="1005840"/>
          </a:xfrm>
          <a:prstGeom prst="rect">
            <a:avLst/>
          </a:prstGeom>
          <a:noFill/>
          <a:ln/>
        </p:spPr>
        <p:txBody>
          <a:bodyPr wrap="square" lIns="0" tIns="0" rIns="0" bIns="0" rtlCol="0" anchor="ctr"/>
          <a:lstStyle/>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First negative-pressure</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“box” (Dalziel, Scotland)</a:t>
            </a:r>
            <a:endParaRPr lang="en-US" sz="1200" dirty="0"/>
          </a:p>
        </p:txBody>
      </p:sp>
      <p:sp>
        <p:nvSpPr>
          <p:cNvPr id="9" name="Shape 7"/>
          <p:cNvSpPr/>
          <p:nvPr/>
        </p:nvSpPr>
        <p:spPr>
          <a:xfrm>
            <a:off x="3465576" y="1664208"/>
            <a:ext cx="0" cy="182880"/>
          </a:xfrm>
          <a:prstGeom prst="line">
            <a:avLst/>
          </a:prstGeom>
          <a:noFill/>
          <a:ln w="15875">
            <a:solidFill>
              <a:srgbClr val="000000"/>
            </a:solidFill>
            <a:prstDash val="solid"/>
          </a:ln>
        </p:spPr>
      </p:sp>
      <p:sp>
        <p:nvSpPr>
          <p:cNvPr id="10" name="Text 8"/>
          <p:cNvSpPr txBox="1"/>
          <p:nvPr/>
        </p:nvSpPr>
        <p:spPr>
          <a:xfrm>
            <a:off x="3447288" y="1883664"/>
            <a:ext cx="2487168" cy="310896"/>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1907</a:t>
            </a:r>
            <a:endParaRPr lang="en-US" sz="1600" dirty="0"/>
          </a:p>
        </p:txBody>
      </p:sp>
      <p:sp>
        <p:nvSpPr>
          <p:cNvPr id="11" name="Text 9"/>
          <p:cNvSpPr txBox="1"/>
          <p:nvPr/>
        </p:nvSpPr>
        <p:spPr>
          <a:xfrm>
            <a:off x="3447288" y="2231136"/>
            <a:ext cx="2487168" cy="1005840"/>
          </a:xfrm>
          <a:prstGeom prst="rect">
            <a:avLst/>
          </a:prstGeom>
          <a:noFill/>
          <a:ln/>
        </p:spPr>
        <p:txBody>
          <a:bodyPr wrap="square" lIns="0" tIns="0" rIns="0" bIns="0" rtlCol="0" anchor="ctr"/>
          <a:lstStyle/>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Dräger's portable device —</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built for mine rescue,</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not for clinics</a:t>
            </a:r>
            <a:endParaRPr lang="en-US" sz="1200" dirty="0"/>
          </a:p>
        </p:txBody>
      </p:sp>
      <p:sp>
        <p:nvSpPr>
          <p:cNvPr id="12" name="Shape 10"/>
          <p:cNvSpPr/>
          <p:nvPr/>
        </p:nvSpPr>
        <p:spPr>
          <a:xfrm>
            <a:off x="6272784" y="1664208"/>
            <a:ext cx="0" cy="182880"/>
          </a:xfrm>
          <a:prstGeom prst="line">
            <a:avLst/>
          </a:prstGeom>
          <a:noFill/>
          <a:ln w="15875">
            <a:solidFill>
              <a:srgbClr val="000000"/>
            </a:solidFill>
            <a:prstDash val="solid"/>
          </a:ln>
        </p:spPr>
      </p:sp>
      <p:sp>
        <p:nvSpPr>
          <p:cNvPr id="13" name="Text 11"/>
          <p:cNvSpPr txBox="1"/>
          <p:nvPr/>
        </p:nvSpPr>
        <p:spPr>
          <a:xfrm>
            <a:off x="6254496" y="1883664"/>
            <a:ext cx="2487168" cy="310896"/>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1928–31</a:t>
            </a:r>
            <a:endParaRPr lang="en-US" sz="1600" dirty="0"/>
          </a:p>
        </p:txBody>
      </p:sp>
      <p:sp>
        <p:nvSpPr>
          <p:cNvPr id="14" name="Text 12"/>
          <p:cNvSpPr txBox="1"/>
          <p:nvPr/>
        </p:nvSpPr>
        <p:spPr>
          <a:xfrm>
            <a:off x="6254496" y="2231136"/>
            <a:ext cx="2487168" cy="1005840"/>
          </a:xfrm>
          <a:prstGeom prst="rect">
            <a:avLst/>
          </a:prstGeom>
          <a:noFill/>
          <a:ln/>
        </p:spPr>
        <p:txBody>
          <a:bodyPr wrap="square" lIns="0" tIns="0" rIns="0" bIns="0" rtlCol="0" anchor="ctr"/>
          <a:lstStyle/>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Drinker &amp; Shaw's iron lung;</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prolonged support</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reported in Lancet</a:t>
            </a:r>
            <a:endParaRPr lang="en-US" sz="1200" dirty="0"/>
          </a:p>
        </p:txBody>
      </p:sp>
      <p:sp>
        <p:nvSpPr>
          <p:cNvPr id="15" name="Shape 13"/>
          <p:cNvSpPr/>
          <p:nvPr/>
        </p:nvSpPr>
        <p:spPr>
          <a:xfrm>
            <a:off x="9079992" y="1664208"/>
            <a:ext cx="0" cy="182880"/>
          </a:xfrm>
          <a:prstGeom prst="line">
            <a:avLst/>
          </a:prstGeom>
          <a:noFill/>
          <a:ln w="15875">
            <a:solidFill>
              <a:srgbClr val="000000"/>
            </a:solidFill>
            <a:prstDash val="solid"/>
          </a:ln>
        </p:spPr>
      </p:sp>
      <p:sp>
        <p:nvSpPr>
          <p:cNvPr id="16" name="Text 14"/>
          <p:cNvSpPr txBox="1"/>
          <p:nvPr/>
        </p:nvSpPr>
        <p:spPr>
          <a:xfrm>
            <a:off x="9061704" y="1883664"/>
            <a:ext cx="2487168" cy="310896"/>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1950s</a:t>
            </a:r>
            <a:endParaRPr lang="en-US" sz="1600" dirty="0"/>
          </a:p>
        </p:txBody>
      </p:sp>
      <p:sp>
        <p:nvSpPr>
          <p:cNvPr id="17" name="Text 15"/>
          <p:cNvSpPr txBox="1"/>
          <p:nvPr/>
        </p:nvSpPr>
        <p:spPr>
          <a:xfrm>
            <a:off x="9061704" y="2231136"/>
            <a:ext cx="2487168" cy="1005840"/>
          </a:xfrm>
          <a:prstGeom prst="rect">
            <a:avLst/>
          </a:prstGeom>
          <a:noFill/>
          <a:ln/>
        </p:spPr>
        <p:txBody>
          <a:bodyPr wrap="square" lIns="0" tIns="0" rIns="0" bIns="0" rtlCol="0" anchor="ctr"/>
          <a:lstStyle/>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Electrode pH measurement</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lets Ibsen attribute polio</a:t>
            </a:r>
            <a:endParaRPr lang="en-US" sz="1200" dirty="0"/>
          </a:p>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mortality to hypercapnia</a:t>
            </a:r>
            <a:endParaRPr lang="en-US" sz="1200" dirty="0"/>
          </a:p>
        </p:txBody>
      </p:sp>
      <p:sp>
        <p:nvSpPr>
          <p:cNvPr id="18" name="Shape 16"/>
          <p:cNvSpPr/>
          <p:nvPr/>
        </p:nvSpPr>
        <p:spPr>
          <a:xfrm>
            <a:off x="640080" y="4224528"/>
            <a:ext cx="6949440" cy="0"/>
          </a:xfrm>
          <a:prstGeom prst="line">
            <a:avLst/>
          </a:prstGeom>
          <a:noFill/>
          <a:ln w="12700">
            <a:solidFill>
              <a:srgbClr val="000000"/>
            </a:solidFill>
            <a:prstDash val="solid"/>
          </a:ln>
        </p:spPr>
      </p:sp>
      <p:sp>
        <p:nvSpPr>
          <p:cNvPr id="19" name="Text 17"/>
          <p:cNvSpPr txBox="1"/>
          <p:nvPr/>
        </p:nvSpPr>
        <p:spPr>
          <a:xfrm>
            <a:off x="640080" y="4343400"/>
            <a:ext cx="6949440" cy="310896"/>
          </a:xfrm>
          <a:prstGeom prst="rect">
            <a:avLst/>
          </a:prstGeom>
          <a:noFill/>
          <a:ln/>
        </p:spPr>
        <p:txBody>
          <a:bodyPr wrap="square" lIns="0" tIns="0" rIns="0" bIns="0" rtlCol="0" anchor="t"/>
          <a:lstStyle/>
          <a:p>
            <a:pPr indent="0" marL="0">
              <a:lnSpc>
                <a:spcPct val="112000"/>
              </a:lnSpc>
              <a:buNone/>
            </a:pPr>
            <a:r>
              <a:rPr lang="en-US" sz="1500" i="1" dirty="0">
                <a:solidFill>
                  <a:srgbClr val="000000"/>
                </a:solidFill>
                <a:latin typeface="Cambria" pitchFamily="34" charset="0"/>
                <a:ea typeface="Cambria" pitchFamily="34" charset="-122"/>
                <a:cs typeface="Cambria" pitchFamily="34" charset="-120"/>
              </a:rPr>
              <a:t>The problem became treatable when it became measurable.</a:t>
            </a:r>
            <a:endParaRPr lang="en-US" sz="1500" dirty="0"/>
          </a:p>
        </p:txBody>
      </p:sp>
      <p:sp>
        <p:nvSpPr>
          <p:cNvPr id="20" name="Shape 18"/>
          <p:cNvSpPr/>
          <p:nvPr/>
        </p:nvSpPr>
        <p:spPr>
          <a:xfrm>
            <a:off x="640080" y="4709160"/>
            <a:ext cx="6949440" cy="0"/>
          </a:xfrm>
          <a:prstGeom prst="line">
            <a:avLst/>
          </a:prstGeom>
          <a:noFill/>
          <a:ln w="9525">
            <a:solidFill>
              <a:srgbClr val="C8C8C8"/>
            </a:solidFill>
            <a:prstDash val="solid"/>
          </a:ln>
        </p:spPr>
      </p:sp>
      <p:sp>
        <p:nvSpPr>
          <p:cNvPr id="21" name="Text 19"/>
          <p:cNvSpPr txBox="1"/>
          <p:nvPr/>
        </p:nvSpPr>
        <p:spPr>
          <a:xfrm>
            <a:off x="640080" y="4956048"/>
            <a:ext cx="6949440"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Hold that thought. On slide 18 a PaCO₂ number becomes a coverage threshold.</a:t>
            </a:r>
            <a:endParaRPr lang="en-US" sz="1000" dirty="0"/>
          </a:p>
        </p:txBody>
      </p:sp>
      <p:sp>
        <p:nvSpPr>
          <p:cNvPr id="22" name="Shape 20"/>
          <p:cNvSpPr/>
          <p:nvPr/>
        </p:nvSpPr>
        <p:spPr>
          <a:xfrm>
            <a:off x="7818120" y="4114800"/>
            <a:ext cx="3730752" cy="1234440"/>
          </a:xfrm>
          <a:prstGeom prst="rect">
            <a:avLst/>
          </a:prstGeom>
          <a:solidFill>
            <a:srgbClr val="FFFFFF"/>
          </a:solidFill>
          <a:ln w="9525">
            <a:solidFill>
              <a:srgbClr val="C8C8C8"/>
            </a:solidFill>
            <a:prstDash val="dash"/>
          </a:ln>
        </p:spPr>
      </p:sp>
      <p:sp>
        <p:nvSpPr>
          <p:cNvPr id="23" name="Text 21"/>
          <p:cNvSpPr txBox="1"/>
          <p:nvPr/>
        </p:nvSpPr>
        <p:spPr>
          <a:xfrm>
            <a:off x="7982712" y="4261104"/>
            <a:ext cx="3401568" cy="100584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FIGURE — one iron-lung photograph: ward of tanks,</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heads protruding, lids lifted for nursing care.</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[source with clear licensing still needed]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 · LINEAGE ONE — POLIO</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1949 and 1952: two inflection points, not one</a:t>
            </a:r>
            <a:endParaRPr lang="en-US" sz="2700" dirty="0"/>
          </a:p>
        </p:txBody>
      </p:sp>
      <p:sp>
        <p:nvSpPr>
          <p:cNvPr id="5" name="Shape 3"/>
          <p:cNvSpPr/>
          <p:nvPr/>
        </p:nvSpPr>
        <p:spPr>
          <a:xfrm>
            <a:off x="640080" y="1207008"/>
            <a:ext cx="5285232" cy="0"/>
          </a:xfrm>
          <a:prstGeom prst="line">
            <a:avLst/>
          </a:prstGeom>
          <a:noFill/>
          <a:ln w="15875">
            <a:solidFill>
              <a:srgbClr val="000000"/>
            </a:solidFill>
            <a:prstDash val="solid"/>
          </a:ln>
        </p:spPr>
      </p:sp>
      <p:sp>
        <p:nvSpPr>
          <p:cNvPr id="6" name="Text 4"/>
          <p:cNvSpPr txBox="1"/>
          <p:nvPr/>
        </p:nvSpPr>
        <p:spPr>
          <a:xfrm>
            <a:off x="640080" y="1298448"/>
            <a:ext cx="5285232" cy="310896"/>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1948–49  ·  Los Angeles</a:t>
            </a:r>
            <a:endParaRPr lang="en-US" sz="1500" dirty="0"/>
          </a:p>
        </p:txBody>
      </p:sp>
      <p:sp>
        <p:nvSpPr>
          <p:cNvPr id="7" name="Text 5"/>
          <p:cNvSpPr txBox="1"/>
          <p:nvPr/>
        </p:nvSpPr>
        <p:spPr>
          <a:xfrm>
            <a:off x="640080" y="1682496"/>
            <a:ext cx="5285232" cy="1051560"/>
          </a:xfrm>
          <a:prstGeom prst="rect">
            <a:avLst/>
          </a:prstGeom>
          <a:noFill/>
          <a:ln/>
        </p:spPr>
        <p:txBody>
          <a:bodyPr wrap="square" lIns="0" tIns="0" rIns="0" bIns="0" rtlCol="0" anchor="ctr"/>
          <a:lstStyle/>
          <a:p>
            <a:pPr indent="0" marL="0">
              <a:lnSpc>
                <a:spcPct val="118000"/>
              </a:lnSpc>
              <a:buNone/>
            </a:pPr>
            <a:r>
              <a:rPr lang="en-US" sz="1250" dirty="0">
                <a:solidFill>
                  <a:srgbClr val="1A1A1A"/>
                </a:solidFill>
                <a:latin typeface="Calibri" pitchFamily="34" charset="0"/>
                <a:ea typeface="Calibri" pitchFamily="34" charset="-122"/>
                <a:cs typeface="Calibri" pitchFamily="34" charset="-120"/>
              </a:rPr>
              <a:t>Albert Bower (physician) and Ray Bennett (engineer) devise a valve converting tank respirators to deliver intermittent positive pressure during inspiration.</a:t>
            </a:r>
            <a:endParaRPr lang="en-US" sz="1250" dirty="0"/>
          </a:p>
        </p:txBody>
      </p:sp>
      <p:sp>
        <p:nvSpPr>
          <p:cNvPr id="8" name="Text 6"/>
          <p:cNvSpPr txBox="1"/>
          <p:nvPr/>
        </p:nvSpPr>
        <p:spPr>
          <a:xfrm>
            <a:off x="640080" y="2779776"/>
            <a:ext cx="5285232" cy="310896"/>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Survival 21% → 84% from 1949.</a:t>
            </a:r>
            <a:endParaRPr lang="en-US" sz="1300" dirty="0"/>
          </a:p>
        </p:txBody>
      </p:sp>
      <p:sp>
        <p:nvSpPr>
          <p:cNvPr id="9" name="Shape 7"/>
          <p:cNvSpPr/>
          <p:nvPr/>
        </p:nvSpPr>
        <p:spPr>
          <a:xfrm>
            <a:off x="6263640" y="1207008"/>
            <a:ext cx="5285232" cy="0"/>
          </a:xfrm>
          <a:prstGeom prst="line">
            <a:avLst/>
          </a:prstGeom>
          <a:noFill/>
          <a:ln w="15875">
            <a:solidFill>
              <a:srgbClr val="000000"/>
            </a:solidFill>
            <a:prstDash val="solid"/>
          </a:ln>
        </p:spPr>
      </p:sp>
      <p:sp>
        <p:nvSpPr>
          <p:cNvPr id="10" name="Text 8"/>
          <p:cNvSpPr txBox="1"/>
          <p:nvPr/>
        </p:nvSpPr>
        <p:spPr>
          <a:xfrm>
            <a:off x="6263640" y="1298448"/>
            <a:ext cx="5285232" cy="310896"/>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1952  ·  Copenhagen</a:t>
            </a:r>
            <a:endParaRPr lang="en-US" sz="1500" dirty="0"/>
          </a:p>
        </p:txBody>
      </p:sp>
      <p:sp>
        <p:nvSpPr>
          <p:cNvPr id="11" name="Text 9"/>
          <p:cNvSpPr txBox="1"/>
          <p:nvPr/>
        </p:nvSpPr>
        <p:spPr>
          <a:xfrm>
            <a:off x="6263640" y="1682496"/>
            <a:ext cx="5285232" cy="1051560"/>
          </a:xfrm>
          <a:prstGeom prst="rect">
            <a:avLst/>
          </a:prstGeom>
          <a:noFill/>
          <a:ln/>
        </p:spPr>
        <p:txBody>
          <a:bodyPr wrap="square" lIns="0" tIns="0" rIns="0" bIns="0" rtlCol="0" anchor="ctr"/>
          <a:lstStyle/>
          <a:p>
            <a:pPr indent="0" marL="0">
              <a:lnSpc>
                <a:spcPct val="118000"/>
              </a:lnSpc>
              <a:buNone/>
            </a:pPr>
            <a:r>
              <a:rPr lang="en-US" sz="1250" dirty="0">
                <a:solidFill>
                  <a:srgbClr val="1A1A1A"/>
                </a:solidFill>
                <a:latin typeface="Calibri" pitchFamily="34" charset="0"/>
                <a:ea typeface="Calibri" pitchFamily="34" charset="-122"/>
                <a:cs typeface="Calibri" pitchFamily="34" charset="-120"/>
              </a:rPr>
              <a:t>Not enough iron lungs — and the tanks could not ventilate bulbar polio. Tracheotomy and manual positive-pressure ventilation, delivered by medical students in shifts.</a:t>
            </a:r>
            <a:endParaRPr lang="en-US" sz="1250" dirty="0"/>
          </a:p>
        </p:txBody>
      </p:sp>
      <p:sp>
        <p:nvSpPr>
          <p:cNvPr id="12" name="Text 10"/>
          <p:cNvSpPr txBox="1"/>
          <p:nvPr/>
        </p:nvSpPr>
        <p:spPr>
          <a:xfrm>
            <a:off x="6263640" y="2779776"/>
            <a:ext cx="5285232" cy="310896"/>
          </a:xfrm>
          <a:prstGeom prst="rect">
            <a:avLst/>
          </a:prstGeom>
          <a:noFill/>
          <a:ln/>
        </p:spPr>
        <p:txBody>
          <a:bodyPr wrap="square" lIns="0" tIns="0" rIns="0" bIns="0" rtlCol="0" anchor="ctr"/>
          <a:lstStyle/>
          <a:p>
            <a:pPr indent="0" marL="0">
              <a:buNone/>
            </a:pPr>
            <a:r>
              <a:rPr lang="en-US" sz="1300" b="1" dirty="0">
                <a:solidFill>
                  <a:srgbClr val="000000"/>
                </a:solidFill>
                <a:latin typeface="Calibri" pitchFamily="34" charset="0"/>
                <a:ea typeface="Calibri" pitchFamily="34" charset="-122"/>
                <a:cs typeface="Calibri" pitchFamily="34" charset="-120"/>
              </a:rPr>
              <a:t>Death rate ~80%, falling markedly.</a:t>
            </a:r>
            <a:endParaRPr lang="en-US" sz="1300" dirty="0"/>
          </a:p>
        </p:txBody>
      </p:sp>
      <p:sp>
        <p:nvSpPr>
          <p:cNvPr id="13" name="Text 11"/>
          <p:cNvSpPr txBox="1"/>
          <p:nvPr/>
        </p:nvSpPr>
        <p:spPr>
          <a:xfrm>
            <a:off x="640080" y="3200400"/>
            <a:ext cx="10911535" cy="36576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The 1949 Bower–Bennett work predates Copenhagen and is almost always omitted.   ·   80% figure: Hind 2017; D'Cruz &amp; Hart report “substantial reductions” without a number.</a:t>
            </a:r>
            <a:endParaRPr lang="en-US" sz="1000" dirty="0"/>
          </a:p>
        </p:txBody>
      </p:sp>
      <p:sp>
        <p:nvSpPr>
          <p:cNvPr id="14" name="Shape 12"/>
          <p:cNvSpPr/>
          <p:nvPr/>
        </p:nvSpPr>
        <p:spPr>
          <a:xfrm>
            <a:off x="640080" y="4224528"/>
            <a:ext cx="5577840" cy="0"/>
          </a:xfrm>
          <a:prstGeom prst="line">
            <a:avLst/>
          </a:prstGeom>
          <a:noFill/>
          <a:ln w="12700">
            <a:solidFill>
              <a:srgbClr val="000000"/>
            </a:solidFill>
            <a:prstDash val="solid"/>
          </a:ln>
        </p:spPr>
      </p:sp>
      <p:sp>
        <p:nvSpPr>
          <p:cNvPr id="15" name="Text 13"/>
          <p:cNvSpPr txBox="1"/>
          <p:nvPr/>
        </p:nvSpPr>
        <p:spPr>
          <a:xfrm>
            <a:off x="640080" y="4343400"/>
            <a:ext cx="5577840" cy="658368"/>
          </a:xfrm>
          <a:prstGeom prst="rect">
            <a:avLst/>
          </a:prstGeom>
          <a:noFill/>
          <a:ln/>
        </p:spPr>
        <p:txBody>
          <a:bodyPr wrap="square" lIns="0" tIns="0" rIns="0" bIns="0" rtlCol="0" anchor="t"/>
          <a:lstStyle/>
          <a:p>
            <a:pPr indent="0" marL="0">
              <a:lnSpc>
                <a:spcPct val="112000"/>
              </a:lnSpc>
              <a:buNone/>
            </a:pPr>
            <a:r>
              <a:rPr lang="en-US" sz="1500" i="1" dirty="0">
                <a:solidFill>
                  <a:srgbClr val="000000"/>
                </a:solidFill>
                <a:latin typeface="Cambria" pitchFamily="34" charset="0"/>
                <a:ea typeface="Cambria" pitchFamily="34" charset="-122"/>
                <a:cs typeface="Cambria" pitchFamily="34" charset="-120"/>
              </a:rPr>
              <a:t>Once a patient survives respiratory paralysis, who supplies the next breath — tomorrow, next month, and at home?</a:t>
            </a:r>
            <a:endParaRPr lang="en-US" sz="1500" dirty="0"/>
          </a:p>
        </p:txBody>
      </p:sp>
      <p:sp>
        <p:nvSpPr>
          <p:cNvPr id="16" name="Text 14"/>
          <p:cNvSpPr txBox="1"/>
          <p:nvPr/>
        </p:nvSpPr>
        <p:spPr>
          <a:xfrm>
            <a:off x="640080" y="5001768"/>
            <a:ext cx="5577840"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This question drives the rest of the talk.</a:t>
            </a:r>
            <a:endParaRPr lang="en-US" sz="1000" dirty="0"/>
          </a:p>
        </p:txBody>
      </p:sp>
      <p:sp>
        <p:nvSpPr>
          <p:cNvPr id="17" name="Shape 15"/>
          <p:cNvSpPr/>
          <p:nvPr/>
        </p:nvSpPr>
        <p:spPr>
          <a:xfrm>
            <a:off x="640080" y="5257800"/>
            <a:ext cx="5577840" cy="0"/>
          </a:xfrm>
          <a:prstGeom prst="line">
            <a:avLst/>
          </a:prstGeom>
          <a:noFill/>
          <a:ln w="9525">
            <a:solidFill>
              <a:srgbClr val="C8C8C8"/>
            </a:solidFill>
            <a:prstDash val="solid"/>
          </a:ln>
        </p:spPr>
      </p:sp>
      <p:sp>
        <p:nvSpPr>
          <p:cNvPr id="18" name="Shape 16"/>
          <p:cNvSpPr/>
          <p:nvPr/>
        </p:nvSpPr>
        <p:spPr>
          <a:xfrm>
            <a:off x="6537960" y="4315968"/>
            <a:ext cx="1143000" cy="713232"/>
          </a:xfrm>
          <a:prstGeom prst="rect">
            <a:avLst/>
          </a:prstGeom>
          <a:solidFill>
            <a:srgbClr val="FFFFFF"/>
          </a:solidFill>
          <a:ln w="12700">
            <a:solidFill>
              <a:srgbClr val="000000"/>
            </a:solidFill>
            <a:prstDash val="solid"/>
          </a:ln>
        </p:spPr>
      </p:sp>
      <p:sp>
        <p:nvSpPr>
          <p:cNvPr id="19" name="Text 17"/>
          <p:cNvSpPr txBox="1"/>
          <p:nvPr/>
        </p:nvSpPr>
        <p:spPr>
          <a:xfrm>
            <a:off x="6611112" y="4315968"/>
            <a:ext cx="996696" cy="713232"/>
          </a:xfrm>
          <a:prstGeom prst="rect">
            <a:avLst/>
          </a:prstGeom>
          <a:noFill/>
          <a:ln/>
        </p:spPr>
        <p:txBody>
          <a:bodyPr wrap="square" lIns="0" tIns="0" rIns="0" bIns="0" rtlCol="0" anchor="ctr"/>
          <a:lstStyle/>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Ventilation</a:t>
            </a:r>
            <a:endParaRPr lang="en-US" sz="950" dirty="0"/>
          </a:p>
        </p:txBody>
      </p:sp>
      <p:sp>
        <p:nvSpPr>
          <p:cNvPr id="20" name="Shape 18"/>
          <p:cNvSpPr/>
          <p:nvPr/>
        </p:nvSpPr>
        <p:spPr>
          <a:xfrm>
            <a:off x="7799832" y="4315968"/>
            <a:ext cx="1143000" cy="713232"/>
          </a:xfrm>
          <a:prstGeom prst="rect">
            <a:avLst/>
          </a:prstGeom>
          <a:solidFill>
            <a:srgbClr val="FFFFFF"/>
          </a:solidFill>
          <a:ln w="12700">
            <a:solidFill>
              <a:srgbClr val="C8C8C8"/>
            </a:solidFill>
            <a:prstDash val="solid"/>
          </a:ln>
        </p:spPr>
      </p:sp>
      <p:sp>
        <p:nvSpPr>
          <p:cNvPr id="21" name="Text 19"/>
          <p:cNvSpPr txBox="1"/>
          <p:nvPr/>
        </p:nvSpPr>
        <p:spPr>
          <a:xfrm>
            <a:off x="7872984" y="4315968"/>
            <a:ext cx="996696" cy="713232"/>
          </a:xfrm>
          <a:prstGeom prst="rect">
            <a:avLst/>
          </a:prstGeom>
          <a:noFill/>
          <a:ln/>
        </p:spPr>
        <p:txBody>
          <a:bodyPr wrap="square" lIns="0" tIns="0" rIns="0" bIns="0" rtlCol="0" anchor="ctr"/>
          <a:lstStyle/>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Monitoring</a:t>
            </a:r>
            <a:endParaRPr lang="en-US" sz="950" dirty="0"/>
          </a:p>
        </p:txBody>
      </p:sp>
      <p:sp>
        <p:nvSpPr>
          <p:cNvPr id="22" name="Shape 20"/>
          <p:cNvSpPr/>
          <p:nvPr/>
        </p:nvSpPr>
        <p:spPr>
          <a:xfrm>
            <a:off x="9061704" y="4315968"/>
            <a:ext cx="1143000" cy="713232"/>
          </a:xfrm>
          <a:prstGeom prst="rect">
            <a:avLst/>
          </a:prstGeom>
          <a:solidFill>
            <a:srgbClr val="FFFFFF"/>
          </a:solidFill>
          <a:ln w="12700">
            <a:solidFill>
              <a:srgbClr val="C8C8C8"/>
            </a:solidFill>
            <a:prstDash val="solid"/>
          </a:ln>
        </p:spPr>
      </p:sp>
      <p:sp>
        <p:nvSpPr>
          <p:cNvPr id="23" name="Text 21"/>
          <p:cNvSpPr txBox="1"/>
          <p:nvPr/>
        </p:nvSpPr>
        <p:spPr>
          <a:xfrm>
            <a:off x="9134856" y="4315968"/>
            <a:ext cx="996696" cy="713232"/>
          </a:xfrm>
          <a:prstGeom prst="rect">
            <a:avLst/>
          </a:prstGeom>
          <a:noFill/>
          <a:ln/>
        </p:spPr>
        <p:txBody>
          <a:bodyPr wrap="square" lIns="0" tIns="0" rIns="0" bIns="0" rtlCol="0" anchor="ctr"/>
          <a:lstStyle/>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Trained</a:t>
            </a:r>
            <a:endParaRPr lang="en-US" sz="950" dirty="0"/>
          </a:p>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staff</a:t>
            </a:r>
            <a:endParaRPr lang="en-US" sz="950" dirty="0"/>
          </a:p>
        </p:txBody>
      </p:sp>
      <p:sp>
        <p:nvSpPr>
          <p:cNvPr id="24" name="Shape 22"/>
          <p:cNvSpPr/>
          <p:nvPr/>
        </p:nvSpPr>
        <p:spPr>
          <a:xfrm>
            <a:off x="10323576" y="4315968"/>
            <a:ext cx="1143000" cy="713232"/>
          </a:xfrm>
          <a:prstGeom prst="rect">
            <a:avLst/>
          </a:prstGeom>
          <a:solidFill>
            <a:srgbClr val="FFFFFF"/>
          </a:solidFill>
          <a:ln w="12700">
            <a:solidFill>
              <a:srgbClr val="C8C8C8"/>
            </a:solidFill>
            <a:prstDash val="solid"/>
          </a:ln>
        </p:spPr>
      </p:sp>
      <p:sp>
        <p:nvSpPr>
          <p:cNvPr id="25" name="Text 23"/>
          <p:cNvSpPr txBox="1"/>
          <p:nvPr/>
        </p:nvSpPr>
        <p:spPr>
          <a:xfrm>
            <a:off x="10396728" y="4315968"/>
            <a:ext cx="996696" cy="713232"/>
          </a:xfrm>
          <a:prstGeom prst="rect">
            <a:avLst/>
          </a:prstGeom>
          <a:noFill/>
          <a:ln/>
        </p:spPr>
        <p:txBody>
          <a:bodyPr wrap="square" lIns="0" tIns="0" rIns="0" bIns="0" rtlCol="0" anchor="ctr"/>
          <a:lstStyle/>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Ongoing</a:t>
            </a:r>
            <a:endParaRPr lang="en-US" sz="950" dirty="0"/>
          </a:p>
          <a:p>
            <a:pPr algn="ctr" indent="0" marL="0">
              <a:lnSpc>
                <a:spcPct val="105000"/>
              </a:lnSpc>
              <a:buNone/>
            </a:pPr>
            <a:r>
              <a:rPr lang="en-US" sz="950" dirty="0">
                <a:solidFill>
                  <a:srgbClr val="1A1A1A"/>
                </a:solidFill>
                <a:latin typeface="Calibri" pitchFamily="34" charset="0"/>
                <a:ea typeface="Calibri" pitchFamily="34" charset="-122"/>
                <a:cs typeface="Calibri" pitchFamily="34" charset="-120"/>
              </a:rPr>
              <a:t>support</a:t>
            </a:r>
            <a:endParaRPr lang="en-US" sz="950" dirty="0"/>
          </a:p>
        </p:txBody>
      </p:sp>
      <p:sp>
        <p:nvSpPr>
          <p:cNvPr id="26" name="Text 24"/>
          <p:cNvSpPr txBox="1"/>
          <p:nvPr/>
        </p:nvSpPr>
        <p:spPr>
          <a:xfrm>
            <a:off x="6537960" y="5138928"/>
            <a:ext cx="4937760"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The machine is one box of four.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 · LINEAGE ONE — POLIO</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Survival created a care problem that philanthropy solved first</a:t>
            </a:r>
            <a:endParaRPr lang="en-US" sz="2700" dirty="0"/>
          </a:p>
        </p:txBody>
      </p:sp>
      <p:sp>
        <p:nvSpPr>
          <p:cNvPr id="5" name="Text 3"/>
          <p:cNvSpPr txBox="1"/>
          <p:nvPr/>
        </p:nvSpPr>
        <p:spPr>
          <a:xfrm>
            <a:off x="685800" y="1207008"/>
            <a:ext cx="6858000" cy="228600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1946 — the March of Dimes funds and transports thousands of iron lungs</a:t>
            </a:r>
            <a:endParaRPr lang="en-US" sz="1300" dirty="0"/>
          </a:p>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Late 1950s — the MOD is operating 15 polio respiratory centers</a:t>
            </a:r>
            <a:endParaRPr lang="en-US" sz="1300" dirty="0"/>
          </a:p>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Rancho Los Amigos, Downey CA — the first system of ventilatory home care; polio survivors discharged home with iron lungs and portable chest cuirasses. These were among the earliest domiciliary NIV patients</a:t>
            </a:r>
            <a:endParaRPr lang="en-US" sz="1300" dirty="0"/>
          </a:p>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Salk's vaccine ends the epidemics. By the mid-1960s the MOD closes its respiratory centers for lack of funding</a:t>
            </a:r>
            <a:endParaRPr lang="en-US" sz="1300" dirty="0"/>
          </a:p>
        </p:txBody>
      </p:sp>
      <p:sp>
        <p:nvSpPr>
          <p:cNvPr id="6" name="Shape 4"/>
          <p:cNvSpPr/>
          <p:nvPr/>
        </p:nvSpPr>
        <p:spPr>
          <a:xfrm>
            <a:off x="7726680" y="1207008"/>
            <a:ext cx="3822192" cy="0"/>
          </a:xfrm>
          <a:prstGeom prst="line">
            <a:avLst/>
          </a:prstGeom>
          <a:noFill/>
          <a:ln w="12700">
            <a:solidFill>
              <a:srgbClr val="000000"/>
            </a:solidFill>
            <a:prstDash val="solid"/>
          </a:ln>
        </p:spPr>
      </p:sp>
      <p:sp>
        <p:nvSpPr>
          <p:cNvPr id="7" name="Text 5"/>
          <p:cNvSpPr txBox="1"/>
          <p:nvPr/>
        </p:nvSpPr>
        <p:spPr>
          <a:xfrm>
            <a:off x="7726680" y="1325880"/>
            <a:ext cx="3822192" cy="1371600"/>
          </a:xfrm>
          <a:prstGeom prst="rect">
            <a:avLst/>
          </a:prstGeom>
          <a:noFill/>
          <a:ln/>
        </p:spPr>
        <p:txBody>
          <a:bodyPr wrap="square" lIns="0" tIns="0" rIns="0" bIns="0" rtlCol="0" anchor="t"/>
          <a:lstStyle/>
          <a:p>
            <a:pPr indent="0" marL="0">
              <a:lnSpc>
                <a:spcPct val="112000"/>
              </a:lnSpc>
              <a:buNone/>
            </a:pPr>
            <a:r>
              <a:rPr lang="en-US" sz="1300" i="1" dirty="0">
                <a:solidFill>
                  <a:srgbClr val="000000"/>
                </a:solidFill>
                <a:latin typeface="Cambria" pitchFamily="34" charset="0"/>
                <a:ea typeface="Cambria" pitchFamily="34" charset="-122"/>
                <a:cs typeface="Cambria" pitchFamily="34" charset="-120"/>
              </a:rPr>
              <a:t>Up until this time, patients with chronic respiratory failure requiring ventilator support were thought to be destined for lifelong hospitalization.</a:t>
            </a:r>
            <a:endParaRPr lang="en-US" sz="1300" dirty="0"/>
          </a:p>
        </p:txBody>
      </p:sp>
      <p:sp>
        <p:nvSpPr>
          <p:cNvPr id="8" name="Text 6"/>
          <p:cNvSpPr txBox="1"/>
          <p:nvPr/>
        </p:nvSpPr>
        <p:spPr>
          <a:xfrm>
            <a:off x="7726680" y="2697480"/>
            <a:ext cx="3822192"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Gusman &amp; Wolfe, Sleep Med Clin 2025</a:t>
            </a:r>
            <a:endParaRPr lang="en-US" sz="1000" dirty="0"/>
          </a:p>
        </p:txBody>
      </p:sp>
      <p:sp>
        <p:nvSpPr>
          <p:cNvPr id="9" name="Shape 7"/>
          <p:cNvSpPr/>
          <p:nvPr/>
        </p:nvSpPr>
        <p:spPr>
          <a:xfrm>
            <a:off x="7726680" y="2953512"/>
            <a:ext cx="3822192" cy="0"/>
          </a:xfrm>
          <a:prstGeom prst="line">
            <a:avLst/>
          </a:prstGeom>
          <a:noFill/>
          <a:ln w="9525">
            <a:solidFill>
              <a:srgbClr val="C8C8C8"/>
            </a:solidFill>
            <a:prstDash val="solid"/>
          </a:ln>
        </p:spPr>
      </p:sp>
      <p:sp>
        <p:nvSpPr>
          <p:cNvPr id="10" name="Shape 8"/>
          <p:cNvSpPr/>
          <p:nvPr/>
        </p:nvSpPr>
        <p:spPr>
          <a:xfrm>
            <a:off x="640080" y="4114800"/>
            <a:ext cx="10911535" cy="841248"/>
          </a:xfrm>
          <a:prstGeom prst="rect">
            <a:avLst/>
          </a:prstGeom>
          <a:solidFill>
            <a:srgbClr val="F2F2F2"/>
          </a:solidFill>
          <a:ln w="12700">
            <a:solidFill>
              <a:srgbClr val="F2F2F2"/>
            </a:solidFill>
            <a:prstDash val="solid"/>
          </a:ln>
        </p:spPr>
      </p:sp>
      <p:sp>
        <p:nvSpPr>
          <p:cNvPr id="11" name="Text 9"/>
          <p:cNvSpPr txBox="1"/>
          <p:nvPr/>
        </p:nvSpPr>
        <p:spPr>
          <a:xfrm>
            <a:off x="841248" y="4114800"/>
            <a:ext cx="10509199" cy="841248"/>
          </a:xfrm>
          <a:prstGeom prst="rect">
            <a:avLst/>
          </a:prstGeom>
          <a:noFill/>
          <a:ln/>
        </p:spPr>
        <p:txBody>
          <a:bodyPr wrap="square" lIns="0" tIns="0" rIns="0" bIns="0" rtlCol="0" anchor="ctr"/>
          <a:lstStyle/>
          <a:p>
            <a:pPr indent="0" marL="0">
              <a:buNone/>
            </a:pPr>
            <a:r>
              <a:rPr lang="en-US" sz="1400" dirty="0">
                <a:solidFill>
                  <a:srgbClr val="000000"/>
                </a:solidFill>
                <a:latin typeface="Calibri" pitchFamily="34" charset="0"/>
                <a:ea typeface="Calibri" pitchFamily="34" charset="-122"/>
                <a:cs typeface="Calibri" pitchFamily="34" charset="-120"/>
              </a:rPr>
              <a:t>Home ventilation required three things, and only one of them was a machine:  </a:t>
            </a:r>
            <a:pPr indent="0" marL="0">
              <a:buNone/>
            </a:pPr>
            <a:r>
              <a:rPr lang="en-US" sz="1400" b="1" dirty="0">
                <a:solidFill>
                  <a:srgbClr val="000000"/>
                </a:solidFill>
                <a:latin typeface="Calibri" pitchFamily="34" charset="0"/>
                <a:ea typeface="Calibri" pitchFamily="34" charset="-122"/>
                <a:cs typeface="Calibri" pitchFamily="34" charset="-120"/>
              </a:rPr>
              <a:t>equipment, a care system, and financing.</a:t>
            </a:r>
            <a:endParaRPr lang="en-US" sz="1400" dirty="0"/>
          </a:p>
        </p:txBody>
      </p:sp>
      <p:sp>
        <p:nvSpPr>
          <p:cNvPr id="12" name="Text 10"/>
          <p:cNvSpPr txBox="1"/>
          <p:nvPr/>
        </p:nvSpPr>
        <p:spPr>
          <a:xfrm>
            <a:off x="640080" y="5102352"/>
            <a:ext cx="10911535" cy="36576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Attribution: Gusman &amp; Wolfe source the MOD and Rancho Los Amigos claims to marchofdimes.org and an independentliving.org history page — a secondary account, not an archival record.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 · LINEAGE ONE — POLIO</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The handoff — with an expiration date that never came</a:t>
            </a:r>
            <a:endParaRPr lang="en-US" sz="2700" dirty="0"/>
          </a:p>
        </p:txBody>
      </p:sp>
      <p:sp>
        <p:nvSpPr>
          <p:cNvPr id="5" name="Shape 3"/>
          <p:cNvSpPr/>
          <p:nvPr/>
        </p:nvSpPr>
        <p:spPr>
          <a:xfrm>
            <a:off x="640080" y="1207008"/>
            <a:ext cx="10911535" cy="0"/>
          </a:xfrm>
          <a:prstGeom prst="line">
            <a:avLst/>
          </a:prstGeom>
          <a:noFill/>
          <a:ln w="12700">
            <a:solidFill>
              <a:srgbClr val="000000"/>
            </a:solidFill>
            <a:prstDash val="solid"/>
          </a:ln>
        </p:spPr>
      </p:sp>
      <p:sp>
        <p:nvSpPr>
          <p:cNvPr id="6" name="Text 4"/>
          <p:cNvSpPr txBox="1"/>
          <p:nvPr/>
        </p:nvSpPr>
        <p:spPr>
          <a:xfrm>
            <a:off x="640080" y="1325880"/>
            <a:ext cx="10911535" cy="932688"/>
          </a:xfrm>
          <a:prstGeom prst="rect">
            <a:avLst/>
          </a:prstGeom>
          <a:noFill/>
          <a:ln/>
        </p:spPr>
        <p:txBody>
          <a:bodyPr wrap="square" lIns="0" tIns="0" rIns="0" bIns="0" rtlCol="0" anchor="t"/>
          <a:lstStyle/>
          <a:p>
            <a:pPr indent="0" marL="0">
              <a:lnSpc>
                <a:spcPct val="112000"/>
              </a:lnSpc>
              <a:buNone/>
            </a:pPr>
            <a:r>
              <a:rPr lang="en-US" sz="1400" i="1" dirty="0">
                <a:solidFill>
                  <a:srgbClr val="000000"/>
                </a:solidFill>
                <a:latin typeface="Cambria" pitchFamily="34" charset="0"/>
                <a:ea typeface="Cambria" pitchFamily="34" charset="-122"/>
                <a:cs typeface="Cambria" pitchFamily="34" charset="-120"/>
              </a:rPr>
              <a:t>The NCDs for HMV were purposely left vague because the assumption was that these criteria would only be relevant to patients with chronic respiratory failure secondary to poliomyelitis. Since the vaccine was effectively eradicating polio, it was thought that these criteria would not be in use for long.</a:t>
            </a:r>
            <a:endParaRPr lang="en-US" sz="1400" dirty="0"/>
          </a:p>
        </p:txBody>
      </p:sp>
      <p:sp>
        <p:nvSpPr>
          <p:cNvPr id="7" name="Text 5"/>
          <p:cNvSpPr txBox="1"/>
          <p:nvPr/>
        </p:nvSpPr>
        <p:spPr>
          <a:xfrm>
            <a:off x="640080" y="2258568"/>
            <a:ext cx="10911535"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Gusman &amp; Wolfe, Sleep Med Clin 2025  ·  uncited in the original; expert recollection, not archival record</a:t>
            </a:r>
            <a:endParaRPr lang="en-US" sz="1000" dirty="0"/>
          </a:p>
        </p:txBody>
      </p:sp>
      <p:sp>
        <p:nvSpPr>
          <p:cNvPr id="8" name="Shape 6"/>
          <p:cNvSpPr/>
          <p:nvPr/>
        </p:nvSpPr>
        <p:spPr>
          <a:xfrm>
            <a:off x="640080" y="2514600"/>
            <a:ext cx="10911535" cy="0"/>
          </a:xfrm>
          <a:prstGeom prst="line">
            <a:avLst/>
          </a:prstGeom>
          <a:noFill/>
          <a:ln w="9525">
            <a:solidFill>
              <a:srgbClr val="C8C8C8"/>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999232"/>
          <a:ext cx="10911535" cy="914400"/>
        </p:xfrm>
        <a:graphic>
          <a:graphicData uri="http://schemas.openxmlformats.org/drawingml/2006/table">
            <a:tbl>
              <a:tblPr/>
              <a:tblGrid>
                <a:gridCol w="2724912"/>
                <a:gridCol w="2724912"/>
                <a:gridCol w="2724912"/>
                <a:gridCol w="2734056"/>
              </a:tblGrid>
              <a:tr h="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1965</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1960s–70s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1977</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1981–82</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Medicare established. Chronic respiratory failure is left out — the polio community was told the March of Dimes would keep covering it.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Medicare writes NCDs for home mechanical ventilation. They include in-home RTs, consumable supplies, and backup equipment. No LCDs are written.</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The LP3 portable volume ventilator is cleared for use outside the hospital (510(k) K770132). First target population: ventilator-dependent children.</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Katie Beckett. TEFRA 1982 §134 creates the state-plan option letting states disregard parental income for children who would otherwise need institutional care.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10" name="Shape 7"/>
          <p:cNvSpPr/>
          <p:nvPr/>
        </p:nvSpPr>
        <p:spPr>
          <a:xfrm>
            <a:off x="640080" y="5230368"/>
            <a:ext cx="10911535" cy="658368"/>
          </a:xfrm>
          <a:prstGeom prst="rect">
            <a:avLst/>
          </a:prstGeom>
          <a:solidFill>
            <a:srgbClr val="F2F2F2"/>
          </a:solidFill>
          <a:ln w="12700">
            <a:solidFill>
              <a:srgbClr val="F2F2F2"/>
            </a:solidFill>
            <a:prstDash val="solid"/>
          </a:ln>
        </p:spPr>
      </p:sp>
      <p:sp>
        <p:nvSpPr>
          <p:cNvPr id="11" name="Text 8"/>
          <p:cNvSpPr txBox="1"/>
          <p:nvPr/>
        </p:nvSpPr>
        <p:spPr>
          <a:xfrm>
            <a:off x="841248" y="5230368"/>
            <a:ext cx="10509199" cy="658368"/>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The ventilator benefit was designed generously, for a population everyone expected to disappear.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III · LINEAGE TWO — THE BLOWER</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1981: nasal CPAP is a splint, not a ventilator</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Sullivan, Issa, Berthon-Jones &amp; Eves. Lancet 1981;1:862–865</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44752"/>
          <a:ext cx="10911535" cy="914400"/>
        </p:xfrm>
        <a:graphic>
          <a:graphicData uri="http://schemas.openxmlformats.org/drawingml/2006/table">
            <a:tbl>
              <a:tblPr/>
              <a:tblGrid>
                <a:gridCol w="2148840"/>
                <a:gridCol w="4343400"/>
                <a:gridCol w="4416552"/>
              </a:tblGrid>
              <a:tr h="0">
                <a:tc>
                  <a:txBody>
                    <a:bodyPr/>
                    <a:lstStyle/>
                    <a:p>
                      <a:pPr indent="0" marL="0">
                        <a:buNone/>
                      </a:pP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Ventilator lineage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Sleep-apnea device lineage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Original problem</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Respiratory paralysis — the pump fails</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Intermittent upper-airway obstruction</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Engineering answer</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Negative pressure → positive pressure → portable home ventilators</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 blower, a mask, one pressure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Central concern</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Reliability; continuity of support</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Effective airway treatment through a tolerable interface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Failure mode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Death</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Sleepiness</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7" name="Text 4"/>
          <p:cNvSpPr txBox="1"/>
          <p:nvPr/>
        </p:nvSpPr>
        <p:spPr>
          <a:xfrm>
            <a:off x="640080" y="4251960"/>
            <a:ext cx="2011680" cy="22860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Airway pressure</a:t>
            </a:r>
            <a:endParaRPr lang="en-US" sz="1000" dirty="0"/>
          </a:p>
        </p:txBody>
      </p:sp>
      <p:sp>
        <p:nvSpPr>
          <p:cNvPr id="8" name="Shape 5"/>
          <p:cNvSpPr/>
          <p:nvPr/>
        </p:nvSpPr>
        <p:spPr>
          <a:xfrm>
            <a:off x="640080" y="5394960"/>
            <a:ext cx="5120640" cy="0"/>
          </a:xfrm>
          <a:prstGeom prst="line">
            <a:avLst/>
          </a:prstGeom>
          <a:noFill/>
          <a:ln w="9525">
            <a:solidFill>
              <a:srgbClr val="C8C8C8"/>
            </a:solidFill>
            <a:prstDash val="solid"/>
          </a:ln>
        </p:spPr>
      </p:sp>
      <p:sp>
        <p:nvSpPr>
          <p:cNvPr id="9" name="Shape 6"/>
          <p:cNvSpPr/>
          <p:nvPr/>
        </p:nvSpPr>
        <p:spPr>
          <a:xfrm>
            <a:off x="640080" y="4526280"/>
            <a:ext cx="0" cy="868680"/>
          </a:xfrm>
          <a:prstGeom prst="line">
            <a:avLst/>
          </a:prstGeom>
          <a:noFill/>
          <a:ln w="9525">
            <a:solidFill>
              <a:srgbClr val="C8C8C8"/>
            </a:solidFill>
            <a:prstDash val="solid"/>
          </a:ln>
        </p:spPr>
      </p:sp>
      <p:sp>
        <p:nvSpPr>
          <p:cNvPr id="10" name="Shape 7"/>
          <p:cNvSpPr/>
          <p:nvPr/>
        </p:nvSpPr>
        <p:spPr>
          <a:xfrm>
            <a:off x="731520" y="5184648"/>
            <a:ext cx="365760" cy="0"/>
          </a:xfrm>
          <a:prstGeom prst="line">
            <a:avLst/>
          </a:prstGeom>
          <a:noFill/>
          <a:ln w="19050">
            <a:solidFill>
              <a:srgbClr val="000000"/>
            </a:solidFill>
            <a:prstDash val="solid"/>
          </a:ln>
        </p:spPr>
      </p:sp>
      <p:sp>
        <p:nvSpPr>
          <p:cNvPr id="11" name="Shape 8"/>
          <p:cNvSpPr/>
          <p:nvPr/>
        </p:nvSpPr>
        <p:spPr>
          <a:xfrm>
            <a:off x="1097280" y="4818888"/>
            <a:ext cx="0" cy="365760"/>
          </a:xfrm>
          <a:prstGeom prst="line">
            <a:avLst/>
          </a:prstGeom>
          <a:noFill/>
          <a:ln w="19050">
            <a:solidFill>
              <a:srgbClr val="000000"/>
            </a:solidFill>
            <a:prstDash val="solid"/>
          </a:ln>
        </p:spPr>
      </p:sp>
      <p:sp>
        <p:nvSpPr>
          <p:cNvPr id="12" name="Shape 9"/>
          <p:cNvSpPr/>
          <p:nvPr/>
        </p:nvSpPr>
        <p:spPr>
          <a:xfrm>
            <a:off x="1097280" y="4818888"/>
            <a:ext cx="4526280" cy="0"/>
          </a:xfrm>
          <a:prstGeom prst="line">
            <a:avLst/>
          </a:prstGeom>
          <a:noFill/>
          <a:ln w="19050">
            <a:solidFill>
              <a:srgbClr val="000000"/>
            </a:solidFill>
            <a:prstDash val="solid"/>
          </a:ln>
        </p:spPr>
      </p:sp>
      <p:sp>
        <p:nvSpPr>
          <p:cNvPr id="13" name="Text 10"/>
          <p:cNvSpPr txBox="1"/>
          <p:nvPr/>
        </p:nvSpPr>
        <p:spPr>
          <a:xfrm>
            <a:off x="640080" y="5477256"/>
            <a:ext cx="6217920"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One pressure, held. No inspiratory assistance. The airway is splinted, not the pump.</a:t>
            </a:r>
            <a:endParaRPr lang="en-US" sz="1000" dirty="0"/>
          </a:p>
        </p:txBody>
      </p:sp>
      <p:sp>
        <p:nvSpPr>
          <p:cNvPr id="14" name="Shape 11"/>
          <p:cNvSpPr/>
          <p:nvPr/>
        </p:nvSpPr>
        <p:spPr>
          <a:xfrm>
            <a:off x="7223760" y="4572000"/>
            <a:ext cx="4325112" cy="822960"/>
          </a:xfrm>
          <a:prstGeom prst="rect">
            <a:avLst/>
          </a:prstGeom>
          <a:solidFill>
            <a:srgbClr val="FFFFFF"/>
          </a:solidFill>
          <a:ln w="9525">
            <a:solidFill>
              <a:srgbClr val="C8C8C8"/>
            </a:solidFill>
            <a:prstDash val="dash"/>
          </a:ln>
        </p:spPr>
      </p:sp>
      <p:sp>
        <p:nvSpPr>
          <p:cNvPr id="15" name="Text 12"/>
          <p:cNvSpPr txBox="1"/>
          <p:nvPr/>
        </p:nvSpPr>
        <p:spPr>
          <a:xfrm>
            <a:off x="7388352" y="4745736"/>
            <a:ext cx="4023360" cy="54864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FIGURE — pair with an upper-airway schematic:</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collapsed versus pneumatically splinted pharynx.</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III · LINEAGE TWO — THE BLOWER</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1990: bilevel is the bridge — and it descends from the blower</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Sanders &amp; Kern. Chest 1990;98:317–324</a:t>
            </a:r>
            <a:endParaRPr lang="en-US" sz="1250" dirty="0"/>
          </a:p>
        </p:txBody>
      </p:sp>
      <p:sp>
        <p:nvSpPr>
          <p:cNvPr id="6" name="Shape 4"/>
          <p:cNvSpPr/>
          <p:nvPr/>
        </p:nvSpPr>
        <p:spPr>
          <a:xfrm>
            <a:off x="685800" y="2304288"/>
            <a:ext cx="7863840" cy="0"/>
          </a:xfrm>
          <a:prstGeom prst="line">
            <a:avLst/>
          </a:prstGeom>
          <a:noFill/>
          <a:ln w="19050">
            <a:solidFill>
              <a:srgbClr val="000000"/>
            </a:solidFill>
            <a:prstDash val="solid"/>
          </a:ln>
        </p:spPr>
      </p:sp>
      <p:sp>
        <p:nvSpPr>
          <p:cNvPr id="7" name="Shape 5"/>
          <p:cNvSpPr/>
          <p:nvPr/>
        </p:nvSpPr>
        <p:spPr>
          <a:xfrm>
            <a:off x="685800" y="3858768"/>
            <a:ext cx="7863840" cy="0"/>
          </a:xfrm>
          <a:prstGeom prst="line">
            <a:avLst/>
          </a:prstGeom>
          <a:noFill/>
          <a:ln w="19050">
            <a:solidFill>
              <a:srgbClr val="000000"/>
            </a:solidFill>
            <a:prstDash val="solid"/>
          </a:ln>
        </p:spPr>
      </p:sp>
      <p:sp>
        <p:nvSpPr>
          <p:cNvPr id="8" name="Shape 6"/>
          <p:cNvSpPr/>
          <p:nvPr/>
        </p:nvSpPr>
        <p:spPr>
          <a:xfrm>
            <a:off x="8549640" y="2304288"/>
            <a:ext cx="1645920" cy="777240"/>
          </a:xfrm>
          <a:prstGeom prst="line">
            <a:avLst/>
          </a:prstGeom>
          <a:noFill/>
          <a:ln w="19050">
            <a:solidFill>
              <a:srgbClr val="000000"/>
            </a:solidFill>
            <a:prstDash val="solid"/>
          </a:ln>
        </p:spPr>
      </p:sp>
      <p:sp>
        <p:nvSpPr>
          <p:cNvPr id="9" name="Shape 7"/>
          <p:cNvSpPr/>
          <p:nvPr/>
        </p:nvSpPr>
        <p:spPr>
          <a:xfrm flipV="1">
            <a:off x="8549640" y="3081528"/>
            <a:ext cx="1645920" cy="777240"/>
          </a:xfrm>
          <a:prstGeom prst="line">
            <a:avLst/>
          </a:prstGeom>
          <a:noFill/>
          <a:ln w="19050">
            <a:solidFill>
              <a:srgbClr val="000000"/>
            </a:solidFill>
            <a:prstDash val="solid"/>
          </a:ln>
        </p:spPr>
      </p:sp>
      <p:sp>
        <p:nvSpPr>
          <p:cNvPr id="10" name="Text 8"/>
          <p:cNvSpPr txBox="1"/>
          <p:nvPr/>
        </p:nvSpPr>
        <p:spPr>
          <a:xfrm>
            <a:off x="685800" y="1975104"/>
            <a:ext cx="3657600" cy="256032"/>
          </a:xfrm>
          <a:prstGeom prst="rect">
            <a:avLst/>
          </a:prstGeom>
          <a:noFill/>
          <a:ln/>
        </p:spPr>
        <p:txBody>
          <a:bodyPr wrap="square" lIns="0" tIns="0" rIns="0" bIns="0" rtlCol="0" anchor="ctr"/>
          <a:lstStyle/>
          <a:p>
            <a:pPr indent="0" marL="0">
              <a:buNone/>
            </a:pPr>
            <a:r>
              <a:rPr lang="en-US" sz="1000" b="1" spc="100" kern="0" dirty="0">
                <a:solidFill>
                  <a:srgbClr val="000000"/>
                </a:solidFill>
                <a:latin typeface="Calibri" pitchFamily="34" charset="0"/>
                <a:ea typeface="Calibri" pitchFamily="34" charset="-122"/>
                <a:cs typeface="Calibri" pitchFamily="34" charset="-120"/>
              </a:rPr>
              <a:t>VENTILATOR LINEAGE</a:t>
            </a:r>
            <a:endParaRPr lang="en-US" sz="1000" dirty="0"/>
          </a:p>
        </p:txBody>
      </p:sp>
      <p:sp>
        <p:nvSpPr>
          <p:cNvPr id="11" name="Text 9"/>
          <p:cNvSpPr txBox="1"/>
          <p:nvPr/>
        </p:nvSpPr>
        <p:spPr>
          <a:xfrm>
            <a:off x="685800" y="4370832"/>
            <a:ext cx="4023360" cy="256032"/>
          </a:xfrm>
          <a:prstGeom prst="rect">
            <a:avLst/>
          </a:prstGeom>
          <a:noFill/>
          <a:ln/>
        </p:spPr>
        <p:txBody>
          <a:bodyPr wrap="square" lIns="0" tIns="0" rIns="0" bIns="0" rtlCol="0" anchor="ctr"/>
          <a:lstStyle/>
          <a:p>
            <a:pPr indent="0" marL="0">
              <a:buNone/>
            </a:pPr>
            <a:r>
              <a:rPr lang="en-US" sz="1000" b="1" spc="100" kern="0" dirty="0">
                <a:solidFill>
                  <a:srgbClr val="000000"/>
                </a:solidFill>
                <a:latin typeface="Calibri" pitchFamily="34" charset="0"/>
                <a:ea typeface="Calibri" pitchFamily="34" charset="-122"/>
                <a:cs typeface="Calibri" pitchFamily="34" charset="-120"/>
              </a:rPr>
              <a:t>SLEEP-APNEA DEVICE LINEAGE</a:t>
            </a:r>
            <a:endParaRPr lang="en-US" sz="1000" dirty="0"/>
          </a:p>
        </p:txBody>
      </p:sp>
      <p:sp>
        <p:nvSpPr>
          <p:cNvPr id="12" name="Shape 10"/>
          <p:cNvSpPr/>
          <p:nvPr/>
        </p:nvSpPr>
        <p:spPr>
          <a:xfrm>
            <a:off x="1005840" y="2157984"/>
            <a:ext cx="0" cy="146304"/>
          </a:xfrm>
          <a:prstGeom prst="line">
            <a:avLst/>
          </a:prstGeom>
          <a:noFill/>
          <a:ln w="15875">
            <a:solidFill>
              <a:srgbClr val="000000"/>
            </a:solidFill>
            <a:prstDash val="solid"/>
          </a:ln>
        </p:spPr>
      </p:sp>
      <p:sp>
        <p:nvSpPr>
          <p:cNvPr id="13" name="Text 11"/>
          <p:cNvSpPr txBox="1"/>
          <p:nvPr/>
        </p:nvSpPr>
        <p:spPr>
          <a:xfrm>
            <a:off x="182880" y="1645920"/>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1928</a:t>
            </a:r>
            <a:endParaRPr lang="en-US" sz="1050" dirty="0"/>
          </a:p>
        </p:txBody>
      </p:sp>
      <p:sp>
        <p:nvSpPr>
          <p:cNvPr id="14" name="Text 12"/>
          <p:cNvSpPr txBox="1"/>
          <p:nvPr/>
        </p:nvSpPr>
        <p:spPr>
          <a:xfrm>
            <a:off x="109728" y="2359152"/>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Iron lung</a:t>
            </a:r>
            <a:endParaRPr lang="en-US" sz="1000" dirty="0"/>
          </a:p>
        </p:txBody>
      </p:sp>
      <p:sp>
        <p:nvSpPr>
          <p:cNvPr id="15" name="Shape 13"/>
          <p:cNvSpPr/>
          <p:nvPr/>
        </p:nvSpPr>
        <p:spPr>
          <a:xfrm>
            <a:off x="2971800" y="2157984"/>
            <a:ext cx="0" cy="146304"/>
          </a:xfrm>
          <a:prstGeom prst="line">
            <a:avLst/>
          </a:prstGeom>
          <a:noFill/>
          <a:ln w="15875">
            <a:solidFill>
              <a:srgbClr val="000000"/>
            </a:solidFill>
            <a:prstDash val="solid"/>
          </a:ln>
        </p:spPr>
      </p:sp>
      <p:sp>
        <p:nvSpPr>
          <p:cNvPr id="16" name="Text 14"/>
          <p:cNvSpPr txBox="1"/>
          <p:nvPr/>
        </p:nvSpPr>
        <p:spPr>
          <a:xfrm>
            <a:off x="2148840" y="1645920"/>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1952</a:t>
            </a:r>
            <a:endParaRPr lang="en-US" sz="1050" dirty="0"/>
          </a:p>
        </p:txBody>
      </p:sp>
      <p:sp>
        <p:nvSpPr>
          <p:cNvPr id="17" name="Text 15"/>
          <p:cNvSpPr txBox="1"/>
          <p:nvPr/>
        </p:nvSpPr>
        <p:spPr>
          <a:xfrm>
            <a:off x="2075688" y="2359152"/>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Copenhagen</a:t>
            </a:r>
            <a:endParaRPr lang="en-US" sz="1000" dirty="0"/>
          </a:p>
        </p:txBody>
      </p:sp>
      <p:sp>
        <p:nvSpPr>
          <p:cNvPr id="18" name="Shape 16"/>
          <p:cNvSpPr/>
          <p:nvPr/>
        </p:nvSpPr>
        <p:spPr>
          <a:xfrm>
            <a:off x="4937760" y="2157984"/>
            <a:ext cx="0" cy="146304"/>
          </a:xfrm>
          <a:prstGeom prst="line">
            <a:avLst/>
          </a:prstGeom>
          <a:noFill/>
          <a:ln w="15875">
            <a:solidFill>
              <a:srgbClr val="000000"/>
            </a:solidFill>
            <a:prstDash val="solid"/>
          </a:ln>
        </p:spPr>
      </p:sp>
      <p:sp>
        <p:nvSpPr>
          <p:cNvPr id="19" name="Text 17"/>
          <p:cNvSpPr txBox="1"/>
          <p:nvPr/>
        </p:nvSpPr>
        <p:spPr>
          <a:xfrm>
            <a:off x="4114800" y="1645920"/>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1977</a:t>
            </a:r>
            <a:endParaRPr lang="en-US" sz="1050" dirty="0"/>
          </a:p>
        </p:txBody>
      </p:sp>
      <p:sp>
        <p:nvSpPr>
          <p:cNvPr id="20" name="Text 18"/>
          <p:cNvSpPr txBox="1"/>
          <p:nvPr/>
        </p:nvSpPr>
        <p:spPr>
          <a:xfrm>
            <a:off x="4041648" y="2359152"/>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LP3 portable</a:t>
            </a:r>
            <a:endParaRPr lang="en-US" sz="1000" dirty="0"/>
          </a:p>
        </p:txBody>
      </p:sp>
      <p:sp>
        <p:nvSpPr>
          <p:cNvPr id="21" name="Shape 19"/>
          <p:cNvSpPr/>
          <p:nvPr/>
        </p:nvSpPr>
        <p:spPr>
          <a:xfrm>
            <a:off x="6903720" y="2157984"/>
            <a:ext cx="0" cy="146304"/>
          </a:xfrm>
          <a:prstGeom prst="line">
            <a:avLst/>
          </a:prstGeom>
          <a:noFill/>
          <a:ln w="15875">
            <a:solidFill>
              <a:srgbClr val="000000"/>
            </a:solidFill>
            <a:prstDash val="solid"/>
          </a:ln>
        </p:spPr>
      </p:sp>
      <p:sp>
        <p:nvSpPr>
          <p:cNvPr id="22" name="Text 20"/>
          <p:cNvSpPr txBox="1"/>
          <p:nvPr/>
        </p:nvSpPr>
        <p:spPr>
          <a:xfrm>
            <a:off x="6080760" y="1645920"/>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1990</a:t>
            </a:r>
            <a:endParaRPr lang="en-US" sz="1050" dirty="0"/>
          </a:p>
        </p:txBody>
      </p:sp>
      <p:sp>
        <p:nvSpPr>
          <p:cNvPr id="23" name="Text 21"/>
          <p:cNvSpPr txBox="1"/>
          <p:nvPr/>
        </p:nvSpPr>
        <p:spPr>
          <a:xfrm>
            <a:off x="6007608" y="2359152"/>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Home ventilators</a:t>
            </a:r>
            <a:endParaRPr lang="en-US" sz="1000" dirty="0"/>
          </a:p>
        </p:txBody>
      </p:sp>
      <p:sp>
        <p:nvSpPr>
          <p:cNvPr id="24" name="Shape 22"/>
          <p:cNvSpPr/>
          <p:nvPr/>
        </p:nvSpPr>
        <p:spPr>
          <a:xfrm>
            <a:off x="1005840" y="3858768"/>
            <a:ext cx="0" cy="146304"/>
          </a:xfrm>
          <a:prstGeom prst="line">
            <a:avLst/>
          </a:prstGeom>
          <a:noFill/>
          <a:ln w="15875">
            <a:solidFill>
              <a:srgbClr val="000000"/>
            </a:solidFill>
            <a:prstDash val="solid"/>
          </a:ln>
        </p:spPr>
      </p:sp>
      <p:sp>
        <p:nvSpPr>
          <p:cNvPr id="25" name="Text 23"/>
          <p:cNvSpPr txBox="1"/>
          <p:nvPr/>
        </p:nvSpPr>
        <p:spPr>
          <a:xfrm>
            <a:off x="182880" y="3584448"/>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1981</a:t>
            </a:r>
            <a:endParaRPr lang="en-US" sz="1050" dirty="0"/>
          </a:p>
        </p:txBody>
      </p:sp>
      <p:sp>
        <p:nvSpPr>
          <p:cNvPr id="26" name="Text 24"/>
          <p:cNvSpPr txBox="1"/>
          <p:nvPr/>
        </p:nvSpPr>
        <p:spPr>
          <a:xfrm>
            <a:off x="109728" y="4041648"/>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Nasal CPAP</a:t>
            </a:r>
            <a:endParaRPr lang="en-US" sz="1000" dirty="0"/>
          </a:p>
        </p:txBody>
      </p:sp>
      <p:sp>
        <p:nvSpPr>
          <p:cNvPr id="27" name="Shape 25"/>
          <p:cNvSpPr/>
          <p:nvPr/>
        </p:nvSpPr>
        <p:spPr>
          <a:xfrm>
            <a:off x="2971800" y="3858768"/>
            <a:ext cx="0" cy="146304"/>
          </a:xfrm>
          <a:prstGeom prst="line">
            <a:avLst/>
          </a:prstGeom>
          <a:noFill/>
          <a:ln w="15875">
            <a:solidFill>
              <a:srgbClr val="000000"/>
            </a:solidFill>
            <a:prstDash val="solid"/>
          </a:ln>
        </p:spPr>
      </p:sp>
      <p:sp>
        <p:nvSpPr>
          <p:cNvPr id="28" name="Text 26"/>
          <p:cNvSpPr txBox="1"/>
          <p:nvPr/>
        </p:nvSpPr>
        <p:spPr>
          <a:xfrm>
            <a:off x="2148840" y="3584448"/>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1990</a:t>
            </a:r>
            <a:endParaRPr lang="en-US" sz="1050" dirty="0"/>
          </a:p>
        </p:txBody>
      </p:sp>
      <p:sp>
        <p:nvSpPr>
          <p:cNvPr id="29" name="Text 27"/>
          <p:cNvSpPr txBox="1"/>
          <p:nvPr/>
        </p:nvSpPr>
        <p:spPr>
          <a:xfrm>
            <a:off x="2075688" y="4041648"/>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Bilevel</a:t>
            </a:r>
            <a:endParaRPr lang="en-US" sz="1000" dirty="0"/>
          </a:p>
        </p:txBody>
      </p:sp>
      <p:sp>
        <p:nvSpPr>
          <p:cNvPr id="30" name="Shape 28"/>
          <p:cNvSpPr/>
          <p:nvPr/>
        </p:nvSpPr>
        <p:spPr>
          <a:xfrm>
            <a:off x="4937760" y="3858768"/>
            <a:ext cx="0" cy="146304"/>
          </a:xfrm>
          <a:prstGeom prst="line">
            <a:avLst/>
          </a:prstGeom>
          <a:noFill/>
          <a:ln w="15875">
            <a:solidFill>
              <a:srgbClr val="000000"/>
            </a:solidFill>
            <a:prstDash val="solid"/>
          </a:ln>
        </p:spPr>
      </p:sp>
      <p:sp>
        <p:nvSpPr>
          <p:cNvPr id="31" name="Text 29"/>
          <p:cNvSpPr txBox="1"/>
          <p:nvPr/>
        </p:nvSpPr>
        <p:spPr>
          <a:xfrm>
            <a:off x="4114800" y="3584448"/>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1998</a:t>
            </a:r>
            <a:endParaRPr lang="en-US" sz="1050" dirty="0"/>
          </a:p>
        </p:txBody>
      </p:sp>
      <p:sp>
        <p:nvSpPr>
          <p:cNvPr id="32" name="Text 30"/>
          <p:cNvSpPr txBox="1"/>
          <p:nvPr/>
        </p:nvSpPr>
        <p:spPr>
          <a:xfrm>
            <a:off x="4041648" y="4041648"/>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S/T, VAPS</a:t>
            </a:r>
            <a:endParaRPr lang="en-US" sz="1000" dirty="0"/>
          </a:p>
        </p:txBody>
      </p:sp>
      <p:sp>
        <p:nvSpPr>
          <p:cNvPr id="33" name="Shape 31"/>
          <p:cNvSpPr/>
          <p:nvPr/>
        </p:nvSpPr>
        <p:spPr>
          <a:xfrm>
            <a:off x="6903720" y="3858768"/>
            <a:ext cx="0" cy="146304"/>
          </a:xfrm>
          <a:prstGeom prst="line">
            <a:avLst/>
          </a:prstGeom>
          <a:noFill/>
          <a:ln w="15875">
            <a:solidFill>
              <a:srgbClr val="000000"/>
            </a:solidFill>
            <a:prstDash val="solid"/>
          </a:ln>
        </p:spPr>
      </p:sp>
      <p:sp>
        <p:nvSpPr>
          <p:cNvPr id="34" name="Text 32"/>
          <p:cNvSpPr txBox="1"/>
          <p:nvPr/>
        </p:nvSpPr>
        <p:spPr>
          <a:xfrm>
            <a:off x="6080760" y="3584448"/>
            <a:ext cx="1645920" cy="219456"/>
          </a:xfrm>
          <a:prstGeom prst="rect">
            <a:avLst/>
          </a:prstGeom>
          <a:noFill/>
          <a:ln/>
        </p:spPr>
        <p:txBody>
          <a:bodyPr wrap="square" lIns="0" tIns="0" rIns="0" bIns="0" rtlCol="0" anchor="ctr"/>
          <a:lstStyle/>
          <a:p>
            <a:pPr algn="ctr" indent="0" marL="0">
              <a:buNone/>
            </a:pPr>
            <a:r>
              <a:rPr lang="en-US" sz="1050" b="1" dirty="0">
                <a:solidFill>
                  <a:srgbClr val="000000"/>
                </a:solidFill>
                <a:latin typeface="Calibri" pitchFamily="34" charset="0"/>
                <a:ea typeface="Calibri" pitchFamily="34" charset="-122"/>
                <a:cs typeface="Calibri" pitchFamily="34" charset="-120"/>
              </a:rPr>
              <a:t>2010</a:t>
            </a:r>
            <a:endParaRPr lang="en-US" sz="1050" dirty="0"/>
          </a:p>
        </p:txBody>
      </p:sp>
      <p:sp>
        <p:nvSpPr>
          <p:cNvPr id="35" name="Text 33"/>
          <p:cNvSpPr txBox="1"/>
          <p:nvPr/>
        </p:nvSpPr>
        <p:spPr>
          <a:xfrm>
            <a:off x="6007608" y="4041648"/>
            <a:ext cx="1792224" cy="237744"/>
          </a:xfrm>
          <a:prstGeom prst="rect">
            <a:avLst/>
          </a:prstGeom>
          <a:noFill/>
          <a:ln/>
        </p:spPr>
        <p:txBody>
          <a:bodyPr wrap="square" lIns="0" tIns="0" rIns="0" bIns="0" rtlCol="0" anchor="ctr"/>
          <a:lstStyle/>
          <a:p>
            <a:pPr algn="ctr" indent="0" marL="0">
              <a:buNone/>
            </a:pPr>
            <a:r>
              <a:rPr lang="en-US" sz="1000" dirty="0">
                <a:solidFill>
                  <a:srgbClr val="6E6E6E"/>
                </a:solidFill>
                <a:latin typeface="Calibri" pitchFamily="34" charset="0"/>
                <a:ea typeface="Calibri" pitchFamily="34" charset="-122"/>
                <a:cs typeface="Calibri" pitchFamily="34" charset="-120"/>
              </a:rPr>
              <a:t>Leak compensation</a:t>
            </a:r>
            <a:endParaRPr lang="en-US" sz="1000" dirty="0"/>
          </a:p>
        </p:txBody>
      </p:sp>
      <p:sp>
        <p:nvSpPr>
          <p:cNvPr id="36" name="Text 34"/>
          <p:cNvSpPr txBox="1"/>
          <p:nvPr/>
        </p:nvSpPr>
        <p:spPr>
          <a:xfrm>
            <a:off x="10250424" y="2514600"/>
            <a:ext cx="1371600" cy="1133856"/>
          </a:xfrm>
          <a:prstGeom prst="rect">
            <a:avLst/>
          </a:prstGeom>
          <a:noFill/>
          <a:ln/>
        </p:spPr>
        <p:txBody>
          <a:bodyPr wrap="square" lIns="0" tIns="0" rIns="0" bIns="0" rtlCol="0" anchor="ctr"/>
          <a:lstStyle/>
          <a:p>
            <a:pPr indent="0" marL="0">
              <a:lnSpc>
                <a:spcPct val="110000"/>
              </a:lnSpc>
              <a:buNone/>
            </a:pPr>
            <a:r>
              <a:rPr lang="en-US" sz="1200" b="1" dirty="0">
                <a:solidFill>
                  <a:srgbClr val="000000"/>
                </a:solidFill>
                <a:latin typeface="Cambria" pitchFamily="34" charset="0"/>
                <a:ea typeface="Cambria" pitchFamily="34" charset="-122"/>
                <a:cs typeface="Cambria" pitchFamily="34" charset="-120"/>
              </a:rPr>
              <a:t>Capability</a:t>
            </a:r>
            <a:endParaRPr lang="en-US" sz="1200" dirty="0"/>
          </a:p>
          <a:p>
            <a:pPr indent="0" marL="0">
              <a:lnSpc>
                <a:spcPct val="110000"/>
              </a:lnSpc>
              <a:buNone/>
            </a:pPr>
            <a:r>
              <a:rPr lang="en-US" sz="1200" b="1" dirty="0">
                <a:solidFill>
                  <a:srgbClr val="000000"/>
                </a:solidFill>
                <a:latin typeface="Cambria" pitchFamily="34" charset="0"/>
                <a:ea typeface="Cambria" pitchFamily="34" charset="-122"/>
                <a:cs typeface="Cambria" pitchFamily="34" charset="-120"/>
              </a:rPr>
              <a:t>converges.</a:t>
            </a:r>
            <a:endParaRPr lang="en-US" sz="1200" dirty="0"/>
          </a:p>
          <a:p>
            <a:pPr indent="0" marL="0">
              <a:lnSpc>
                <a:spcPct val="110000"/>
              </a:lnSpc>
              <a:buNone/>
            </a:pPr>
            <a:r>
              <a:rPr lang="en-US" sz="1200" b="1" dirty="0">
                <a:solidFill>
                  <a:srgbClr val="000000"/>
                </a:solidFill>
                <a:latin typeface="Cambria" pitchFamily="34" charset="0"/>
                <a:ea typeface="Cambria" pitchFamily="34" charset="-122"/>
                <a:cs typeface="Cambria" pitchFamily="34" charset="-120"/>
              </a:rPr>
              <a:t>Category</a:t>
            </a:r>
            <a:endParaRPr lang="en-US" sz="1200" dirty="0"/>
          </a:p>
          <a:p>
            <a:pPr indent="0" marL="0">
              <a:lnSpc>
                <a:spcPct val="110000"/>
              </a:lnSpc>
              <a:buNone/>
            </a:pPr>
            <a:r>
              <a:rPr lang="en-US" sz="1200" b="1" dirty="0">
                <a:solidFill>
                  <a:srgbClr val="000000"/>
                </a:solidFill>
                <a:latin typeface="Cambria" pitchFamily="34" charset="0"/>
                <a:ea typeface="Cambria" pitchFamily="34" charset="-122"/>
                <a:cs typeface="Cambria" pitchFamily="34" charset="-120"/>
              </a:rPr>
              <a:t>does not.</a:t>
            </a:r>
            <a:endParaRPr lang="en-US" sz="1200" dirty="0"/>
          </a:p>
        </p:txBody>
      </p:sp>
      <p:sp>
        <p:nvSpPr>
          <p:cNvPr id="37" name="Shape 35"/>
          <p:cNvSpPr/>
          <p:nvPr/>
        </p:nvSpPr>
        <p:spPr>
          <a:xfrm>
            <a:off x="640080" y="4828032"/>
            <a:ext cx="5669280" cy="0"/>
          </a:xfrm>
          <a:prstGeom prst="line">
            <a:avLst/>
          </a:prstGeom>
          <a:noFill/>
          <a:ln w="12700">
            <a:solidFill>
              <a:srgbClr val="000000"/>
            </a:solidFill>
            <a:prstDash val="solid"/>
          </a:ln>
        </p:spPr>
      </p:sp>
      <p:sp>
        <p:nvSpPr>
          <p:cNvPr id="38" name="Text 36"/>
          <p:cNvSpPr txBox="1"/>
          <p:nvPr/>
        </p:nvSpPr>
        <p:spPr>
          <a:xfrm>
            <a:off x="640080" y="4946904"/>
            <a:ext cx="5669280" cy="658368"/>
          </a:xfrm>
          <a:prstGeom prst="rect">
            <a:avLst/>
          </a:prstGeom>
          <a:noFill/>
          <a:ln/>
        </p:spPr>
        <p:txBody>
          <a:bodyPr wrap="square" lIns="0" tIns="0" rIns="0" bIns="0" rtlCol="0" anchor="t"/>
          <a:lstStyle/>
          <a:p>
            <a:pPr indent="0" marL="0">
              <a:lnSpc>
                <a:spcPct val="112000"/>
              </a:lnSpc>
              <a:buNone/>
            </a:pPr>
            <a:r>
              <a:rPr lang="en-US" sz="1250" i="1" dirty="0">
                <a:solidFill>
                  <a:srgbClr val="000000"/>
                </a:solidFill>
                <a:latin typeface="Cambria" pitchFamily="34" charset="0"/>
                <a:ea typeface="Cambria" pitchFamily="34" charset="-122"/>
                <a:cs typeface="Cambria" pitchFamily="34" charset="-120"/>
              </a:rPr>
              <a:t>Cross-pollination from the development of continuous CPAP blowers and masks to treat obstructive sleep apnea led to the increasing use of smaller bilevel pressure support devices.</a:t>
            </a:r>
            <a:endParaRPr lang="en-US" sz="1250" dirty="0"/>
          </a:p>
        </p:txBody>
      </p:sp>
      <p:sp>
        <p:nvSpPr>
          <p:cNvPr id="39" name="Text 37"/>
          <p:cNvSpPr txBox="1"/>
          <p:nvPr/>
        </p:nvSpPr>
        <p:spPr>
          <a:xfrm>
            <a:off x="640080" y="5605272"/>
            <a:ext cx="5669280"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Hind, Polkey &amp; Simonds, AJRCCM 2017</a:t>
            </a:r>
            <a:endParaRPr lang="en-US" sz="1000" dirty="0"/>
          </a:p>
        </p:txBody>
      </p:sp>
      <p:sp>
        <p:nvSpPr>
          <p:cNvPr id="40" name="Shape 38"/>
          <p:cNvSpPr/>
          <p:nvPr/>
        </p:nvSpPr>
        <p:spPr>
          <a:xfrm>
            <a:off x="640080" y="5861304"/>
            <a:ext cx="5669280" cy="0"/>
          </a:xfrm>
          <a:prstGeom prst="line">
            <a:avLst/>
          </a:prstGeom>
          <a:noFill/>
          <a:ln w="9525">
            <a:solidFill>
              <a:srgbClr val="C8C8C8"/>
            </a:solidFill>
            <a:prstDash val="solid"/>
          </a:ln>
        </p:spPr>
      </p:sp>
      <p:sp>
        <p:nvSpPr>
          <p:cNvPr id="41" name="Shape 39"/>
          <p:cNvSpPr/>
          <p:nvPr/>
        </p:nvSpPr>
        <p:spPr>
          <a:xfrm>
            <a:off x="6537960" y="4828032"/>
            <a:ext cx="5010912" cy="0"/>
          </a:xfrm>
          <a:prstGeom prst="line">
            <a:avLst/>
          </a:prstGeom>
          <a:noFill/>
          <a:ln w="12700">
            <a:solidFill>
              <a:srgbClr val="000000"/>
            </a:solidFill>
            <a:prstDash val="solid"/>
          </a:ln>
        </p:spPr>
      </p:sp>
      <p:sp>
        <p:nvSpPr>
          <p:cNvPr id="42" name="Text 40"/>
          <p:cNvSpPr txBox="1"/>
          <p:nvPr/>
        </p:nvSpPr>
        <p:spPr>
          <a:xfrm>
            <a:off x="6537960" y="4946904"/>
            <a:ext cx="5010912" cy="658368"/>
          </a:xfrm>
          <a:prstGeom prst="rect">
            <a:avLst/>
          </a:prstGeom>
          <a:noFill/>
          <a:ln/>
        </p:spPr>
        <p:txBody>
          <a:bodyPr wrap="square" lIns="0" tIns="0" rIns="0" bIns="0" rtlCol="0" anchor="t"/>
          <a:lstStyle/>
          <a:p>
            <a:pPr indent="0" marL="0">
              <a:lnSpc>
                <a:spcPct val="112000"/>
              </a:lnSpc>
              <a:buNone/>
            </a:pPr>
            <a:r>
              <a:rPr lang="en-US" sz="1250" i="1" dirty="0">
                <a:solidFill>
                  <a:srgbClr val="000000"/>
                </a:solidFill>
                <a:latin typeface="Cambria" pitchFamily="34" charset="0"/>
                <a:ea typeface="Cambria" pitchFamily="34" charset="-122"/>
                <a:cs typeface="Cambria" pitchFamily="34" charset="-120"/>
              </a:rPr>
              <a:t>RADs evolved from CPAP machines for treating OSA. Home mechanical ventilators evolved from hospital ventilators and are designed to function as life-support devices.</a:t>
            </a:r>
            <a:endParaRPr lang="en-US" sz="1250" dirty="0"/>
          </a:p>
        </p:txBody>
      </p:sp>
      <p:sp>
        <p:nvSpPr>
          <p:cNvPr id="43" name="Text 41"/>
          <p:cNvSpPr txBox="1"/>
          <p:nvPr/>
        </p:nvSpPr>
        <p:spPr>
          <a:xfrm>
            <a:off x="6537960" y="5605272"/>
            <a:ext cx="5010912"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Gusman &amp; Wolfe, Sleep Med Clin 2025</a:t>
            </a:r>
            <a:endParaRPr lang="en-US" sz="1000" dirty="0"/>
          </a:p>
        </p:txBody>
      </p:sp>
      <p:sp>
        <p:nvSpPr>
          <p:cNvPr id="44" name="Shape 42"/>
          <p:cNvSpPr/>
          <p:nvPr/>
        </p:nvSpPr>
        <p:spPr>
          <a:xfrm>
            <a:off x="6537960" y="5861304"/>
            <a:ext cx="5010912" cy="0"/>
          </a:xfrm>
          <a:prstGeom prst="line">
            <a:avLst/>
          </a:prstGeom>
          <a:noFill/>
          <a:ln w="9525">
            <a:solidFill>
              <a:srgbClr val="C8C8C8"/>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III · LINEAGE TWO — THE BLOWER</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The population explodes — and the category cannot see the difference</a:t>
            </a:r>
            <a:endParaRPr lang="en-US" sz="2700" dirty="0"/>
          </a:p>
        </p:txBody>
      </p:sp>
      <p:sp>
        <p:nvSpPr>
          <p:cNvPr id="5" name="Shape 3"/>
          <p:cNvSpPr/>
          <p:nvPr/>
        </p:nvSpPr>
        <p:spPr>
          <a:xfrm>
            <a:off x="640080" y="1207008"/>
            <a:ext cx="10911535" cy="0"/>
          </a:xfrm>
          <a:prstGeom prst="line">
            <a:avLst/>
          </a:prstGeom>
          <a:noFill/>
          <a:ln w="12700">
            <a:solidFill>
              <a:srgbClr val="000000"/>
            </a:solidFill>
            <a:prstDash val="solid"/>
          </a:ln>
        </p:spPr>
      </p:sp>
      <p:sp>
        <p:nvSpPr>
          <p:cNvPr id="6" name="Text 4"/>
          <p:cNvSpPr txBox="1"/>
          <p:nvPr/>
        </p:nvSpPr>
        <p:spPr>
          <a:xfrm>
            <a:off x="640080" y="1325880"/>
            <a:ext cx="10911535" cy="658368"/>
          </a:xfrm>
          <a:prstGeom prst="rect">
            <a:avLst/>
          </a:prstGeom>
          <a:noFill/>
          <a:ln/>
        </p:spPr>
        <p:txBody>
          <a:bodyPr wrap="square" lIns="0" tIns="0" rIns="0" bIns="0" rtlCol="0" anchor="t"/>
          <a:lstStyle/>
          <a:p>
            <a:pPr indent="0" marL="0">
              <a:lnSpc>
                <a:spcPct val="112000"/>
              </a:lnSpc>
              <a:buNone/>
            </a:pPr>
            <a:r>
              <a:rPr lang="en-US" sz="1400" i="1" dirty="0">
                <a:solidFill>
                  <a:srgbClr val="000000"/>
                </a:solidFill>
                <a:latin typeface="Cambria" pitchFamily="34" charset="0"/>
                <a:ea typeface="Cambria" pitchFamily="34" charset="-122"/>
                <a:cs typeface="Cambria" pitchFamily="34" charset="-120"/>
              </a:rPr>
              <a:t>There is no way to distinguish the number of E0470 patients who need ventilator support from those obstructive sleep apnea patients who were non-adherent to CPAP and were therefore moved to a bi-level device for comfort.</a:t>
            </a:r>
            <a:endParaRPr lang="en-US" sz="1400" dirty="0"/>
          </a:p>
        </p:txBody>
      </p:sp>
      <p:sp>
        <p:nvSpPr>
          <p:cNvPr id="7" name="Text 5"/>
          <p:cNvSpPr txBox="1"/>
          <p:nvPr/>
        </p:nvSpPr>
        <p:spPr>
          <a:xfrm>
            <a:off x="640080" y="1984248"/>
            <a:ext cx="10911535"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King, Respir Care 2012</a:t>
            </a:r>
            <a:endParaRPr lang="en-US" sz="1000" dirty="0"/>
          </a:p>
        </p:txBody>
      </p:sp>
      <p:sp>
        <p:nvSpPr>
          <p:cNvPr id="8" name="Shape 6"/>
          <p:cNvSpPr/>
          <p:nvPr/>
        </p:nvSpPr>
        <p:spPr>
          <a:xfrm>
            <a:off x="640080" y="2240280"/>
            <a:ext cx="10911535" cy="0"/>
          </a:xfrm>
          <a:prstGeom prst="line">
            <a:avLst/>
          </a:prstGeom>
          <a:noFill/>
          <a:ln w="9525">
            <a:solidFill>
              <a:srgbClr val="C8C8C8"/>
            </a:solidFill>
            <a:prstDash val="solid"/>
          </a:ln>
        </p:spPr>
      </p:sp>
      <p:sp>
        <p:nvSpPr>
          <p:cNvPr id="9" name="Text 7"/>
          <p:cNvSpPr txBox="1"/>
          <p:nvPr/>
        </p:nvSpPr>
        <p:spPr>
          <a:xfrm>
            <a:off x="640080" y="2788920"/>
            <a:ext cx="3657600" cy="256032"/>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Medicare claims, 2010</a:t>
            </a:r>
            <a:endParaRPr lang="en-US" sz="1000" dirty="0"/>
          </a:p>
        </p:txBody>
      </p:sp>
      <p:sp>
        <p:nvSpPr>
          <p:cNvPr id="10" name="Text 8"/>
          <p:cNvSpPr txBox="1"/>
          <p:nvPr/>
        </p:nvSpPr>
        <p:spPr>
          <a:xfrm>
            <a:off x="640080" y="3090672"/>
            <a:ext cx="2578608" cy="713232"/>
          </a:xfrm>
          <a:prstGeom prst="rect">
            <a:avLst/>
          </a:prstGeom>
          <a:noFill/>
          <a:ln/>
        </p:spPr>
        <p:txBody>
          <a:bodyPr wrap="square" lIns="0" tIns="0" rIns="0" bIns="0" rtlCol="0" anchor="ctr"/>
          <a:lstStyle/>
          <a:p>
            <a:pPr algn="ctr" indent="0" marL="0">
              <a:buNone/>
            </a:pPr>
            <a:r>
              <a:rPr lang="en-US" sz="3600" b="1" dirty="0">
                <a:solidFill>
                  <a:srgbClr val="000000"/>
                </a:solidFill>
                <a:latin typeface="Cambria" pitchFamily="34" charset="0"/>
                <a:ea typeface="Cambria" pitchFamily="34" charset="-122"/>
                <a:cs typeface="Cambria" pitchFamily="34" charset="-120"/>
              </a:rPr>
              <a:t>36,117</a:t>
            </a:r>
            <a:endParaRPr lang="en-US" sz="3600" dirty="0"/>
          </a:p>
        </p:txBody>
      </p:sp>
      <p:sp>
        <p:nvSpPr>
          <p:cNvPr id="11" name="Text 9"/>
          <p:cNvSpPr txBox="1"/>
          <p:nvPr/>
        </p:nvSpPr>
        <p:spPr>
          <a:xfrm>
            <a:off x="640080" y="3822192"/>
            <a:ext cx="2578608" cy="548640"/>
          </a:xfrm>
          <a:prstGeom prst="rect">
            <a:avLst/>
          </a:prstGeom>
          <a:noFill/>
          <a:ln/>
        </p:spPr>
        <p:txBody>
          <a:bodyPr wrap="square" lIns="0" tIns="0" rIns="0" bIns="0" rtlCol="0" anchor="ctr"/>
          <a:lstStyle/>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E0470</a:t>
            </a:r>
            <a:endParaRPr lang="en-US" sz="1100" dirty="0"/>
          </a:p>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bilevel, no backup rate</a:t>
            </a:r>
            <a:endParaRPr lang="en-US" sz="1100" dirty="0"/>
          </a:p>
        </p:txBody>
      </p:sp>
      <p:sp>
        <p:nvSpPr>
          <p:cNvPr id="12" name="Text 10"/>
          <p:cNvSpPr txBox="1"/>
          <p:nvPr/>
        </p:nvSpPr>
        <p:spPr>
          <a:xfrm>
            <a:off x="3419856" y="3090672"/>
            <a:ext cx="2578608" cy="713232"/>
          </a:xfrm>
          <a:prstGeom prst="rect">
            <a:avLst/>
          </a:prstGeom>
          <a:noFill/>
          <a:ln/>
        </p:spPr>
        <p:txBody>
          <a:bodyPr wrap="square" lIns="0" tIns="0" rIns="0" bIns="0" rtlCol="0" anchor="ctr"/>
          <a:lstStyle/>
          <a:p>
            <a:pPr algn="ctr" indent="0" marL="0">
              <a:buNone/>
            </a:pPr>
            <a:r>
              <a:rPr lang="en-US" sz="3600" b="1" dirty="0">
                <a:solidFill>
                  <a:srgbClr val="000000"/>
                </a:solidFill>
                <a:latin typeface="Cambria" pitchFamily="34" charset="0"/>
                <a:ea typeface="Cambria" pitchFamily="34" charset="-122"/>
                <a:cs typeface="Cambria" pitchFamily="34" charset="-120"/>
              </a:rPr>
              <a:t>7,793</a:t>
            </a:r>
            <a:endParaRPr lang="en-US" sz="3600" dirty="0"/>
          </a:p>
        </p:txBody>
      </p:sp>
      <p:sp>
        <p:nvSpPr>
          <p:cNvPr id="13" name="Text 11"/>
          <p:cNvSpPr txBox="1"/>
          <p:nvPr/>
        </p:nvSpPr>
        <p:spPr>
          <a:xfrm>
            <a:off x="3419856" y="3822192"/>
            <a:ext cx="2578608" cy="548640"/>
          </a:xfrm>
          <a:prstGeom prst="rect">
            <a:avLst/>
          </a:prstGeom>
          <a:noFill/>
          <a:ln/>
        </p:spPr>
        <p:txBody>
          <a:bodyPr wrap="square" lIns="0" tIns="0" rIns="0" bIns="0" rtlCol="0" anchor="ctr"/>
          <a:lstStyle/>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E0471</a:t>
            </a:r>
            <a:endParaRPr lang="en-US" sz="1100" dirty="0"/>
          </a:p>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bilevel with backup rate</a:t>
            </a:r>
            <a:endParaRPr lang="en-US" sz="1100" dirty="0"/>
          </a:p>
        </p:txBody>
      </p:sp>
      <p:sp>
        <p:nvSpPr>
          <p:cNvPr id="14" name="Text 12"/>
          <p:cNvSpPr txBox="1"/>
          <p:nvPr/>
        </p:nvSpPr>
        <p:spPr>
          <a:xfrm>
            <a:off x="6199632" y="3090672"/>
            <a:ext cx="2578608" cy="713232"/>
          </a:xfrm>
          <a:prstGeom prst="rect">
            <a:avLst/>
          </a:prstGeom>
          <a:noFill/>
          <a:ln/>
        </p:spPr>
        <p:txBody>
          <a:bodyPr wrap="square" lIns="0" tIns="0" rIns="0" bIns="0" rtlCol="0" anchor="ctr"/>
          <a:lstStyle/>
          <a:p>
            <a:pPr algn="ctr" indent="0" marL="0">
              <a:buNone/>
            </a:pPr>
            <a:r>
              <a:rPr lang="en-US" sz="3600" b="1" dirty="0">
                <a:solidFill>
                  <a:srgbClr val="000000"/>
                </a:solidFill>
                <a:latin typeface="Cambria" pitchFamily="34" charset="0"/>
                <a:ea typeface="Cambria" pitchFamily="34" charset="-122"/>
                <a:cs typeface="Cambria" pitchFamily="34" charset="-120"/>
              </a:rPr>
              <a:t>4,071</a:t>
            </a:r>
            <a:endParaRPr lang="en-US" sz="3600" dirty="0"/>
          </a:p>
        </p:txBody>
      </p:sp>
      <p:sp>
        <p:nvSpPr>
          <p:cNvPr id="15" name="Text 13"/>
          <p:cNvSpPr txBox="1"/>
          <p:nvPr/>
        </p:nvSpPr>
        <p:spPr>
          <a:xfrm>
            <a:off x="6199632" y="3822192"/>
            <a:ext cx="2578608" cy="548640"/>
          </a:xfrm>
          <a:prstGeom prst="rect">
            <a:avLst/>
          </a:prstGeom>
          <a:noFill/>
          <a:ln/>
        </p:spPr>
        <p:txBody>
          <a:bodyPr wrap="square" lIns="0" tIns="0" rIns="0" bIns="0" rtlCol="0" anchor="ctr"/>
          <a:lstStyle/>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all true home</a:t>
            </a:r>
            <a:endParaRPr lang="en-US" sz="1100" dirty="0"/>
          </a:p>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ventilators</a:t>
            </a:r>
            <a:endParaRPr lang="en-US" sz="1100" dirty="0"/>
          </a:p>
        </p:txBody>
      </p:sp>
      <p:sp>
        <p:nvSpPr>
          <p:cNvPr id="16" name="Text 14"/>
          <p:cNvSpPr txBox="1"/>
          <p:nvPr/>
        </p:nvSpPr>
        <p:spPr>
          <a:xfrm>
            <a:off x="8979408" y="3090672"/>
            <a:ext cx="2578608" cy="713232"/>
          </a:xfrm>
          <a:prstGeom prst="rect">
            <a:avLst/>
          </a:prstGeom>
          <a:noFill/>
          <a:ln/>
        </p:spPr>
        <p:txBody>
          <a:bodyPr wrap="square" lIns="0" tIns="0" rIns="0" bIns="0" rtlCol="0" anchor="ctr"/>
          <a:lstStyle/>
          <a:p>
            <a:pPr algn="ctr" indent="0" marL="0">
              <a:buNone/>
            </a:pPr>
            <a:r>
              <a:rPr lang="en-US" sz="4000" b="1" dirty="0">
                <a:solidFill>
                  <a:srgbClr val="000000"/>
                </a:solidFill>
                <a:latin typeface="Cambria" pitchFamily="34" charset="0"/>
                <a:ea typeface="Cambria" pitchFamily="34" charset="-122"/>
                <a:cs typeface="Cambria" pitchFamily="34" charset="-120"/>
              </a:rPr>
              <a:t>22</a:t>
            </a:r>
            <a:endParaRPr lang="en-US" sz="4000" dirty="0"/>
          </a:p>
        </p:txBody>
      </p:sp>
      <p:sp>
        <p:nvSpPr>
          <p:cNvPr id="17" name="Text 15"/>
          <p:cNvSpPr txBox="1"/>
          <p:nvPr/>
        </p:nvSpPr>
        <p:spPr>
          <a:xfrm>
            <a:off x="8979408" y="3822192"/>
            <a:ext cx="2578608" cy="548640"/>
          </a:xfrm>
          <a:prstGeom prst="rect">
            <a:avLst/>
          </a:prstGeom>
          <a:noFill/>
          <a:ln/>
        </p:spPr>
        <p:txBody>
          <a:bodyPr wrap="square" lIns="0" tIns="0" rIns="0" bIns="0" rtlCol="0" anchor="ctr"/>
          <a:lstStyle/>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E0460 negative pressure</a:t>
            </a:r>
            <a:endParaRPr lang="en-US" sz="1100" dirty="0"/>
          </a:p>
          <a:p>
            <a:pPr algn="ctr" indent="0" marL="0">
              <a:lnSpc>
                <a:spcPct val="110000"/>
              </a:lnSpc>
              <a:buNone/>
            </a:pPr>
            <a:r>
              <a:rPr lang="en-US" sz="1100" dirty="0">
                <a:solidFill>
                  <a:srgbClr val="6E6E6E"/>
                </a:solidFill>
                <a:latin typeface="Calibri" pitchFamily="34" charset="0"/>
                <a:ea typeface="Calibri" pitchFamily="34" charset="-122"/>
                <a:cs typeface="Calibri" pitchFamily="34" charset="-120"/>
              </a:rPr>
              <a:t>(chest cuirass, Porta-Lung)</a:t>
            </a:r>
            <a:endParaRPr lang="en-US" sz="1100" dirty="0"/>
          </a:p>
        </p:txBody>
      </p:sp>
      <p:sp>
        <p:nvSpPr>
          <p:cNvPr id="18" name="Shape 16"/>
          <p:cNvSpPr/>
          <p:nvPr/>
        </p:nvSpPr>
        <p:spPr>
          <a:xfrm>
            <a:off x="640080" y="5138928"/>
            <a:ext cx="10911535" cy="0"/>
          </a:xfrm>
          <a:prstGeom prst="line">
            <a:avLst/>
          </a:prstGeom>
          <a:noFill/>
          <a:ln w="9525">
            <a:solidFill>
              <a:srgbClr val="C8C8C8"/>
            </a:solidFill>
            <a:prstDash val="solid"/>
          </a:ln>
        </p:spPr>
      </p:sp>
      <p:sp>
        <p:nvSpPr>
          <p:cNvPr id="19" name="Text 17"/>
          <p:cNvSpPr txBox="1"/>
          <p:nvPr/>
        </p:nvSpPr>
        <p:spPr>
          <a:xfrm>
            <a:off x="640080" y="5266944"/>
            <a:ext cx="10911535" cy="310896"/>
          </a:xfrm>
          <a:prstGeom prst="rect">
            <a:avLst/>
          </a:prstGeom>
          <a:noFill/>
          <a:ln/>
        </p:spPr>
        <p:txBody>
          <a:bodyPr wrap="square" lIns="0" tIns="0" rIns="0" bIns="0" rtlCol="0" anchor="ctr"/>
          <a:lstStyle/>
          <a:p>
            <a:pPr indent="0" marL="0">
              <a:buNone/>
            </a:pPr>
            <a:r>
              <a:rPr lang="en-US" sz="1400" i="1" dirty="0">
                <a:solidFill>
                  <a:srgbClr val="000000"/>
                </a:solidFill>
                <a:latin typeface="Cambria" pitchFamily="34" charset="0"/>
                <a:ea typeface="Cambria" pitchFamily="34" charset="-122"/>
                <a:cs typeface="Cambria" pitchFamily="34" charset="-120"/>
              </a:rPr>
              <a:t>Twenty-two chest cuirasses still on the fee schedule in 2010. The iron lung never quite left the statute.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IV · THE REGULATORY FORK</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1992–93: a manufacturer's sentence, then an act of Congress</a:t>
            </a:r>
            <a:endParaRPr lang="en-US" sz="2700" dirty="0"/>
          </a:p>
        </p:txBody>
      </p:sp>
      <p:sp>
        <p:nvSpPr>
          <p:cNvPr id="5" name="Text 3"/>
          <p:cNvSpPr txBox="1"/>
          <p:nvPr/>
        </p:nvSpPr>
        <p:spPr>
          <a:xfrm>
            <a:off x="640080" y="1207008"/>
            <a:ext cx="10911535"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January 1, 1992  ·  HCPCS E0452 is created to describe bilevel devices. The manufacturer's own submission is the hinge of the whole story.</a:t>
            </a:r>
            <a:endParaRPr lang="en-US" sz="1000" dirty="0"/>
          </a:p>
        </p:txBody>
      </p:sp>
      <p:sp>
        <p:nvSpPr>
          <p:cNvPr id="6" name="Shape 4"/>
          <p:cNvSpPr/>
          <p:nvPr/>
        </p:nvSpPr>
        <p:spPr>
          <a:xfrm>
            <a:off x="640080" y="1517904"/>
            <a:ext cx="10911535" cy="0"/>
          </a:xfrm>
          <a:prstGeom prst="line">
            <a:avLst/>
          </a:prstGeom>
          <a:noFill/>
          <a:ln w="12700">
            <a:solidFill>
              <a:srgbClr val="000000"/>
            </a:solidFill>
            <a:prstDash val="solid"/>
          </a:ln>
        </p:spPr>
      </p:sp>
      <p:sp>
        <p:nvSpPr>
          <p:cNvPr id="7" name="Text 5"/>
          <p:cNvSpPr txBox="1"/>
          <p:nvPr/>
        </p:nvSpPr>
        <p:spPr>
          <a:xfrm>
            <a:off x="640080" y="1636776"/>
            <a:ext cx="10911535" cy="658368"/>
          </a:xfrm>
          <a:prstGeom prst="rect">
            <a:avLst/>
          </a:prstGeom>
          <a:noFill/>
          <a:ln/>
        </p:spPr>
        <p:txBody>
          <a:bodyPr wrap="square" lIns="0" tIns="0" rIns="0" bIns="0" rtlCol="0" anchor="t"/>
          <a:lstStyle/>
          <a:p>
            <a:pPr indent="0" marL="0">
              <a:lnSpc>
                <a:spcPct val="112000"/>
              </a:lnSpc>
              <a:buNone/>
            </a:pPr>
            <a:r>
              <a:rPr lang="en-US" sz="1350" i="1" dirty="0">
                <a:solidFill>
                  <a:srgbClr val="000000"/>
                </a:solidFill>
                <a:latin typeface="Cambria" pitchFamily="34" charset="0"/>
                <a:ea typeface="Cambria" pitchFamily="34" charset="-122"/>
                <a:cs typeface="Cambria" pitchFamily="34" charset="-120"/>
              </a:rPr>
              <a:t>The word “intermittent” refers to devices that are designed to be used by the patient for only part of the day, usually during the hours of sleep.   …   The bi-level equipment requires very little maintenance and servicing.</a:t>
            </a:r>
            <a:endParaRPr lang="en-US" sz="1350" dirty="0"/>
          </a:p>
        </p:txBody>
      </p:sp>
      <p:sp>
        <p:nvSpPr>
          <p:cNvPr id="8" name="Text 6"/>
          <p:cNvSpPr txBox="1"/>
          <p:nvPr/>
        </p:nvSpPr>
        <p:spPr>
          <a:xfrm>
            <a:off x="640080" y="2295144"/>
            <a:ext cx="10911535"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Manufacturer submission, quoted at 71 FR 4519–4520</a:t>
            </a:r>
            <a:endParaRPr lang="en-US" sz="1000" dirty="0"/>
          </a:p>
        </p:txBody>
      </p:sp>
      <p:sp>
        <p:nvSpPr>
          <p:cNvPr id="9" name="Shape 7"/>
          <p:cNvSpPr/>
          <p:nvPr/>
        </p:nvSpPr>
        <p:spPr>
          <a:xfrm>
            <a:off x="640080" y="2551176"/>
            <a:ext cx="10911535" cy="0"/>
          </a:xfrm>
          <a:prstGeom prst="line">
            <a:avLst/>
          </a:prstGeom>
          <a:noFill/>
          <a:ln w="9525">
            <a:solidFill>
              <a:srgbClr val="C8C8C8"/>
            </a:solidFill>
            <a:prstDash val="solid"/>
          </a:ln>
        </p:spPr>
      </p:sp>
      <p:sp>
        <p:nvSpPr>
          <p:cNvPr id="10" name="Text 8"/>
          <p:cNvSpPr txBox="1"/>
          <p:nvPr/>
        </p:nvSpPr>
        <p:spPr>
          <a:xfrm>
            <a:off x="640080" y="3035808"/>
            <a:ext cx="10911535" cy="274320"/>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1993  ·  OBRA §13543</a:t>
            </a:r>
            <a:endParaRPr lang="en-US" sz="1200" dirty="0"/>
          </a:p>
        </p:txBody>
      </p:sp>
      <p:sp>
        <p:nvSpPr>
          <p:cNvPr id="11" name="Text 9"/>
          <p:cNvSpPr txBox="1"/>
          <p:nvPr/>
        </p:nvSpPr>
        <p:spPr>
          <a:xfrm>
            <a:off x="640080" y="3310128"/>
            <a:ext cx="6903720" cy="914400"/>
          </a:xfrm>
          <a:prstGeom prst="rect">
            <a:avLst/>
          </a:prstGeom>
          <a:noFill/>
          <a:ln/>
        </p:spPr>
        <p:txBody>
          <a:bodyPr wrap="square" lIns="0" tIns="0" rIns="0" bIns="0" rtlCol="0" anchor="t"/>
          <a:lstStyle/>
          <a:p>
            <a:pPr indent="0" marL="0">
              <a:lnSpc>
                <a:spcPct val="115000"/>
              </a:lnSpc>
              <a:buNone/>
            </a:pPr>
            <a:r>
              <a:rPr lang="en-US" sz="1300" dirty="0">
                <a:solidFill>
                  <a:srgbClr val="1A1A1A"/>
                </a:solidFill>
                <a:latin typeface="Calibri" pitchFamily="34" charset="0"/>
                <a:ea typeface="Calibri" pitchFamily="34" charset="-122"/>
                <a:cs typeface="Calibri" pitchFamily="34" charset="-120"/>
              </a:rPr>
              <a:t>Amends SSA §1834(a)(3)(A) to exclude “intermittent assist devices with continuous positive airway pressure devices” — by name — from the frequent-and-substantial-servicing category. Every bilevel device is swept out of the ventilator payment category by an act of Congress.</a:t>
            </a:r>
            <a:endParaRPr lang="en-US" sz="1300" dirty="0"/>
          </a:p>
        </p:txBody>
      </p:sp>
      <p:sp>
        <p:nvSpPr>
          <p:cNvPr id="12" name="Shape 10"/>
          <p:cNvSpPr/>
          <p:nvPr/>
        </p:nvSpPr>
        <p:spPr>
          <a:xfrm>
            <a:off x="7772400" y="3017520"/>
            <a:ext cx="3776472" cy="1572768"/>
          </a:xfrm>
          <a:prstGeom prst="rect">
            <a:avLst/>
          </a:prstGeom>
          <a:solidFill>
            <a:srgbClr val="F2F2F2"/>
          </a:solidFill>
          <a:ln w="12700">
            <a:solidFill>
              <a:srgbClr val="F2F2F2"/>
            </a:solidFill>
            <a:prstDash val="solid"/>
          </a:ln>
        </p:spPr>
      </p:sp>
      <p:sp>
        <p:nvSpPr>
          <p:cNvPr id="13" name="Text 11"/>
          <p:cNvSpPr txBox="1"/>
          <p:nvPr/>
        </p:nvSpPr>
        <p:spPr>
          <a:xfrm>
            <a:off x="7973568" y="3145536"/>
            <a:ext cx="3383280" cy="237744"/>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One device, one patient, five years</a:t>
            </a:r>
            <a:endParaRPr lang="en-US" sz="1000" dirty="0"/>
          </a:p>
        </p:txBody>
      </p:sp>
      <p:sp>
        <p:nvSpPr>
          <p:cNvPr id="14" name="Text 12"/>
          <p:cNvSpPr txBox="1"/>
          <p:nvPr/>
        </p:nvSpPr>
        <p:spPr>
          <a:xfrm>
            <a:off x="7973568" y="3419856"/>
            <a:ext cx="3383280" cy="548640"/>
          </a:xfrm>
          <a:prstGeom prst="rect">
            <a:avLst/>
          </a:prstGeom>
          <a:noFill/>
          <a:ln/>
        </p:spPr>
        <p:txBody>
          <a:bodyPr wrap="square" lIns="0" tIns="0" rIns="0" bIns="0" rtlCol="0" anchor="ctr"/>
          <a:lstStyle/>
          <a:p>
            <a:pPr indent="0" marL="0">
              <a:buNone/>
            </a:pPr>
            <a:r>
              <a:rPr lang="en-US" sz="2100" b="1" dirty="0">
                <a:solidFill>
                  <a:srgbClr val="000000"/>
                </a:solidFill>
                <a:latin typeface="Cambria" pitchFamily="34" charset="0"/>
                <a:ea typeface="Cambria" pitchFamily="34" charset="-122"/>
                <a:cs typeface="Cambria" pitchFamily="34" charset="-120"/>
              </a:rPr>
              <a:t>$38,530</a:t>
            </a:r>
            <a:endParaRPr lang="en-US" sz="2100" dirty="0"/>
          </a:p>
          <a:p>
            <a:pPr indent="0" marL="0">
              <a:buNone/>
            </a:pPr>
            <a:r>
              <a:rPr lang="en-US" sz="1000" dirty="0">
                <a:solidFill>
                  <a:srgbClr val="6E6E6E"/>
                </a:solidFill>
                <a:latin typeface="Cambria" pitchFamily="34" charset="0"/>
                <a:ea typeface="Cambria" pitchFamily="34" charset="-122"/>
                <a:cs typeface="Cambria" pitchFamily="34" charset="-120"/>
              </a:rPr>
              <a:t>under frequent &amp; substantial servicing</a:t>
            </a:r>
            <a:endParaRPr lang="en-US" sz="2100" dirty="0"/>
          </a:p>
        </p:txBody>
      </p:sp>
      <p:sp>
        <p:nvSpPr>
          <p:cNvPr id="15" name="Text 13"/>
          <p:cNvSpPr txBox="1"/>
          <p:nvPr/>
        </p:nvSpPr>
        <p:spPr>
          <a:xfrm>
            <a:off x="7973568" y="3986784"/>
            <a:ext cx="3383280" cy="548640"/>
          </a:xfrm>
          <a:prstGeom prst="rect">
            <a:avLst/>
          </a:prstGeom>
          <a:noFill/>
          <a:ln/>
        </p:spPr>
        <p:txBody>
          <a:bodyPr wrap="square" lIns="0" tIns="0" rIns="0" bIns="0" rtlCol="0" anchor="ctr"/>
          <a:lstStyle/>
          <a:p>
            <a:pPr indent="0" marL="0">
              <a:buNone/>
            </a:pPr>
            <a:r>
              <a:rPr lang="en-US" sz="2100" b="1" dirty="0">
                <a:solidFill>
                  <a:srgbClr val="000000"/>
                </a:solidFill>
                <a:latin typeface="Cambria" pitchFamily="34" charset="0"/>
                <a:ea typeface="Cambria" pitchFamily="34" charset="-122"/>
                <a:cs typeface="Cambria" pitchFamily="34" charset="-120"/>
              </a:rPr>
              <a:t>$12,201</a:t>
            </a:r>
            <a:endParaRPr lang="en-US" sz="2100" dirty="0"/>
          </a:p>
          <a:p>
            <a:pPr indent="0" marL="0">
              <a:buNone/>
            </a:pPr>
            <a:r>
              <a:rPr lang="en-US" sz="1000" dirty="0">
                <a:solidFill>
                  <a:srgbClr val="6E6E6E"/>
                </a:solidFill>
                <a:latin typeface="Cambria" pitchFamily="34" charset="0"/>
                <a:ea typeface="Cambria" pitchFamily="34" charset="-122"/>
                <a:cs typeface="Cambria" pitchFamily="34" charset="-120"/>
              </a:rPr>
              <a:t>under capped rental</a:t>
            </a:r>
            <a:endParaRPr lang="en-US" sz="2100" dirty="0"/>
          </a:p>
        </p:txBody>
      </p:sp>
      <p:sp>
        <p:nvSpPr>
          <p:cNvPr id="16" name="Shape 14"/>
          <p:cNvSpPr/>
          <p:nvPr/>
        </p:nvSpPr>
        <p:spPr>
          <a:xfrm>
            <a:off x="640080" y="4407408"/>
            <a:ext cx="6903720" cy="0"/>
          </a:xfrm>
          <a:prstGeom prst="line">
            <a:avLst/>
          </a:prstGeom>
          <a:noFill/>
          <a:ln w="12700">
            <a:solidFill>
              <a:srgbClr val="000000"/>
            </a:solidFill>
            <a:prstDash val="solid"/>
          </a:ln>
        </p:spPr>
      </p:sp>
      <p:sp>
        <p:nvSpPr>
          <p:cNvPr id="17" name="Text 15"/>
          <p:cNvSpPr txBox="1"/>
          <p:nvPr/>
        </p:nvSpPr>
        <p:spPr>
          <a:xfrm>
            <a:off x="640080" y="4526280"/>
            <a:ext cx="6903720" cy="658368"/>
          </a:xfrm>
          <a:prstGeom prst="rect">
            <a:avLst/>
          </a:prstGeom>
          <a:noFill/>
          <a:ln/>
        </p:spPr>
        <p:txBody>
          <a:bodyPr wrap="square" lIns="0" tIns="0" rIns="0" bIns="0" rtlCol="0" anchor="t"/>
          <a:lstStyle/>
          <a:p>
            <a:pPr indent="0" marL="0">
              <a:lnSpc>
                <a:spcPct val="112000"/>
              </a:lnSpc>
              <a:buNone/>
            </a:pPr>
            <a:r>
              <a:rPr lang="en-US" sz="1250" i="1" dirty="0">
                <a:solidFill>
                  <a:srgbClr val="000000"/>
                </a:solidFill>
                <a:latin typeface="Cambria" pitchFamily="34" charset="0"/>
                <a:ea typeface="Cambria" pitchFamily="34" charset="-122"/>
                <a:cs typeface="Cambria" pitchFamily="34" charset="-120"/>
              </a:rPr>
              <a:t>This difference in costs highlights the fact that the correct classification of these devices for Medicare payment purposes is a significant issue in terms of safeguarding the Medicare Trust Fund.</a:t>
            </a:r>
            <a:endParaRPr lang="en-US" sz="1250" dirty="0"/>
          </a:p>
        </p:txBody>
      </p:sp>
      <p:sp>
        <p:nvSpPr>
          <p:cNvPr id="18" name="Text 16"/>
          <p:cNvSpPr txBox="1"/>
          <p:nvPr/>
        </p:nvSpPr>
        <p:spPr>
          <a:xfrm>
            <a:off x="640080" y="5184648"/>
            <a:ext cx="6903720"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71 FR 4520</a:t>
            </a:r>
            <a:endParaRPr lang="en-US" sz="1000" dirty="0"/>
          </a:p>
        </p:txBody>
      </p:sp>
      <p:sp>
        <p:nvSpPr>
          <p:cNvPr id="19" name="Shape 17"/>
          <p:cNvSpPr/>
          <p:nvPr/>
        </p:nvSpPr>
        <p:spPr>
          <a:xfrm>
            <a:off x="640080" y="5440680"/>
            <a:ext cx="6903720" cy="0"/>
          </a:xfrm>
          <a:prstGeom prst="line">
            <a:avLst/>
          </a:prstGeom>
          <a:noFill/>
          <a:ln w="9525">
            <a:solidFill>
              <a:srgbClr val="C8C8C8"/>
            </a:solidFill>
            <a:prstDash val="solid"/>
          </a:ln>
        </p:spPr>
      </p:sp>
      <p:sp>
        <p:nvSpPr>
          <p:cNvPr id="20" name="Text 18"/>
          <p:cNvSpPr txBox="1"/>
          <p:nvPr/>
        </p:nvSpPr>
        <p:spPr>
          <a:xfrm>
            <a:off x="640080" y="5742432"/>
            <a:ext cx="10911535" cy="310896"/>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The split was fiscal. It was not clinical — and it was not about sleep apnea by name.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IV · THE REGULATORY FORK</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1998: where the volume fear actually shows up</a:t>
            </a:r>
            <a:endParaRPr lang="en-US" sz="2700" dirty="0"/>
          </a:p>
        </p:txBody>
      </p:sp>
      <p:sp>
        <p:nvSpPr>
          <p:cNvPr id="5" name="Shape 3"/>
          <p:cNvSpPr/>
          <p:nvPr/>
        </p:nvSpPr>
        <p:spPr>
          <a:xfrm>
            <a:off x="640080" y="1207008"/>
            <a:ext cx="10911535" cy="0"/>
          </a:xfrm>
          <a:prstGeom prst="line">
            <a:avLst/>
          </a:prstGeom>
          <a:noFill/>
          <a:ln w="12700">
            <a:solidFill>
              <a:srgbClr val="000000"/>
            </a:solidFill>
            <a:prstDash val="solid"/>
          </a:ln>
        </p:spPr>
      </p:sp>
      <p:sp>
        <p:nvSpPr>
          <p:cNvPr id="6" name="Text 4"/>
          <p:cNvSpPr txBox="1"/>
          <p:nvPr/>
        </p:nvSpPr>
        <p:spPr>
          <a:xfrm>
            <a:off x="640080" y="1325880"/>
            <a:ext cx="10911535" cy="822960"/>
          </a:xfrm>
          <a:prstGeom prst="rect">
            <a:avLst/>
          </a:prstGeom>
          <a:noFill/>
          <a:ln/>
        </p:spPr>
        <p:txBody>
          <a:bodyPr wrap="square" lIns="0" tIns="0" rIns="0" bIns="0" rtlCol="0" anchor="t"/>
          <a:lstStyle/>
          <a:p>
            <a:pPr indent="0" marL="0">
              <a:lnSpc>
                <a:spcPct val="112000"/>
              </a:lnSpc>
              <a:buNone/>
            </a:pPr>
            <a:r>
              <a:rPr lang="en-US" sz="1350" i="1" dirty="0">
                <a:solidFill>
                  <a:srgbClr val="000000"/>
                </a:solidFill>
                <a:latin typeface="Cambria" pitchFamily="34" charset="0"/>
                <a:ea typeface="Cambria" pitchFamily="34" charset="-122"/>
                <a:cs typeface="Cambria" pitchFamily="34" charset="-120"/>
              </a:rPr>
              <a:t>These medical directors would become alarmed if outlays suddenly grew exponentially even when new technologies arrived in the marketplace. In response to the meteoric rise in BPAP prescriptions and subsequent charges, the DME MAC medical directors implemented a regional medical review policy…</a:t>
            </a:r>
            <a:endParaRPr lang="en-US" sz="1350" dirty="0"/>
          </a:p>
        </p:txBody>
      </p:sp>
      <p:sp>
        <p:nvSpPr>
          <p:cNvPr id="7" name="Text 5"/>
          <p:cNvSpPr txBox="1"/>
          <p:nvPr/>
        </p:nvSpPr>
        <p:spPr>
          <a:xfrm>
            <a:off x="640080" y="2148840"/>
            <a:ext cx="10911535"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Gay &amp; Owens, ONMAP. Chest 2021</a:t>
            </a:r>
            <a:endParaRPr lang="en-US" sz="1000" dirty="0"/>
          </a:p>
        </p:txBody>
      </p:sp>
      <p:sp>
        <p:nvSpPr>
          <p:cNvPr id="8" name="Shape 6"/>
          <p:cNvSpPr/>
          <p:nvPr/>
        </p:nvSpPr>
        <p:spPr>
          <a:xfrm>
            <a:off x="640080" y="2404872"/>
            <a:ext cx="10911535" cy="0"/>
          </a:xfrm>
          <a:prstGeom prst="line">
            <a:avLst/>
          </a:prstGeom>
          <a:noFill/>
          <a:ln w="9525">
            <a:solidFill>
              <a:srgbClr val="C8C8C8"/>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127248"/>
          <a:ext cx="10911535" cy="914400"/>
        </p:xfrm>
        <a:graphic>
          <a:graphicData uri="http://schemas.openxmlformats.org/drawingml/2006/table">
            <a:tbl>
              <a:tblPr/>
              <a:tblGrid>
                <a:gridCol w="5458968"/>
                <a:gridCol w="5449824"/>
              </a:tblGrid>
              <a:tr h="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(a)  Coverage criteria</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(b)  Payment category</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ACCP/NAMDRC consensus conference, 1998 → published Chest 1999;116:521–534. DMERC medical review policies implemented October 1, 1999.</a:t>
                      </a:r>
                      <a:endParaRPr lang="en-US" sz="1150" dirty="0">
                        <a:latin typeface="Calibri" charset="0"/>
                        <a:ea typeface="Calibri" charset="0"/>
                        <a:cs typeface="Calibri" charset="0"/>
                      </a:endParaRPr>
                    </a:p>
                    <a:p>
                      <a:pPr indent="0" marL="0">
                        <a:buNone/>
                      </a:pPr>
                      <a:endParaRPr lang="en-US" sz="1150" dirty="0">
                        <a:latin typeface="Calibri" charset="0"/>
                        <a:ea typeface="Calibri" charset="0"/>
                        <a:cs typeface="Calibri" charset="0"/>
                      </a:endParaRPr>
                    </a:p>
                    <a:p>
                      <a:pPr indent="0" marL="0">
                        <a:buNone/>
                      </a:pPr>
                      <a:r>
                        <a:rPr lang="en-US" sz="1150" dirty="0">
                          <a:solidFill>
                            <a:srgbClr val="1A1A1A"/>
                          </a:solidFill>
                          <a:latin typeface="Calibri" pitchFamily="34" charset="0"/>
                          <a:ea typeface="Calibri" pitchFamily="34" charset="-122"/>
                          <a:cs typeface="Calibri" pitchFamily="34" charset="-120"/>
                        </a:rPr>
                        <a:t>The policy renamed the category “respiratory assist device, bi-level pressure capability” — coining the term fellows still trip over — and split backup-rate from non-backup-rate codes for the first time.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Deliberately deferred. CMS “delayed our decision regarding the appropriate DME payment category for devices with the backup rate.”</a:t>
                      </a:r>
                      <a:endParaRPr lang="en-US" sz="1150" dirty="0">
                        <a:latin typeface="Calibri" charset="0"/>
                        <a:ea typeface="Calibri" charset="0"/>
                        <a:cs typeface="Calibri" charset="0"/>
                      </a:endParaRPr>
                    </a:p>
                    <a:p>
                      <a:pPr indent="0" marL="0">
                        <a:buNone/>
                      </a:pPr>
                      <a:endParaRPr lang="en-US" sz="1150" dirty="0">
                        <a:latin typeface="Calibri" charset="0"/>
                        <a:ea typeface="Calibri" charset="0"/>
                        <a:cs typeface="Calibri" charset="0"/>
                      </a:endParaRPr>
                    </a:p>
                    <a:p>
                      <a:pPr indent="0" marL="0">
                        <a:buNone/>
                      </a:pPr>
                      <a:r>
                        <a:rPr lang="en-US" sz="1150" dirty="0">
                          <a:solidFill>
                            <a:srgbClr val="1A1A1A"/>
                          </a:solidFill>
                          <a:latin typeface="Calibri" pitchFamily="34" charset="0"/>
                          <a:ea typeface="Calibri" pitchFamily="34" charset="-122"/>
                          <a:cs typeface="Calibri" pitchFamily="34" charset="-120"/>
                        </a:rPr>
                        <a:t>That delay ran another six and a half years, to April 2006.</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10" name="Shape 7"/>
          <p:cNvSpPr/>
          <p:nvPr/>
        </p:nvSpPr>
        <p:spPr>
          <a:xfrm>
            <a:off x="640080" y="5029200"/>
            <a:ext cx="10911535" cy="566928"/>
          </a:xfrm>
          <a:prstGeom prst="rect">
            <a:avLst/>
          </a:prstGeom>
          <a:solidFill>
            <a:srgbClr val="F2F2F2"/>
          </a:solidFill>
          <a:ln w="12700">
            <a:solidFill>
              <a:srgbClr val="F2F2F2"/>
            </a:solidFill>
            <a:prstDash val="solid"/>
          </a:ln>
        </p:spPr>
      </p:sp>
      <p:sp>
        <p:nvSpPr>
          <p:cNvPr id="11" name="Text 8"/>
          <p:cNvSpPr txBox="1"/>
          <p:nvPr/>
        </p:nvSpPr>
        <p:spPr>
          <a:xfrm>
            <a:off x="841248" y="5029200"/>
            <a:ext cx="10509199" cy="566928"/>
          </a:xfrm>
          <a:prstGeom prst="rect">
            <a:avLst/>
          </a:prstGeom>
          <a:noFill/>
          <a:ln/>
        </p:spPr>
        <p:txBody>
          <a:bodyPr wrap="square" lIns="0" tIns="0" rIns="0" bIns="0" rtlCol="0" anchor="ctr"/>
          <a:lstStyle/>
          <a:p>
            <a:pPr indent="0" marL="0">
              <a:buNone/>
            </a:pPr>
            <a:r>
              <a:rPr lang="en-US" sz="1350" b="1" dirty="0">
                <a:solidFill>
                  <a:srgbClr val="000000"/>
                </a:solidFill>
                <a:latin typeface="Calibri" pitchFamily="34" charset="0"/>
                <a:ea typeface="Calibri" pitchFamily="34" charset="-122"/>
                <a:cs typeface="Calibri" pitchFamily="34" charset="-120"/>
              </a:rPr>
              <a:t>This — not 1993, and not 2006 — is the RAD designation's actual birthday.</a:t>
            </a:r>
            <a:endParaRPr lang="en-US" sz="1350" dirty="0"/>
          </a:p>
        </p:txBody>
      </p:sp>
      <p:sp>
        <p:nvSpPr>
          <p:cNvPr id="12" name="Text 9"/>
          <p:cNvSpPr txBox="1"/>
          <p:nvPr/>
        </p:nvSpPr>
        <p:spPr>
          <a:xfrm>
            <a:off x="640080" y="5724144"/>
            <a:ext cx="10911535"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Code chronology:  E0452 / E0453 (1992)  →  K0532 / K0533 / K0534 (Oct 1, 1999)  →  E0470 / E0471 / E0472 (Jan 1, 2004)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IV · THE REGULATORY FORK</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2006: CMS is asked the clinical question and declines to answer it</a:t>
            </a:r>
            <a:endParaRPr lang="en-US" sz="2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11535" cy="914400"/>
        </p:xfrm>
        <a:graphic>
          <a:graphicData uri="http://schemas.openxmlformats.org/drawingml/2006/table">
            <a:tbl>
              <a:tblPr/>
              <a:tblGrid>
                <a:gridCol w="5458968"/>
                <a:gridCol w="5449824"/>
              </a:tblGrid>
              <a:tr h="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Comment</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CMS response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The FDA classifies these as ventilators; their purpose and function require monitoring and servicing to avoid risk to the patient's health. Medicare payment policy is the only place they are called “respiratory assist devices.”</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They “are indeed referred to as ventilators in the statute, but are nonetheless excluded from the FSS category… Therefore, the law requires this change.” FDA classification “does not determine Medicare coverage and payment rules.”</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The rise in ventilator expenditures reflects the benefits of NPPV becoming known after 1995 — not miscoding.</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“The reasons for the growth in expenditures for respiratory assist devices are not relevant to this final rule.”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Text 3"/>
          <p:cNvSpPr txBox="1"/>
          <p:nvPr/>
        </p:nvSpPr>
        <p:spPr>
          <a:xfrm>
            <a:off x="640080" y="3127248"/>
            <a:ext cx="10911535" cy="36576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Backed by OIG OEI-07-99-00440 (June 2001): supplier services “consist primarily of routine maintenance and patient monitoring,” visits fall short of suppliers' own protocols and decline over time. Effective April 1, 2006.</a:t>
            </a:r>
            <a:endParaRPr lang="en-US" sz="10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0080" y="3584448"/>
          <a:ext cx="10911535" cy="914400"/>
        </p:xfrm>
        <a:graphic>
          <a:graphicData uri="http://schemas.openxmlformats.org/drawingml/2006/table">
            <a:tbl>
              <a:tblPr/>
              <a:tblGrid>
                <a:gridCol w="2148840"/>
                <a:gridCol w="4343400"/>
                <a:gridCol w="4416552"/>
              </a:tblGrid>
              <a:tr h="0">
                <a:tc>
                  <a:txBody>
                    <a:bodyPr/>
                    <a:lstStyle/>
                    <a:p>
                      <a:pPr indent="0" marL="0">
                        <a:buNone/>
                      </a:pP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RAD  ·  E0470 / E0471 / E0472</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Home ventilator  ·  E0465–E0468</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Payment category</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Capped rental</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Frequent &amp; substantial servicing</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Duration</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13 months to purchase option (or 15 + semiannual servicing)</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Monthly rental indefinitely while medically necessary. No cap, no title transfer</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Bundling</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Device; supplies separately eligible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All-inclusive — equipment, supplies, maintenance, repairs, replacement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What follows the patient home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“Patients on RADs typically do not receive home follow-up visits from a respiratory therapist”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“Visited frequently for the first few months post-discharge, then at least every 30–90 days”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IV · THE REGULATORY FORK</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The loop closes: rationing the cheap device created the expensive one</a:t>
            </a:r>
            <a:endParaRPr lang="en-US" sz="2700" dirty="0"/>
          </a:p>
        </p:txBody>
      </p:sp>
      <p:sp>
        <p:nvSpPr>
          <p:cNvPr id="5" name="Shape 3"/>
          <p:cNvSpPr/>
          <p:nvPr/>
        </p:nvSpPr>
        <p:spPr>
          <a:xfrm>
            <a:off x="640080" y="1371600"/>
            <a:ext cx="2514600" cy="841248"/>
          </a:xfrm>
          <a:prstGeom prst="rect">
            <a:avLst/>
          </a:prstGeom>
          <a:solidFill>
            <a:srgbClr val="FFFFFF"/>
          </a:solidFill>
          <a:ln w="12700">
            <a:solidFill>
              <a:srgbClr val="000000"/>
            </a:solidFill>
            <a:prstDash val="solid"/>
          </a:ln>
        </p:spPr>
      </p:sp>
      <p:sp>
        <p:nvSpPr>
          <p:cNvPr id="6" name="Text 4"/>
          <p:cNvSpPr txBox="1"/>
          <p:nvPr/>
        </p:nvSpPr>
        <p:spPr>
          <a:xfrm>
            <a:off x="713232" y="1371600"/>
            <a:ext cx="2368296" cy="841248"/>
          </a:xfrm>
          <a:prstGeom prst="rect">
            <a:avLst/>
          </a:prstGeom>
          <a:noFill/>
          <a:ln/>
        </p:spPr>
        <p:txBody>
          <a:bodyPr wrap="square" lIns="0" tIns="0" rIns="0" bIns="0" rtlCol="0" anchor="ctr"/>
          <a:lstStyle/>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1998 RAD criteria</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written restrictively</a:t>
            </a:r>
            <a:endParaRPr lang="en-US" sz="1100" dirty="0"/>
          </a:p>
        </p:txBody>
      </p:sp>
      <p:sp>
        <p:nvSpPr>
          <p:cNvPr id="7" name="Shape 5"/>
          <p:cNvSpPr/>
          <p:nvPr/>
        </p:nvSpPr>
        <p:spPr>
          <a:xfrm>
            <a:off x="3191256" y="1792224"/>
            <a:ext cx="237744" cy="0"/>
          </a:xfrm>
          <a:prstGeom prst="line">
            <a:avLst/>
          </a:prstGeom>
          <a:noFill/>
          <a:ln w="12700">
            <a:solidFill>
              <a:srgbClr val="000000"/>
            </a:solidFill>
            <a:prstDash val="solid"/>
            <a:tailEnd type="triangle"/>
          </a:ln>
        </p:spPr>
      </p:sp>
      <p:sp>
        <p:nvSpPr>
          <p:cNvPr id="8" name="Shape 6"/>
          <p:cNvSpPr/>
          <p:nvPr/>
        </p:nvSpPr>
        <p:spPr>
          <a:xfrm>
            <a:off x="3438144" y="1371600"/>
            <a:ext cx="2514600" cy="841248"/>
          </a:xfrm>
          <a:prstGeom prst="rect">
            <a:avLst/>
          </a:prstGeom>
          <a:solidFill>
            <a:srgbClr val="FFFFFF"/>
          </a:solidFill>
          <a:ln w="12700">
            <a:solidFill>
              <a:srgbClr val="000000"/>
            </a:solidFill>
            <a:prstDash val="solid"/>
          </a:ln>
        </p:spPr>
      </p:sp>
      <p:sp>
        <p:nvSpPr>
          <p:cNvPr id="9" name="Text 7"/>
          <p:cNvSpPr txBox="1"/>
          <p:nvPr/>
        </p:nvSpPr>
        <p:spPr>
          <a:xfrm>
            <a:off x="3511296" y="1371600"/>
            <a:ext cx="2368296" cy="841248"/>
          </a:xfrm>
          <a:prstGeom prst="rect">
            <a:avLst/>
          </a:prstGeom>
          <a:noFill/>
          <a:ln/>
        </p:spPr>
        <p:txBody>
          <a:bodyPr wrap="square" lIns="0" tIns="0" rIns="0" bIns="0" rtlCol="0" anchor="ctr"/>
          <a:lstStyle/>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RAD becomes harder</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to qualify for than</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a ventilator</a:t>
            </a:r>
            <a:endParaRPr lang="en-US" sz="1100" dirty="0"/>
          </a:p>
        </p:txBody>
      </p:sp>
      <p:sp>
        <p:nvSpPr>
          <p:cNvPr id="10" name="Shape 8"/>
          <p:cNvSpPr/>
          <p:nvPr/>
        </p:nvSpPr>
        <p:spPr>
          <a:xfrm>
            <a:off x="5989320" y="1792224"/>
            <a:ext cx="237744" cy="0"/>
          </a:xfrm>
          <a:prstGeom prst="line">
            <a:avLst/>
          </a:prstGeom>
          <a:noFill/>
          <a:ln w="12700">
            <a:solidFill>
              <a:srgbClr val="000000"/>
            </a:solidFill>
            <a:prstDash val="solid"/>
            <a:tailEnd type="triangle"/>
          </a:ln>
        </p:spPr>
      </p:sp>
      <p:sp>
        <p:nvSpPr>
          <p:cNvPr id="11" name="Shape 9"/>
          <p:cNvSpPr/>
          <p:nvPr/>
        </p:nvSpPr>
        <p:spPr>
          <a:xfrm>
            <a:off x="6236208" y="1371600"/>
            <a:ext cx="2514600" cy="841248"/>
          </a:xfrm>
          <a:prstGeom prst="rect">
            <a:avLst/>
          </a:prstGeom>
          <a:solidFill>
            <a:srgbClr val="FFFFFF"/>
          </a:solidFill>
          <a:ln w="12700">
            <a:solidFill>
              <a:srgbClr val="000000"/>
            </a:solidFill>
            <a:prstDash val="solid"/>
          </a:ln>
        </p:spPr>
      </p:sp>
      <p:sp>
        <p:nvSpPr>
          <p:cNvPr id="12" name="Text 10"/>
          <p:cNvSpPr txBox="1"/>
          <p:nvPr/>
        </p:nvSpPr>
        <p:spPr>
          <a:xfrm>
            <a:off x="6309360" y="1371600"/>
            <a:ext cx="2368296" cy="841248"/>
          </a:xfrm>
          <a:prstGeom prst="rect">
            <a:avLst/>
          </a:prstGeom>
          <a:noFill/>
          <a:ln/>
        </p:spPr>
        <p:txBody>
          <a:bodyPr wrap="square" lIns="0" tIns="0" rIns="0" bIns="0" rtlCol="0" anchor="ctr"/>
          <a:lstStyle/>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Post-discharge COPD</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migrates into the</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uncapped category</a:t>
            </a:r>
            <a:endParaRPr lang="en-US" sz="1100" dirty="0"/>
          </a:p>
        </p:txBody>
      </p:sp>
      <p:sp>
        <p:nvSpPr>
          <p:cNvPr id="13" name="Shape 11"/>
          <p:cNvSpPr/>
          <p:nvPr/>
        </p:nvSpPr>
        <p:spPr>
          <a:xfrm>
            <a:off x="8787384" y="1792224"/>
            <a:ext cx="237744" cy="0"/>
          </a:xfrm>
          <a:prstGeom prst="line">
            <a:avLst/>
          </a:prstGeom>
          <a:noFill/>
          <a:ln w="12700">
            <a:solidFill>
              <a:srgbClr val="000000"/>
            </a:solidFill>
            <a:prstDash val="solid"/>
            <a:tailEnd type="triangle"/>
          </a:ln>
        </p:spPr>
      </p:sp>
      <p:sp>
        <p:nvSpPr>
          <p:cNvPr id="14" name="Shape 12"/>
          <p:cNvSpPr/>
          <p:nvPr/>
        </p:nvSpPr>
        <p:spPr>
          <a:xfrm>
            <a:off x="9034272" y="1371600"/>
            <a:ext cx="2514600" cy="841248"/>
          </a:xfrm>
          <a:prstGeom prst="rect">
            <a:avLst/>
          </a:prstGeom>
          <a:solidFill>
            <a:srgbClr val="FFFFFF"/>
          </a:solidFill>
          <a:ln w="12700">
            <a:solidFill>
              <a:srgbClr val="000000"/>
            </a:solidFill>
            <a:prstDash val="solid"/>
          </a:ln>
        </p:spPr>
      </p:sp>
      <p:sp>
        <p:nvSpPr>
          <p:cNvPr id="15" name="Text 13"/>
          <p:cNvSpPr txBox="1"/>
          <p:nvPr/>
        </p:nvSpPr>
        <p:spPr>
          <a:xfrm>
            <a:off x="9107424" y="1371600"/>
            <a:ext cx="2368296" cy="841248"/>
          </a:xfrm>
          <a:prstGeom prst="rect">
            <a:avLst/>
          </a:prstGeom>
          <a:noFill/>
          <a:ln/>
        </p:spPr>
        <p:txBody>
          <a:bodyPr wrap="square" lIns="0" tIns="0" rIns="0" bIns="0" rtlCol="0" anchor="ctr"/>
          <a:lstStyle/>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85× claims growth</a:t>
            </a:r>
            <a:endParaRPr lang="en-US" sz="1100" dirty="0"/>
          </a:p>
          <a:p>
            <a:pPr algn="ctr" indent="0" marL="0">
              <a:lnSpc>
                <a:spcPct val="105000"/>
              </a:lnSpc>
              <a:buNone/>
            </a:pPr>
            <a:r>
              <a:rPr lang="en-US" sz="1100" dirty="0">
                <a:solidFill>
                  <a:srgbClr val="1A1A1A"/>
                </a:solidFill>
                <a:latin typeface="Calibri" pitchFamily="34" charset="0"/>
                <a:ea typeface="Calibri" pitchFamily="34" charset="-122"/>
                <a:cs typeface="Calibri" pitchFamily="34" charset="-120"/>
              </a:rPr>
              <a:t>2009 → 2015</a:t>
            </a:r>
            <a:endParaRPr lang="en-US" sz="1100" dirty="0"/>
          </a:p>
        </p:txBody>
      </p:sp>
      <p:sp>
        <p:nvSpPr>
          <p:cNvPr id="16" name="Shape 14"/>
          <p:cNvSpPr/>
          <p:nvPr/>
        </p:nvSpPr>
        <p:spPr>
          <a:xfrm>
            <a:off x="10291572" y="2267712"/>
            <a:ext cx="0" cy="475488"/>
          </a:xfrm>
          <a:prstGeom prst="line">
            <a:avLst/>
          </a:prstGeom>
          <a:noFill/>
          <a:ln w="12700">
            <a:solidFill>
              <a:srgbClr val="000000"/>
            </a:solidFill>
            <a:prstDash val="solid"/>
          </a:ln>
        </p:spPr>
      </p:sp>
      <p:sp>
        <p:nvSpPr>
          <p:cNvPr id="17" name="Shape 15"/>
          <p:cNvSpPr/>
          <p:nvPr/>
        </p:nvSpPr>
        <p:spPr>
          <a:xfrm>
            <a:off x="1897380" y="2743200"/>
            <a:ext cx="8394192" cy="0"/>
          </a:xfrm>
          <a:prstGeom prst="line">
            <a:avLst/>
          </a:prstGeom>
          <a:noFill/>
          <a:ln w="12700">
            <a:solidFill>
              <a:srgbClr val="000000"/>
            </a:solidFill>
            <a:prstDash val="solid"/>
          </a:ln>
        </p:spPr>
      </p:sp>
      <p:sp>
        <p:nvSpPr>
          <p:cNvPr id="18" name="Shape 16"/>
          <p:cNvSpPr/>
          <p:nvPr/>
        </p:nvSpPr>
        <p:spPr>
          <a:xfrm>
            <a:off x="1897380" y="2267712"/>
            <a:ext cx="0" cy="475488"/>
          </a:xfrm>
          <a:prstGeom prst="line">
            <a:avLst/>
          </a:prstGeom>
          <a:noFill/>
          <a:ln w="12700">
            <a:solidFill>
              <a:srgbClr val="000000"/>
            </a:solidFill>
            <a:prstDash val="solid"/>
            <a:headEnd type="triangle"/>
          </a:ln>
        </p:spPr>
      </p:sp>
      <p:sp>
        <p:nvSpPr>
          <p:cNvPr id="19" name="Text 17"/>
          <p:cNvSpPr txBox="1"/>
          <p:nvPr/>
        </p:nvSpPr>
        <p:spPr>
          <a:xfrm>
            <a:off x="1897380" y="2816352"/>
            <a:ext cx="8394192" cy="274320"/>
          </a:xfrm>
          <a:prstGeom prst="rect">
            <a:avLst/>
          </a:prstGeom>
          <a:noFill/>
          <a:ln/>
        </p:spPr>
        <p:txBody>
          <a:bodyPr wrap="square" lIns="0" tIns="0" rIns="0" bIns="0" rtlCol="0" anchor="ctr"/>
          <a:lstStyle/>
          <a:p>
            <a:pPr algn="ctr" indent="0" marL="0">
              <a:lnSpc>
                <a:spcPct val="110000"/>
              </a:lnSpc>
              <a:buNone/>
            </a:pPr>
            <a:r>
              <a:rPr lang="en-US" sz="1000" i="1" dirty="0">
                <a:solidFill>
                  <a:srgbClr val="6E6E6E"/>
                </a:solidFill>
                <a:latin typeface="Calibri" pitchFamily="34" charset="0"/>
                <a:ea typeface="Calibri" pitchFamily="34" charset="-122"/>
                <a:cs typeface="Calibri" pitchFamily="34" charset="-120"/>
              </a:rPr>
              <a:t>NCD 240.9 (2025) is the answer to a problem the 1998 rationing created</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3703320"/>
          <a:ext cx="5577840" cy="914400"/>
        </p:xfrm>
        <a:graphic>
          <a:graphicData uri="http://schemas.openxmlformats.org/drawingml/2006/table">
            <a:tbl>
              <a:tblPr/>
              <a:tblGrid>
                <a:gridCol w="2011680"/>
                <a:gridCol w="1188720"/>
                <a:gridCol w="1188720"/>
                <a:gridCol w="1188720"/>
              </a:tblGrid>
              <a:tr h="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E0464 / E0466</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2009</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2015</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Growth</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Claims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2,528</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215,379</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Spending</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$3.8 M</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$340 M</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Beneficiaries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415</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32,848</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21" name="Text 18"/>
          <p:cNvSpPr txBox="1"/>
          <p:nvPr/>
        </p:nvSpPr>
        <p:spPr>
          <a:xfrm>
            <a:off x="640080" y="5440680"/>
            <a:ext cx="5577840" cy="45720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OIG OEI-12-15-00370, September 2016.   Ventilator ≈ $1,327–$1,561/month, uncapped.   RAD ≈ $209–$614/month, capped at 13–15 months.</a:t>
            </a:r>
            <a:endParaRPr lang="en-US" sz="1000" dirty="0"/>
          </a:p>
        </p:txBody>
      </p:sp>
      <p:sp>
        <p:nvSpPr>
          <p:cNvPr id="22" name="Shape 19"/>
          <p:cNvSpPr/>
          <p:nvPr/>
        </p:nvSpPr>
        <p:spPr>
          <a:xfrm>
            <a:off x="6537960" y="3703320"/>
            <a:ext cx="5010912" cy="0"/>
          </a:xfrm>
          <a:prstGeom prst="line">
            <a:avLst/>
          </a:prstGeom>
          <a:noFill/>
          <a:ln w="12700">
            <a:solidFill>
              <a:srgbClr val="000000"/>
            </a:solidFill>
            <a:prstDash val="solid"/>
          </a:ln>
        </p:spPr>
      </p:sp>
      <p:sp>
        <p:nvSpPr>
          <p:cNvPr id="23" name="Text 20"/>
          <p:cNvSpPr txBox="1"/>
          <p:nvPr/>
        </p:nvSpPr>
        <p:spPr>
          <a:xfrm>
            <a:off x="6537960" y="3822192"/>
            <a:ext cx="5010912" cy="658368"/>
          </a:xfrm>
          <a:prstGeom prst="rect">
            <a:avLst/>
          </a:prstGeom>
          <a:noFill/>
          <a:ln/>
        </p:spPr>
        <p:txBody>
          <a:bodyPr wrap="square" lIns="0" tIns="0" rIns="0" bIns="0" rtlCol="0" anchor="t"/>
          <a:lstStyle/>
          <a:p>
            <a:pPr indent="0" marL="0">
              <a:lnSpc>
                <a:spcPct val="112000"/>
              </a:lnSpc>
              <a:buNone/>
            </a:pPr>
            <a:r>
              <a:rPr lang="en-US" sz="1250" i="1" dirty="0">
                <a:solidFill>
                  <a:srgbClr val="000000"/>
                </a:solidFill>
                <a:latin typeface="Cambria" pitchFamily="34" charset="0"/>
                <a:ea typeface="Cambria" pitchFamily="34" charset="-122"/>
                <a:cs typeface="Cambria" pitchFamily="34" charset="-120"/>
              </a:rPr>
              <a:t>Since the RAD criteria are paradoxically more restrictive and challenging to fulfill than those for HMV, this has led to a trend toward providers inappropriately prescribing HMV.</a:t>
            </a:r>
            <a:endParaRPr lang="en-US" sz="1250" dirty="0"/>
          </a:p>
        </p:txBody>
      </p:sp>
      <p:sp>
        <p:nvSpPr>
          <p:cNvPr id="24" name="Text 21"/>
          <p:cNvSpPr txBox="1"/>
          <p:nvPr/>
        </p:nvSpPr>
        <p:spPr>
          <a:xfrm>
            <a:off x="6537960" y="4480560"/>
            <a:ext cx="5010912"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Gusman &amp; Wolfe 2025</a:t>
            </a:r>
            <a:endParaRPr lang="en-US" sz="1000" dirty="0"/>
          </a:p>
        </p:txBody>
      </p:sp>
      <p:sp>
        <p:nvSpPr>
          <p:cNvPr id="25" name="Shape 22"/>
          <p:cNvSpPr/>
          <p:nvPr/>
        </p:nvSpPr>
        <p:spPr>
          <a:xfrm>
            <a:off x="6537960" y="4736592"/>
            <a:ext cx="5010912" cy="0"/>
          </a:xfrm>
          <a:prstGeom prst="line">
            <a:avLst/>
          </a:prstGeom>
          <a:noFill/>
          <a:ln w="9525">
            <a:solidFill>
              <a:srgbClr val="C8C8C8"/>
            </a:solidFill>
            <a:prstDash val="solid"/>
          </a:ln>
        </p:spPr>
      </p:sp>
      <p:sp>
        <p:nvSpPr>
          <p:cNvPr id="26" name="Text 23"/>
          <p:cNvSpPr txBox="1"/>
          <p:nvPr/>
        </p:nvSpPr>
        <p:spPr>
          <a:xfrm>
            <a:off x="6537960" y="4828032"/>
            <a:ext cx="5010912"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Two competing risks, not one villain</a:t>
            </a:r>
            <a:endParaRPr lang="en-US" sz="1200" dirty="0"/>
          </a:p>
        </p:txBody>
      </p:sp>
      <p:sp>
        <p:nvSpPr>
          <p:cNvPr id="27" name="Text 24"/>
          <p:cNvSpPr txBox="1"/>
          <p:nvPr/>
        </p:nvSpPr>
        <p:spPr>
          <a:xfrm>
            <a:off x="6537960" y="5102352"/>
            <a:ext cx="5010912" cy="914400"/>
          </a:xfrm>
          <a:prstGeom prst="rect">
            <a:avLst/>
          </a:prstGeom>
          <a:noFill/>
          <a:ln/>
        </p:spPr>
        <p:txBody>
          <a:bodyPr wrap="square" lIns="0" tIns="0" rIns="0" bIns="0" rtlCol="0" anchor="t"/>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Three suppliers accounted for 54% of the 2012–15 national increase. But growth alone does not make every additional prescription inappropriate — ONMAP calls it “not unexpected.” Under-access to appropriate NIV and use of unnecessarily costly equipment are both real.</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 · CONVERGENCE</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EPAP, pressure support, and backup breaths</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Three features. Three different problems.</a:t>
            </a:r>
            <a:endParaRPr lang="en-US" sz="1250" dirty="0"/>
          </a:p>
        </p:txBody>
      </p:sp>
      <p:sp>
        <p:nvSpPr>
          <p:cNvPr id="6" name="Shape 4"/>
          <p:cNvSpPr/>
          <p:nvPr/>
        </p:nvSpPr>
        <p:spPr>
          <a:xfrm>
            <a:off x="640080" y="1847088"/>
            <a:ext cx="0" cy="1755648"/>
          </a:xfrm>
          <a:prstGeom prst="line">
            <a:avLst/>
          </a:prstGeom>
          <a:noFill/>
          <a:ln w="9525">
            <a:solidFill>
              <a:srgbClr val="C8C8C8"/>
            </a:solidFill>
            <a:prstDash val="solid"/>
          </a:ln>
        </p:spPr>
      </p:sp>
      <p:sp>
        <p:nvSpPr>
          <p:cNvPr id="7" name="Shape 5"/>
          <p:cNvSpPr/>
          <p:nvPr/>
        </p:nvSpPr>
        <p:spPr>
          <a:xfrm>
            <a:off x="640080" y="3602736"/>
            <a:ext cx="3401568" cy="0"/>
          </a:xfrm>
          <a:prstGeom prst="line">
            <a:avLst/>
          </a:prstGeom>
          <a:noFill/>
          <a:ln w="9525">
            <a:solidFill>
              <a:srgbClr val="C8C8C8"/>
            </a:solidFill>
            <a:prstDash val="solid"/>
          </a:ln>
        </p:spPr>
      </p:sp>
      <p:sp>
        <p:nvSpPr>
          <p:cNvPr id="8" name="Text 6"/>
          <p:cNvSpPr txBox="1"/>
          <p:nvPr/>
        </p:nvSpPr>
        <p:spPr>
          <a:xfrm>
            <a:off x="640080" y="1481328"/>
            <a:ext cx="3401568"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CPAP</a:t>
            </a:r>
            <a:endParaRPr lang="en-US" sz="1250" dirty="0"/>
          </a:p>
        </p:txBody>
      </p:sp>
      <p:sp>
        <p:nvSpPr>
          <p:cNvPr id="9" name="Text 7"/>
          <p:cNvSpPr txBox="1"/>
          <p:nvPr/>
        </p:nvSpPr>
        <p:spPr>
          <a:xfrm>
            <a:off x="640080" y="3675888"/>
            <a:ext cx="3401568" cy="45720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One pressure, held.</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Expiratory pressure supports airway patency.</a:t>
            </a:r>
            <a:endParaRPr lang="en-US" sz="1000" dirty="0"/>
          </a:p>
        </p:txBody>
      </p:sp>
      <p:sp>
        <p:nvSpPr>
          <p:cNvPr id="10" name="Shape 8"/>
          <p:cNvSpPr/>
          <p:nvPr/>
        </p:nvSpPr>
        <p:spPr>
          <a:xfrm>
            <a:off x="749808" y="3438144"/>
            <a:ext cx="301752" cy="0"/>
          </a:xfrm>
          <a:prstGeom prst="line">
            <a:avLst/>
          </a:prstGeom>
          <a:noFill/>
          <a:ln w="19050">
            <a:solidFill>
              <a:srgbClr val="000000"/>
            </a:solidFill>
            <a:prstDash val="solid"/>
          </a:ln>
        </p:spPr>
      </p:sp>
      <p:sp>
        <p:nvSpPr>
          <p:cNvPr id="11" name="Shape 9"/>
          <p:cNvSpPr/>
          <p:nvPr/>
        </p:nvSpPr>
        <p:spPr>
          <a:xfrm>
            <a:off x="1051560" y="2944368"/>
            <a:ext cx="0" cy="493776"/>
          </a:xfrm>
          <a:prstGeom prst="line">
            <a:avLst/>
          </a:prstGeom>
          <a:noFill/>
          <a:ln w="19050">
            <a:solidFill>
              <a:srgbClr val="000000"/>
            </a:solidFill>
            <a:prstDash val="solid"/>
          </a:ln>
        </p:spPr>
      </p:sp>
      <p:sp>
        <p:nvSpPr>
          <p:cNvPr id="12" name="Shape 10"/>
          <p:cNvSpPr/>
          <p:nvPr/>
        </p:nvSpPr>
        <p:spPr>
          <a:xfrm>
            <a:off x="1051560" y="2944368"/>
            <a:ext cx="2880360" cy="0"/>
          </a:xfrm>
          <a:prstGeom prst="line">
            <a:avLst/>
          </a:prstGeom>
          <a:noFill/>
          <a:ln w="19050">
            <a:solidFill>
              <a:srgbClr val="000000"/>
            </a:solidFill>
            <a:prstDash val="solid"/>
          </a:ln>
        </p:spPr>
      </p:sp>
      <p:sp>
        <p:nvSpPr>
          <p:cNvPr id="13" name="Shape 11"/>
          <p:cNvSpPr/>
          <p:nvPr/>
        </p:nvSpPr>
        <p:spPr>
          <a:xfrm>
            <a:off x="4398264" y="1847088"/>
            <a:ext cx="0" cy="1755648"/>
          </a:xfrm>
          <a:prstGeom prst="line">
            <a:avLst/>
          </a:prstGeom>
          <a:noFill/>
          <a:ln w="9525">
            <a:solidFill>
              <a:srgbClr val="C8C8C8"/>
            </a:solidFill>
            <a:prstDash val="solid"/>
          </a:ln>
        </p:spPr>
      </p:sp>
      <p:sp>
        <p:nvSpPr>
          <p:cNvPr id="14" name="Shape 12"/>
          <p:cNvSpPr/>
          <p:nvPr/>
        </p:nvSpPr>
        <p:spPr>
          <a:xfrm>
            <a:off x="4398264" y="3602736"/>
            <a:ext cx="3401568" cy="0"/>
          </a:xfrm>
          <a:prstGeom prst="line">
            <a:avLst/>
          </a:prstGeom>
          <a:noFill/>
          <a:ln w="9525">
            <a:solidFill>
              <a:srgbClr val="C8C8C8"/>
            </a:solidFill>
            <a:prstDash val="solid"/>
          </a:ln>
        </p:spPr>
      </p:sp>
      <p:sp>
        <p:nvSpPr>
          <p:cNvPr id="15" name="Text 13"/>
          <p:cNvSpPr txBox="1"/>
          <p:nvPr/>
        </p:nvSpPr>
        <p:spPr>
          <a:xfrm>
            <a:off x="4398264" y="1481328"/>
            <a:ext cx="3401568"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Bilevel  S</a:t>
            </a:r>
            <a:endParaRPr lang="en-US" sz="1250" dirty="0"/>
          </a:p>
        </p:txBody>
      </p:sp>
      <p:sp>
        <p:nvSpPr>
          <p:cNvPr id="16" name="Text 14"/>
          <p:cNvSpPr txBox="1"/>
          <p:nvPr/>
        </p:nvSpPr>
        <p:spPr>
          <a:xfrm>
            <a:off x="4398264" y="3675888"/>
            <a:ext cx="3401568" cy="45720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IPAP–EPAP difference supplies inspiratory assistance.</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Every breath is patient-triggered.</a:t>
            </a:r>
            <a:endParaRPr lang="en-US" sz="1000" dirty="0"/>
          </a:p>
        </p:txBody>
      </p:sp>
      <p:sp>
        <p:nvSpPr>
          <p:cNvPr id="17" name="Shape 15"/>
          <p:cNvSpPr/>
          <p:nvPr/>
        </p:nvSpPr>
        <p:spPr>
          <a:xfrm>
            <a:off x="4507992" y="3438144"/>
            <a:ext cx="210312" cy="0"/>
          </a:xfrm>
          <a:prstGeom prst="line">
            <a:avLst/>
          </a:prstGeom>
          <a:noFill/>
          <a:ln w="19050">
            <a:solidFill>
              <a:srgbClr val="000000"/>
            </a:solidFill>
            <a:prstDash val="solid"/>
          </a:ln>
        </p:spPr>
      </p:sp>
      <p:sp>
        <p:nvSpPr>
          <p:cNvPr id="18" name="Shape 16"/>
          <p:cNvSpPr/>
          <p:nvPr/>
        </p:nvSpPr>
        <p:spPr>
          <a:xfrm>
            <a:off x="4718304" y="2944368"/>
            <a:ext cx="0" cy="493776"/>
          </a:xfrm>
          <a:prstGeom prst="line">
            <a:avLst/>
          </a:prstGeom>
          <a:noFill/>
          <a:ln w="19050">
            <a:solidFill>
              <a:srgbClr val="000000"/>
            </a:solidFill>
            <a:prstDash val="solid"/>
          </a:ln>
        </p:spPr>
      </p:sp>
      <p:sp>
        <p:nvSpPr>
          <p:cNvPr id="19" name="Shape 17"/>
          <p:cNvSpPr/>
          <p:nvPr/>
        </p:nvSpPr>
        <p:spPr>
          <a:xfrm>
            <a:off x="4718304" y="2944368"/>
            <a:ext cx="182880" cy="0"/>
          </a:xfrm>
          <a:prstGeom prst="line">
            <a:avLst/>
          </a:prstGeom>
          <a:noFill/>
          <a:ln w="19050">
            <a:solidFill>
              <a:srgbClr val="000000"/>
            </a:solidFill>
            <a:prstDash val="solid"/>
          </a:ln>
        </p:spPr>
      </p:sp>
      <p:sp>
        <p:nvSpPr>
          <p:cNvPr id="20" name="Shape 18"/>
          <p:cNvSpPr/>
          <p:nvPr/>
        </p:nvSpPr>
        <p:spPr>
          <a:xfrm>
            <a:off x="4901184" y="2212848"/>
            <a:ext cx="0" cy="731520"/>
          </a:xfrm>
          <a:prstGeom prst="line">
            <a:avLst/>
          </a:prstGeom>
          <a:noFill/>
          <a:ln w="19050">
            <a:solidFill>
              <a:srgbClr val="000000"/>
            </a:solidFill>
            <a:prstDash val="solid"/>
          </a:ln>
        </p:spPr>
      </p:sp>
      <p:sp>
        <p:nvSpPr>
          <p:cNvPr id="21" name="Shape 19"/>
          <p:cNvSpPr/>
          <p:nvPr/>
        </p:nvSpPr>
        <p:spPr>
          <a:xfrm>
            <a:off x="4901184" y="2212848"/>
            <a:ext cx="384048" cy="0"/>
          </a:xfrm>
          <a:prstGeom prst="line">
            <a:avLst/>
          </a:prstGeom>
          <a:noFill/>
          <a:ln w="19050">
            <a:solidFill>
              <a:srgbClr val="000000"/>
            </a:solidFill>
            <a:prstDash val="solid"/>
          </a:ln>
        </p:spPr>
      </p:sp>
      <p:sp>
        <p:nvSpPr>
          <p:cNvPr id="22" name="Shape 20"/>
          <p:cNvSpPr/>
          <p:nvPr/>
        </p:nvSpPr>
        <p:spPr>
          <a:xfrm>
            <a:off x="5285232" y="2212848"/>
            <a:ext cx="0" cy="731520"/>
          </a:xfrm>
          <a:prstGeom prst="line">
            <a:avLst/>
          </a:prstGeom>
          <a:noFill/>
          <a:ln w="19050">
            <a:solidFill>
              <a:srgbClr val="000000"/>
            </a:solidFill>
            <a:prstDash val="solid"/>
          </a:ln>
        </p:spPr>
      </p:sp>
      <p:sp>
        <p:nvSpPr>
          <p:cNvPr id="23" name="Shape 21"/>
          <p:cNvSpPr/>
          <p:nvPr/>
        </p:nvSpPr>
        <p:spPr>
          <a:xfrm>
            <a:off x="5285232" y="2944368"/>
            <a:ext cx="548640" cy="0"/>
          </a:xfrm>
          <a:prstGeom prst="line">
            <a:avLst/>
          </a:prstGeom>
          <a:noFill/>
          <a:ln w="19050">
            <a:solidFill>
              <a:srgbClr val="000000"/>
            </a:solidFill>
            <a:prstDash val="solid"/>
          </a:ln>
        </p:spPr>
      </p:sp>
      <p:sp>
        <p:nvSpPr>
          <p:cNvPr id="24" name="Shape 22"/>
          <p:cNvSpPr/>
          <p:nvPr/>
        </p:nvSpPr>
        <p:spPr>
          <a:xfrm>
            <a:off x="5833872" y="2212848"/>
            <a:ext cx="0" cy="731520"/>
          </a:xfrm>
          <a:prstGeom prst="line">
            <a:avLst/>
          </a:prstGeom>
          <a:noFill/>
          <a:ln w="19050">
            <a:solidFill>
              <a:srgbClr val="000000"/>
            </a:solidFill>
            <a:prstDash val="solid"/>
          </a:ln>
        </p:spPr>
      </p:sp>
      <p:sp>
        <p:nvSpPr>
          <p:cNvPr id="25" name="Shape 23"/>
          <p:cNvSpPr/>
          <p:nvPr/>
        </p:nvSpPr>
        <p:spPr>
          <a:xfrm>
            <a:off x="5833872" y="2212848"/>
            <a:ext cx="384048" cy="0"/>
          </a:xfrm>
          <a:prstGeom prst="line">
            <a:avLst/>
          </a:prstGeom>
          <a:noFill/>
          <a:ln w="19050">
            <a:solidFill>
              <a:srgbClr val="000000"/>
            </a:solidFill>
            <a:prstDash val="solid"/>
          </a:ln>
        </p:spPr>
      </p:sp>
      <p:sp>
        <p:nvSpPr>
          <p:cNvPr id="26" name="Shape 24"/>
          <p:cNvSpPr/>
          <p:nvPr/>
        </p:nvSpPr>
        <p:spPr>
          <a:xfrm>
            <a:off x="6217920" y="2212848"/>
            <a:ext cx="0" cy="731520"/>
          </a:xfrm>
          <a:prstGeom prst="line">
            <a:avLst/>
          </a:prstGeom>
          <a:noFill/>
          <a:ln w="19050">
            <a:solidFill>
              <a:srgbClr val="000000"/>
            </a:solidFill>
            <a:prstDash val="solid"/>
          </a:ln>
        </p:spPr>
      </p:sp>
      <p:sp>
        <p:nvSpPr>
          <p:cNvPr id="27" name="Shape 25"/>
          <p:cNvSpPr/>
          <p:nvPr/>
        </p:nvSpPr>
        <p:spPr>
          <a:xfrm>
            <a:off x="6217920" y="2944368"/>
            <a:ext cx="548640" cy="0"/>
          </a:xfrm>
          <a:prstGeom prst="line">
            <a:avLst/>
          </a:prstGeom>
          <a:noFill/>
          <a:ln w="19050">
            <a:solidFill>
              <a:srgbClr val="000000"/>
            </a:solidFill>
            <a:prstDash val="solid"/>
          </a:ln>
        </p:spPr>
      </p:sp>
      <p:sp>
        <p:nvSpPr>
          <p:cNvPr id="28" name="Shape 26"/>
          <p:cNvSpPr/>
          <p:nvPr/>
        </p:nvSpPr>
        <p:spPr>
          <a:xfrm>
            <a:off x="6766560" y="2212848"/>
            <a:ext cx="0" cy="731520"/>
          </a:xfrm>
          <a:prstGeom prst="line">
            <a:avLst/>
          </a:prstGeom>
          <a:noFill/>
          <a:ln w="19050">
            <a:solidFill>
              <a:srgbClr val="000000"/>
            </a:solidFill>
            <a:prstDash val="solid"/>
          </a:ln>
        </p:spPr>
      </p:sp>
      <p:sp>
        <p:nvSpPr>
          <p:cNvPr id="29" name="Shape 27"/>
          <p:cNvSpPr/>
          <p:nvPr/>
        </p:nvSpPr>
        <p:spPr>
          <a:xfrm>
            <a:off x="6766560" y="2212848"/>
            <a:ext cx="384048" cy="0"/>
          </a:xfrm>
          <a:prstGeom prst="line">
            <a:avLst/>
          </a:prstGeom>
          <a:noFill/>
          <a:ln w="19050">
            <a:solidFill>
              <a:srgbClr val="000000"/>
            </a:solidFill>
            <a:prstDash val="solid"/>
          </a:ln>
        </p:spPr>
      </p:sp>
      <p:sp>
        <p:nvSpPr>
          <p:cNvPr id="30" name="Shape 28"/>
          <p:cNvSpPr/>
          <p:nvPr/>
        </p:nvSpPr>
        <p:spPr>
          <a:xfrm>
            <a:off x="7150608" y="2212848"/>
            <a:ext cx="0" cy="731520"/>
          </a:xfrm>
          <a:prstGeom prst="line">
            <a:avLst/>
          </a:prstGeom>
          <a:noFill/>
          <a:ln w="19050">
            <a:solidFill>
              <a:srgbClr val="000000"/>
            </a:solidFill>
            <a:prstDash val="solid"/>
          </a:ln>
        </p:spPr>
      </p:sp>
      <p:sp>
        <p:nvSpPr>
          <p:cNvPr id="31" name="Shape 29"/>
          <p:cNvSpPr/>
          <p:nvPr/>
        </p:nvSpPr>
        <p:spPr>
          <a:xfrm>
            <a:off x="7150608" y="2944368"/>
            <a:ext cx="539496" cy="0"/>
          </a:xfrm>
          <a:prstGeom prst="line">
            <a:avLst/>
          </a:prstGeom>
          <a:noFill/>
          <a:ln w="19050">
            <a:solidFill>
              <a:srgbClr val="000000"/>
            </a:solidFill>
            <a:prstDash val="solid"/>
          </a:ln>
        </p:spPr>
      </p:sp>
      <p:sp>
        <p:nvSpPr>
          <p:cNvPr id="32" name="Shape 30"/>
          <p:cNvSpPr/>
          <p:nvPr/>
        </p:nvSpPr>
        <p:spPr>
          <a:xfrm>
            <a:off x="8156448" y="1847088"/>
            <a:ext cx="0" cy="1755648"/>
          </a:xfrm>
          <a:prstGeom prst="line">
            <a:avLst/>
          </a:prstGeom>
          <a:noFill/>
          <a:ln w="9525">
            <a:solidFill>
              <a:srgbClr val="C8C8C8"/>
            </a:solidFill>
            <a:prstDash val="solid"/>
          </a:ln>
        </p:spPr>
      </p:sp>
      <p:sp>
        <p:nvSpPr>
          <p:cNvPr id="33" name="Shape 31"/>
          <p:cNvSpPr/>
          <p:nvPr/>
        </p:nvSpPr>
        <p:spPr>
          <a:xfrm>
            <a:off x="8156448" y="3602736"/>
            <a:ext cx="3401568" cy="0"/>
          </a:xfrm>
          <a:prstGeom prst="line">
            <a:avLst/>
          </a:prstGeom>
          <a:noFill/>
          <a:ln w="9525">
            <a:solidFill>
              <a:srgbClr val="C8C8C8"/>
            </a:solidFill>
            <a:prstDash val="solid"/>
          </a:ln>
        </p:spPr>
      </p:sp>
      <p:sp>
        <p:nvSpPr>
          <p:cNvPr id="34" name="Text 32"/>
          <p:cNvSpPr txBox="1"/>
          <p:nvPr/>
        </p:nvSpPr>
        <p:spPr>
          <a:xfrm>
            <a:off x="8156448" y="1481328"/>
            <a:ext cx="3401568"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Bilevel  S/T</a:t>
            </a:r>
            <a:endParaRPr lang="en-US" sz="1250" dirty="0"/>
          </a:p>
        </p:txBody>
      </p:sp>
      <p:sp>
        <p:nvSpPr>
          <p:cNvPr id="35" name="Text 33"/>
          <p:cNvSpPr txBox="1"/>
          <p:nvPr/>
        </p:nvSpPr>
        <p:spPr>
          <a:xfrm>
            <a:off x="8156448" y="3675888"/>
            <a:ext cx="3401568" cy="45720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Timed breaths address insufficient spontaneous triggering.</a:t>
            </a:r>
            <a:endParaRPr lang="en-US" sz="1000" dirty="0"/>
          </a:p>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The third breath here is machine-triggered.</a:t>
            </a:r>
            <a:endParaRPr lang="en-US" sz="1000" dirty="0"/>
          </a:p>
        </p:txBody>
      </p:sp>
      <p:sp>
        <p:nvSpPr>
          <p:cNvPr id="36" name="Shape 34"/>
          <p:cNvSpPr/>
          <p:nvPr/>
        </p:nvSpPr>
        <p:spPr>
          <a:xfrm>
            <a:off x="8266176" y="3438144"/>
            <a:ext cx="210312" cy="0"/>
          </a:xfrm>
          <a:prstGeom prst="line">
            <a:avLst/>
          </a:prstGeom>
          <a:noFill/>
          <a:ln w="19050">
            <a:solidFill>
              <a:srgbClr val="000000"/>
            </a:solidFill>
            <a:prstDash val="solid"/>
          </a:ln>
        </p:spPr>
      </p:sp>
      <p:sp>
        <p:nvSpPr>
          <p:cNvPr id="37" name="Shape 35"/>
          <p:cNvSpPr/>
          <p:nvPr/>
        </p:nvSpPr>
        <p:spPr>
          <a:xfrm>
            <a:off x="8476488" y="2944368"/>
            <a:ext cx="0" cy="493776"/>
          </a:xfrm>
          <a:prstGeom prst="line">
            <a:avLst/>
          </a:prstGeom>
          <a:noFill/>
          <a:ln w="19050">
            <a:solidFill>
              <a:srgbClr val="000000"/>
            </a:solidFill>
            <a:prstDash val="solid"/>
          </a:ln>
        </p:spPr>
      </p:sp>
      <p:sp>
        <p:nvSpPr>
          <p:cNvPr id="38" name="Shape 36"/>
          <p:cNvSpPr/>
          <p:nvPr/>
        </p:nvSpPr>
        <p:spPr>
          <a:xfrm>
            <a:off x="8476488" y="2944368"/>
            <a:ext cx="182880" cy="0"/>
          </a:xfrm>
          <a:prstGeom prst="line">
            <a:avLst/>
          </a:prstGeom>
          <a:noFill/>
          <a:ln w="19050">
            <a:solidFill>
              <a:srgbClr val="000000"/>
            </a:solidFill>
            <a:prstDash val="solid"/>
          </a:ln>
        </p:spPr>
      </p:sp>
      <p:sp>
        <p:nvSpPr>
          <p:cNvPr id="39" name="Shape 37"/>
          <p:cNvSpPr/>
          <p:nvPr/>
        </p:nvSpPr>
        <p:spPr>
          <a:xfrm>
            <a:off x="8659368" y="2212848"/>
            <a:ext cx="0" cy="731520"/>
          </a:xfrm>
          <a:prstGeom prst="line">
            <a:avLst/>
          </a:prstGeom>
          <a:noFill/>
          <a:ln w="19050">
            <a:solidFill>
              <a:srgbClr val="000000"/>
            </a:solidFill>
            <a:prstDash val="solid"/>
          </a:ln>
        </p:spPr>
      </p:sp>
      <p:sp>
        <p:nvSpPr>
          <p:cNvPr id="40" name="Shape 38"/>
          <p:cNvSpPr/>
          <p:nvPr/>
        </p:nvSpPr>
        <p:spPr>
          <a:xfrm>
            <a:off x="8659368" y="2212848"/>
            <a:ext cx="384048" cy="0"/>
          </a:xfrm>
          <a:prstGeom prst="line">
            <a:avLst/>
          </a:prstGeom>
          <a:noFill/>
          <a:ln w="19050">
            <a:solidFill>
              <a:srgbClr val="000000"/>
            </a:solidFill>
            <a:prstDash val="solid"/>
          </a:ln>
        </p:spPr>
      </p:sp>
      <p:sp>
        <p:nvSpPr>
          <p:cNvPr id="41" name="Shape 39"/>
          <p:cNvSpPr/>
          <p:nvPr/>
        </p:nvSpPr>
        <p:spPr>
          <a:xfrm>
            <a:off x="9043416" y="2212848"/>
            <a:ext cx="0" cy="731520"/>
          </a:xfrm>
          <a:prstGeom prst="line">
            <a:avLst/>
          </a:prstGeom>
          <a:noFill/>
          <a:ln w="19050">
            <a:solidFill>
              <a:srgbClr val="000000"/>
            </a:solidFill>
            <a:prstDash val="solid"/>
          </a:ln>
        </p:spPr>
      </p:sp>
      <p:sp>
        <p:nvSpPr>
          <p:cNvPr id="42" name="Shape 40"/>
          <p:cNvSpPr/>
          <p:nvPr/>
        </p:nvSpPr>
        <p:spPr>
          <a:xfrm>
            <a:off x="9043416" y="2944368"/>
            <a:ext cx="548640" cy="0"/>
          </a:xfrm>
          <a:prstGeom prst="line">
            <a:avLst/>
          </a:prstGeom>
          <a:noFill/>
          <a:ln w="19050">
            <a:solidFill>
              <a:srgbClr val="000000"/>
            </a:solidFill>
            <a:prstDash val="solid"/>
          </a:ln>
        </p:spPr>
      </p:sp>
      <p:sp>
        <p:nvSpPr>
          <p:cNvPr id="43" name="Shape 41"/>
          <p:cNvSpPr/>
          <p:nvPr/>
        </p:nvSpPr>
        <p:spPr>
          <a:xfrm>
            <a:off x="9592056" y="2212848"/>
            <a:ext cx="0" cy="731520"/>
          </a:xfrm>
          <a:prstGeom prst="line">
            <a:avLst/>
          </a:prstGeom>
          <a:noFill/>
          <a:ln w="19050">
            <a:solidFill>
              <a:srgbClr val="000000"/>
            </a:solidFill>
            <a:prstDash val="solid"/>
          </a:ln>
        </p:spPr>
      </p:sp>
      <p:sp>
        <p:nvSpPr>
          <p:cNvPr id="44" name="Shape 42"/>
          <p:cNvSpPr/>
          <p:nvPr/>
        </p:nvSpPr>
        <p:spPr>
          <a:xfrm>
            <a:off x="9592056" y="2212848"/>
            <a:ext cx="384048" cy="0"/>
          </a:xfrm>
          <a:prstGeom prst="line">
            <a:avLst/>
          </a:prstGeom>
          <a:noFill/>
          <a:ln w="19050">
            <a:solidFill>
              <a:srgbClr val="000000"/>
            </a:solidFill>
            <a:prstDash val="solid"/>
          </a:ln>
        </p:spPr>
      </p:sp>
      <p:sp>
        <p:nvSpPr>
          <p:cNvPr id="45" name="Shape 43"/>
          <p:cNvSpPr/>
          <p:nvPr/>
        </p:nvSpPr>
        <p:spPr>
          <a:xfrm>
            <a:off x="9976104" y="2212848"/>
            <a:ext cx="0" cy="731520"/>
          </a:xfrm>
          <a:prstGeom prst="line">
            <a:avLst/>
          </a:prstGeom>
          <a:noFill/>
          <a:ln w="19050">
            <a:solidFill>
              <a:srgbClr val="000000"/>
            </a:solidFill>
            <a:prstDash val="solid"/>
          </a:ln>
        </p:spPr>
      </p:sp>
      <p:sp>
        <p:nvSpPr>
          <p:cNvPr id="46" name="Shape 44"/>
          <p:cNvSpPr/>
          <p:nvPr/>
        </p:nvSpPr>
        <p:spPr>
          <a:xfrm>
            <a:off x="9976104" y="2944368"/>
            <a:ext cx="548640" cy="0"/>
          </a:xfrm>
          <a:prstGeom prst="line">
            <a:avLst/>
          </a:prstGeom>
          <a:noFill/>
          <a:ln w="19050">
            <a:solidFill>
              <a:srgbClr val="000000"/>
            </a:solidFill>
            <a:prstDash val="solid"/>
          </a:ln>
        </p:spPr>
      </p:sp>
      <p:sp>
        <p:nvSpPr>
          <p:cNvPr id="47" name="Shape 45"/>
          <p:cNvSpPr/>
          <p:nvPr/>
        </p:nvSpPr>
        <p:spPr>
          <a:xfrm>
            <a:off x="10524744" y="2212848"/>
            <a:ext cx="0" cy="731520"/>
          </a:xfrm>
          <a:prstGeom prst="line">
            <a:avLst/>
          </a:prstGeom>
          <a:noFill/>
          <a:ln w="19050">
            <a:solidFill>
              <a:srgbClr val="000000"/>
            </a:solidFill>
            <a:prstDash val="solid"/>
          </a:ln>
        </p:spPr>
      </p:sp>
      <p:sp>
        <p:nvSpPr>
          <p:cNvPr id="48" name="Shape 46"/>
          <p:cNvSpPr/>
          <p:nvPr/>
        </p:nvSpPr>
        <p:spPr>
          <a:xfrm>
            <a:off x="10524744" y="2212848"/>
            <a:ext cx="384048" cy="0"/>
          </a:xfrm>
          <a:prstGeom prst="line">
            <a:avLst/>
          </a:prstGeom>
          <a:noFill/>
          <a:ln w="19050">
            <a:solidFill>
              <a:srgbClr val="000000"/>
            </a:solidFill>
            <a:prstDash val="solid"/>
          </a:ln>
        </p:spPr>
      </p:sp>
      <p:sp>
        <p:nvSpPr>
          <p:cNvPr id="49" name="Shape 47"/>
          <p:cNvSpPr/>
          <p:nvPr/>
        </p:nvSpPr>
        <p:spPr>
          <a:xfrm>
            <a:off x="10908792" y="2212848"/>
            <a:ext cx="0" cy="731520"/>
          </a:xfrm>
          <a:prstGeom prst="line">
            <a:avLst/>
          </a:prstGeom>
          <a:noFill/>
          <a:ln w="19050">
            <a:solidFill>
              <a:srgbClr val="000000"/>
            </a:solidFill>
            <a:prstDash val="solid"/>
          </a:ln>
        </p:spPr>
      </p:sp>
      <p:sp>
        <p:nvSpPr>
          <p:cNvPr id="50" name="Shape 48"/>
          <p:cNvSpPr/>
          <p:nvPr/>
        </p:nvSpPr>
        <p:spPr>
          <a:xfrm>
            <a:off x="10908792" y="2944368"/>
            <a:ext cx="539496" cy="0"/>
          </a:xfrm>
          <a:prstGeom prst="line">
            <a:avLst/>
          </a:prstGeom>
          <a:noFill/>
          <a:ln w="19050">
            <a:solidFill>
              <a:srgbClr val="000000"/>
            </a:solidFill>
            <a:prstDash val="solid"/>
          </a:ln>
        </p:spPr>
      </p:sp>
      <p:sp>
        <p:nvSpPr>
          <p:cNvPr id="51" name="Text 49"/>
          <p:cNvSpPr txBox="1"/>
          <p:nvPr/>
        </p:nvSpPr>
        <p:spPr>
          <a:xfrm>
            <a:off x="10341864" y="1901952"/>
            <a:ext cx="457200" cy="237744"/>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T</a:t>
            </a:r>
            <a:endParaRPr lang="en-US" sz="1100" dirty="0"/>
          </a:p>
        </p:txBody>
      </p:sp>
      <p:sp>
        <p:nvSpPr>
          <p:cNvPr id="52" name="Shape 50"/>
          <p:cNvSpPr/>
          <p:nvPr/>
        </p:nvSpPr>
        <p:spPr>
          <a:xfrm>
            <a:off x="10524744" y="2139696"/>
            <a:ext cx="0" cy="91440"/>
          </a:xfrm>
          <a:prstGeom prst="line">
            <a:avLst/>
          </a:prstGeom>
          <a:noFill/>
          <a:ln w="12700">
            <a:solidFill>
              <a:srgbClr val="000000"/>
            </a:solidFill>
            <a:prstDash val="solid"/>
          </a:ln>
        </p:spPr>
      </p:sp>
      <p:sp>
        <p:nvSpPr>
          <p:cNvPr id="53" name="Shape 51"/>
          <p:cNvSpPr/>
          <p:nvPr/>
        </p:nvSpPr>
        <p:spPr>
          <a:xfrm>
            <a:off x="640080" y="4892040"/>
            <a:ext cx="10911535" cy="1024128"/>
          </a:xfrm>
          <a:prstGeom prst="rect">
            <a:avLst/>
          </a:prstGeom>
          <a:solidFill>
            <a:srgbClr val="F2F2F2"/>
          </a:solidFill>
          <a:ln w="12700">
            <a:solidFill>
              <a:srgbClr val="F2F2F2"/>
            </a:solidFill>
            <a:prstDash val="solid"/>
          </a:ln>
        </p:spPr>
      </p:sp>
      <p:sp>
        <p:nvSpPr>
          <p:cNvPr id="54" name="Text 52"/>
          <p:cNvSpPr txBox="1"/>
          <p:nvPr/>
        </p:nvSpPr>
        <p:spPr>
          <a:xfrm>
            <a:off x="841248" y="4892040"/>
            <a:ext cx="10509199" cy="1024128"/>
          </a:xfrm>
          <a:prstGeom prst="rect">
            <a:avLst/>
          </a:prstGeom>
          <a:noFill/>
          <a:ln/>
        </p:spPr>
        <p:txBody>
          <a:bodyPr wrap="square" lIns="0" tIns="0" rIns="0" bIns="0" rtlCol="0" anchor="ctr"/>
          <a:lstStyle/>
          <a:p>
            <a:pPr indent="0" marL="0">
              <a:lnSpc>
                <a:spcPct val="115000"/>
              </a:lnSpc>
              <a:buNone/>
            </a:pPr>
            <a:r>
              <a:rPr lang="en-US" sz="1300" b="1" dirty="0">
                <a:solidFill>
                  <a:srgbClr val="000000"/>
                </a:solidFill>
                <a:latin typeface="Calibri" pitchFamily="34" charset="0"/>
                <a:ea typeface="Calibri" pitchFamily="34" charset="-122"/>
                <a:cs typeface="Calibri" pitchFamily="34" charset="-120"/>
              </a:rPr>
              <a:t>Vocabulary, and nothing more than this today.   </a:t>
            </a:r>
            <a:pPr indent="0" marL="0">
              <a:lnSpc>
                <a:spcPct val="115000"/>
              </a:lnSpc>
              <a:buNone/>
            </a:pPr>
            <a:r>
              <a:rPr lang="en-US" sz="1300" dirty="0">
                <a:solidFill>
                  <a:srgbClr val="000000"/>
                </a:solidFill>
                <a:latin typeface="Calibri" pitchFamily="34" charset="0"/>
                <a:ea typeface="Calibri" pitchFamily="34" charset="-122"/>
                <a:cs typeface="Calibri" pitchFamily="34" charset="-120"/>
              </a:rPr>
              <a:t>VAPS (AVAPS, iVAPS) and ASV are control strategies. They are not synonyms for HMV, and they are not synonyms for each other. Rise time, cycling, and manufacturer algorithms are a separate lecture.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 · CONVERGENCE</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Similar waveforms do not imply equivalent systems</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11535" cy="914400"/>
        </p:xfrm>
        <a:graphic>
          <a:graphicData uri="http://schemas.openxmlformats.org/drawingml/2006/table">
            <a:tbl>
              <a:tblPr/>
              <a:tblGrid>
                <a:gridCol w="3749040"/>
                <a:gridCol w="5605272"/>
                <a:gridCol w="1554480"/>
              </a:tblGrid>
              <a:tr h="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Principal distinction</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Code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CPAP / APAP</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Single-level positive pressure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E0601</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Bilevel RAD, no backup rate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Separate IPAP and EPAP, no timed breaths</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E0470</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Bilevel RAD with backup rate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Timed support; further algorithms are model-dependent</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E0471</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Home ventilator, noninvasive interface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Ventilator-class system via mask or mouthpiece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E0466</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Home ventilator, invasive interface</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Ventilator-class system via tracheostomy</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E0465</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Multi-function / dual-function ventilator</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Adds O₂ concentration, nebulization, suction, cough assist</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E0467 / E0468</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Shape 3"/>
          <p:cNvSpPr/>
          <p:nvPr/>
        </p:nvSpPr>
        <p:spPr>
          <a:xfrm>
            <a:off x="640080" y="4224528"/>
            <a:ext cx="10911535" cy="0"/>
          </a:xfrm>
          <a:prstGeom prst="line">
            <a:avLst/>
          </a:prstGeom>
          <a:noFill/>
          <a:ln w="9525">
            <a:solidFill>
              <a:srgbClr val="C8C8C8"/>
            </a:solidFill>
            <a:prstDash val="solid"/>
          </a:ln>
        </p:spPr>
      </p:sp>
      <p:sp>
        <p:nvSpPr>
          <p:cNvPr id="7" name="Text 4"/>
          <p:cNvSpPr txBox="1"/>
          <p:nvPr/>
        </p:nvSpPr>
        <p:spPr>
          <a:xfrm>
            <a:off x="640080" y="4352544"/>
            <a:ext cx="10911535" cy="274320"/>
          </a:xfrm>
          <a:prstGeom prst="rect">
            <a:avLst/>
          </a:prstGeom>
          <a:noFill/>
          <a:ln/>
        </p:spPr>
        <p:txBody>
          <a:bodyPr wrap="square" lIns="0" tIns="0" rIns="0" bIns="0" rtlCol="0" anchor="ctr"/>
          <a:lstStyle/>
          <a:p>
            <a:pPr indent="0" marL="0">
              <a:buNone/>
            </a:pPr>
            <a:r>
              <a:rPr lang="en-US" sz="1250" b="1" dirty="0">
                <a:solidFill>
                  <a:srgbClr val="000000"/>
                </a:solidFill>
                <a:latin typeface="Calibri" pitchFamily="34" charset="0"/>
                <a:ea typeface="Calibri" pitchFamily="34" charset="-122"/>
                <a:cs typeface="Calibri" pitchFamily="34" charset="-120"/>
              </a:rPr>
              <a:t>The FDA taxonomy is orthogonal to the CMS taxonomy — and worth thirty seconds</a:t>
            </a:r>
            <a:endParaRPr lang="en-US" sz="1250" dirty="0"/>
          </a:p>
        </p:txBody>
      </p:sp>
      <p:sp>
        <p:nvSpPr>
          <p:cNvPr id="8" name="Text 5"/>
          <p:cNvSpPr txBox="1"/>
          <p:nvPr/>
        </p:nvSpPr>
        <p:spPr>
          <a:xfrm>
            <a:off x="640080" y="4645152"/>
            <a:ext cx="10911535" cy="1005840"/>
          </a:xfrm>
          <a:prstGeom prst="rect">
            <a:avLst/>
          </a:prstGeom>
          <a:noFill/>
          <a:ln/>
        </p:spPr>
        <p:txBody>
          <a:bodyPr wrap="square" lIns="0" tIns="0" rIns="0" bIns="0" rtlCol="0" anchor="t"/>
          <a:lstStyle/>
          <a:p>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FDA sorts by intended use and exhaust type — exhalation valve versus passive port. </a:t>
            </a:r>
            <a:endParaRPr lang="en-US" sz="1200" dirty="0"/>
          </a:p>
          <a:p>
            <a:pPr indent="0" marL="0">
              <a:lnSpc>
                <a:spcPct val="115000"/>
              </a:lnSpc>
              <a:buNone/>
            </a:pPr>
            <a:r>
              <a:rPr lang="en-US" sz="1200" b="1" dirty="0">
                <a:solidFill>
                  <a:srgbClr val="1A1A1A"/>
                </a:solidFill>
                <a:latin typeface="Calibri" pitchFamily="34" charset="0"/>
                <a:ea typeface="Calibri" pitchFamily="34" charset="-122"/>
                <a:cs typeface="Calibri" pitchFamily="34" charset="-120"/>
              </a:rPr>
              <a:t>NOU </a:t>
            </a:r>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devices “must be locatable in the event of a recall.”   </a:t>
            </a:r>
            <a:pPr indent="0" marL="0">
              <a:lnSpc>
                <a:spcPct val="115000"/>
              </a:lnSpc>
              <a:buNone/>
            </a:pPr>
            <a:r>
              <a:rPr lang="en-US" sz="1200" b="1" dirty="0">
                <a:solidFill>
                  <a:srgbClr val="1A1A1A"/>
                </a:solidFill>
                <a:latin typeface="Calibri" pitchFamily="34" charset="0"/>
                <a:ea typeface="Calibri" pitchFamily="34" charset="-122"/>
                <a:cs typeface="Calibri" pitchFamily="34" charset="-120"/>
              </a:rPr>
              <a:t>BZD </a:t>
            </a:r>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is “indicated only for the treatment of adult obstructive sleep apnea.”   </a:t>
            </a:r>
            <a:endParaRPr lang="en-US" sz="1200" dirty="0"/>
          </a:p>
          <a:p>
            <a:pPr indent="0" marL="0">
              <a:lnSpc>
                <a:spcPct val="115000"/>
              </a:lnSpc>
              <a:buNone/>
            </a:pPr>
            <a:r>
              <a:rPr lang="en-US" sz="1200" b="1" dirty="0">
                <a:solidFill>
                  <a:srgbClr val="1A1A1A"/>
                </a:solidFill>
                <a:latin typeface="Calibri" pitchFamily="34" charset="0"/>
                <a:ea typeface="Calibri" pitchFamily="34" charset="-122"/>
                <a:cs typeface="Calibri" pitchFamily="34" charset="-120"/>
              </a:rPr>
              <a:t>MNS </a:t>
            </a:r>
            <a:pPr indent="0" marL="0">
              <a:lnSpc>
                <a:spcPct val="115000"/>
              </a:lnSpc>
              <a:buNone/>
            </a:pPr>
            <a:r>
              <a:rPr lang="en-US" sz="1200" dirty="0">
                <a:solidFill>
                  <a:srgbClr val="1A1A1A"/>
                </a:solidFill>
                <a:latin typeface="Calibri" pitchFamily="34" charset="0"/>
                <a:ea typeface="Calibri" pitchFamily="34" charset="-122"/>
                <a:cs typeface="Calibri" pitchFamily="34" charset="-120"/>
              </a:rPr>
              <a:t>devices assume patients “should be expected to have no more than minor and transient adverse effects if ventilation/CPAP cannot be provided during extensive periods of time (eg, overnight).”</a:t>
            </a:r>
            <a:endParaRPr lang="en-US" sz="1200" dirty="0"/>
          </a:p>
        </p:txBody>
      </p:sp>
      <p:sp>
        <p:nvSpPr>
          <p:cNvPr id="9" name="Text 6"/>
          <p:cNvSpPr txBox="1"/>
          <p:nvPr/>
        </p:nvSpPr>
        <p:spPr>
          <a:xfrm>
            <a:off x="640080" y="5705856"/>
            <a:ext cx="10911535" cy="310896"/>
          </a:xfrm>
          <a:prstGeom prst="rect">
            <a:avLst/>
          </a:prstGeom>
          <a:noFill/>
          <a:ln/>
        </p:spPr>
        <p:txBody>
          <a:bodyPr wrap="square" lIns="0" tIns="0" rIns="0" bIns="0" rtlCol="0" anchor="ctr"/>
          <a:lstStyle/>
          <a:p>
            <a:pPr indent="0" marL="0">
              <a:buNone/>
            </a:pPr>
            <a:r>
              <a:rPr lang="en-US" sz="1300" i="1" dirty="0">
                <a:solidFill>
                  <a:srgbClr val="000000"/>
                </a:solidFill>
                <a:latin typeface="Cambria" pitchFamily="34" charset="0"/>
                <a:ea typeface="Cambria" pitchFamily="34" charset="-122"/>
                <a:cs typeface="Cambria" pitchFamily="34" charset="-120"/>
              </a:rPr>
              <a:t>That last sentence is the real category boundary — and the FDA drew it around consequence of interruption, which is what you actually care about.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 · CONVERGENCE</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Convergence is not equivalence</a:t>
            </a:r>
            <a:endParaRPr lang="en-US" sz="2700" dirty="0"/>
          </a:p>
        </p:txBody>
      </p:sp>
      <p:sp>
        <p:nvSpPr>
          <p:cNvPr id="5" name="Shape 3"/>
          <p:cNvSpPr/>
          <p:nvPr/>
        </p:nvSpPr>
        <p:spPr>
          <a:xfrm>
            <a:off x="640080" y="1207008"/>
            <a:ext cx="10911535" cy="0"/>
          </a:xfrm>
          <a:prstGeom prst="line">
            <a:avLst/>
          </a:prstGeom>
          <a:noFill/>
          <a:ln w="12700">
            <a:solidFill>
              <a:srgbClr val="000000"/>
            </a:solidFill>
            <a:prstDash val="solid"/>
          </a:ln>
        </p:spPr>
      </p:sp>
      <p:sp>
        <p:nvSpPr>
          <p:cNvPr id="6" name="Text 4"/>
          <p:cNvSpPr txBox="1"/>
          <p:nvPr/>
        </p:nvSpPr>
        <p:spPr>
          <a:xfrm>
            <a:off x="640080" y="1325880"/>
            <a:ext cx="10911535" cy="694944"/>
          </a:xfrm>
          <a:prstGeom prst="rect">
            <a:avLst/>
          </a:prstGeom>
          <a:noFill/>
          <a:ln/>
        </p:spPr>
        <p:txBody>
          <a:bodyPr wrap="square" lIns="0" tIns="0" rIns="0" bIns="0" rtlCol="0" anchor="t"/>
          <a:lstStyle/>
          <a:p>
            <a:pPr indent="0" marL="0">
              <a:lnSpc>
                <a:spcPct val="112000"/>
              </a:lnSpc>
              <a:buNone/>
            </a:pPr>
            <a:r>
              <a:rPr lang="en-US" sz="1350" i="1" dirty="0">
                <a:solidFill>
                  <a:srgbClr val="000000"/>
                </a:solidFill>
                <a:latin typeface="Cambria" pitchFamily="34" charset="0"/>
                <a:ea typeface="Cambria" pitchFamily="34" charset="-122"/>
                <a:cs typeface="Cambria" pitchFamily="34" charset="-120"/>
              </a:rPr>
              <a:t>The current terminology of noninvasive ventilator modes is based on manufacturer whims, like the brand names of drugs. … Instead of a device-based approach, we should adopt a therapeutic approach based on clinically effective ventilator modes.</a:t>
            </a:r>
            <a:endParaRPr lang="en-US" sz="1350" dirty="0"/>
          </a:p>
        </p:txBody>
      </p:sp>
      <p:sp>
        <p:nvSpPr>
          <p:cNvPr id="7" name="Text 5"/>
          <p:cNvSpPr txBox="1"/>
          <p:nvPr/>
        </p:nvSpPr>
        <p:spPr>
          <a:xfrm>
            <a:off x="640080" y="2020824"/>
            <a:ext cx="10911535" cy="219456"/>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Hatipoğlu, Lewarski &amp; Chatburn, Respir Care 2024</a:t>
            </a:r>
            <a:endParaRPr lang="en-US" sz="1000" dirty="0"/>
          </a:p>
        </p:txBody>
      </p:sp>
      <p:sp>
        <p:nvSpPr>
          <p:cNvPr id="8" name="Shape 6"/>
          <p:cNvSpPr/>
          <p:nvPr/>
        </p:nvSpPr>
        <p:spPr>
          <a:xfrm>
            <a:off x="640080" y="2276856"/>
            <a:ext cx="10911535" cy="0"/>
          </a:xfrm>
          <a:prstGeom prst="line">
            <a:avLst/>
          </a:prstGeom>
          <a:noFill/>
          <a:ln w="9525">
            <a:solidFill>
              <a:srgbClr val="C8C8C8"/>
            </a:solidFill>
            <a:prstDash val="solid"/>
          </a:ln>
        </p:spPr>
      </p:sp>
      <p:sp>
        <p:nvSpPr>
          <p:cNvPr id="9" name="Text 7"/>
          <p:cNvSpPr txBox="1"/>
          <p:nvPr/>
        </p:nvSpPr>
        <p:spPr>
          <a:xfrm>
            <a:off x="640080" y="2788920"/>
            <a:ext cx="5394960"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Applying the taxonomy</a:t>
            </a:r>
            <a:endParaRPr lang="en-US" sz="1200" dirty="0"/>
          </a:p>
        </p:txBody>
      </p:sp>
      <p:sp>
        <p:nvSpPr>
          <p:cNvPr id="10" name="Text 8"/>
          <p:cNvSpPr txBox="1"/>
          <p:nvPr/>
        </p:nvSpPr>
        <p:spPr>
          <a:xfrm>
            <a:off x="685800" y="3063240"/>
            <a:ext cx="5349240" cy="201168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Bilevel S/T = PC-IMV(2)s,s — and that mode exists on RADs with backup rate and on home ventilators alike. The mode you need for guideline-concordant high-intensity COPD ventilation sits on both sides of the reimbursement line</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CPAP and “Spontaneous” mode carry an identical tag: PC-CSVs</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ASV and iVAPS carry an identical tag: PC-IMV(2)a,a — despite being marketed as unrelated therapies</a:t>
            </a:r>
            <a:endParaRPr lang="en-US" sz="1150" dirty="0"/>
          </a:p>
        </p:txBody>
      </p:sp>
      <p:sp>
        <p:nvSpPr>
          <p:cNvPr id="11" name="Text 9"/>
          <p:cNvSpPr txBox="1"/>
          <p:nvPr/>
        </p:nvSpPr>
        <p:spPr>
          <a:xfrm>
            <a:off x="6263640" y="2788920"/>
            <a:ext cx="5285232"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But four differences remain real</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63640" y="3063240"/>
          <a:ext cx="5285232" cy="914400"/>
        </p:xfrm>
        <a:graphic>
          <a:graphicData uri="http://schemas.openxmlformats.org/drawingml/2006/table">
            <a:tbl>
              <a:tblPr/>
              <a:tblGrid>
                <a:gridCol w="1920240"/>
                <a:gridCol w="1682496"/>
                <a:gridCol w="1682496"/>
              </a:tblGrid>
              <a:tr h="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Capability</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RAD</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HMV</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Internal battery</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internal + external</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Alarms</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Limited</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Sophisticated</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Mouthpiece ventilation</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00" b="1" dirty="0">
                          <a:solidFill>
                            <a:srgbClr val="1A1A1A"/>
                          </a:solidFill>
                          <a:latin typeface="Calibri" pitchFamily="34" charset="0"/>
                          <a:ea typeface="Calibri" pitchFamily="34" charset="-122"/>
                          <a:cs typeface="Calibri" pitchFamily="34" charset="-120"/>
                        </a:rPr>
                        <a:t>Invasive interface</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(E0472 excepted)</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Pressure ceiling</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~25–30 cm H₂O, model-dependent</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Higher</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Modes</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 S/T, some PC and VAPS</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Multimodal; VAPS with auto-EPAP</a:t>
                      </a:r>
                      <a:endParaRPr lang="en-US" sz="1000" dirty="0">
                        <a:latin typeface="Calibri" charset="0"/>
                        <a:ea typeface="Calibri" charset="0"/>
                        <a:cs typeface="Calibri" charset="0"/>
                      </a:endParaRPr>
                    </a:p>
                  </a:txBody>
                  <a:tcPr marL="0" marR="63500" marT="50800" marB="508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13" name="Shape 10"/>
          <p:cNvSpPr/>
          <p:nvPr/>
        </p:nvSpPr>
        <p:spPr>
          <a:xfrm>
            <a:off x="640080" y="5138928"/>
            <a:ext cx="5349240" cy="713232"/>
          </a:xfrm>
          <a:prstGeom prst="rect">
            <a:avLst/>
          </a:prstGeom>
          <a:solidFill>
            <a:srgbClr val="F2F2F2"/>
          </a:solidFill>
          <a:ln w="12700">
            <a:solidFill>
              <a:srgbClr val="F2F2F2"/>
            </a:solidFill>
            <a:prstDash val="solid"/>
          </a:ln>
        </p:spPr>
      </p:sp>
      <p:sp>
        <p:nvSpPr>
          <p:cNvPr id="14" name="Text 11"/>
          <p:cNvSpPr txBox="1"/>
          <p:nvPr/>
        </p:nvSpPr>
        <p:spPr>
          <a:xfrm>
            <a:off x="822960" y="5138928"/>
            <a:ext cx="4983480" cy="713232"/>
          </a:xfrm>
          <a:prstGeom prst="rect">
            <a:avLst/>
          </a:prstGeom>
          <a:noFill/>
          <a:ln/>
        </p:spPr>
        <p:txBody>
          <a:bodyPr wrap="square" lIns="0" tIns="0" rIns="0" bIns="0" rtlCol="0" anchor="ctr"/>
          <a:lstStyle/>
          <a:p>
            <a:pPr indent="0" marL="0">
              <a:lnSpc>
                <a:spcPct val="110000"/>
              </a:lnSpc>
              <a:buNone/>
            </a:pPr>
            <a:r>
              <a:rPr lang="en-US" sz="1300" b="1" i="1" dirty="0">
                <a:solidFill>
                  <a:srgbClr val="000000"/>
                </a:solidFill>
                <a:latin typeface="Cambria" pitchFamily="34" charset="0"/>
                <a:ea typeface="Cambria" pitchFamily="34" charset="-122"/>
                <a:cs typeface="Cambria" pitchFamily="34" charset="-120"/>
              </a:rPr>
              <a:t>What can this patient not safely or effectively do with the simpler system?</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Coverage follows a diagnosis-specific pathway, not an escalation ladder</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Medicare policy checked September 2026</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444752"/>
          <a:ext cx="10911535" cy="914400"/>
        </p:xfrm>
        <a:graphic>
          <a:graphicData uri="http://schemas.openxmlformats.org/drawingml/2006/table">
            <a:tbl>
              <a:tblPr/>
              <a:tblGrid>
                <a:gridCol w="5669280"/>
                <a:gridCol w="5239512"/>
              </a:tblGrid>
              <a:tr h="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Clinical indication</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Policy to open</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OSA — CPAP or qualifying bilevel</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LCD L33718 (rev. 01/01/2024) + Article A52467</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Neuromuscular or severe thoracic cage disease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LCD L33800 (rev. 06/09/2025)</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Central or complex sleep apnea</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LCD L33800</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Hypoventilation syndrome, including OHS</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LCD L33800</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Chronic respiratory failure from COPD — RAD or HMV</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b="1" dirty="0">
                          <a:solidFill>
                            <a:srgbClr val="1A1A1A"/>
                          </a:solidFill>
                          <a:latin typeface="Calibri" pitchFamily="34" charset="0"/>
                          <a:ea typeface="Calibri" pitchFamily="34" charset="-122"/>
                          <a:cs typeface="Calibri" pitchFamily="34" charset="-120"/>
                        </a:rPr>
                        <a:t>NCD 240.9 (effective 06/09/2025)</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Ventilator — neuromuscular or thoracic restrictive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NCD 280.1 + ventilator coding guidance</a:t>
                      </a:r>
                      <a:endParaRPr lang="en-US" sz="12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7" name="Shape 4"/>
          <p:cNvSpPr/>
          <p:nvPr/>
        </p:nvSpPr>
        <p:spPr>
          <a:xfrm>
            <a:off x="640080" y="3950208"/>
            <a:ext cx="10911535" cy="0"/>
          </a:xfrm>
          <a:prstGeom prst="line">
            <a:avLst/>
          </a:prstGeom>
          <a:noFill/>
          <a:ln w="9525">
            <a:solidFill>
              <a:srgbClr val="C8C8C8"/>
            </a:solidFill>
            <a:prstDash val="solid"/>
          </a:ln>
        </p:spPr>
      </p:sp>
      <p:sp>
        <p:nvSpPr>
          <p:cNvPr id="8" name="Text 5"/>
          <p:cNvSpPr txBox="1"/>
          <p:nvPr/>
        </p:nvSpPr>
        <p:spPr>
          <a:xfrm>
            <a:off x="640080" y="4078224"/>
            <a:ext cx="10911535"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Three things fellows get wrong</a:t>
            </a:r>
            <a:endParaRPr lang="en-US" sz="120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40080" y="4352544"/>
          <a:ext cx="10911535" cy="914400"/>
        </p:xfrm>
        <a:graphic>
          <a:graphicData uri="http://schemas.openxmlformats.org/drawingml/2006/table">
            <a:tbl>
              <a:tblPr/>
              <a:tblGrid>
                <a:gridCol w="3630168"/>
                <a:gridCol w="3639312"/>
                <a:gridCol w="3639312"/>
              </a:tblGrid>
              <a:tr h="0">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1.  NCD 240.9 is narrower than its reputation</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2.  “Severe COPD” is gone from L33800</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3.  The PaCO₂ threshold is not one number</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It governs COPD only — and governs both RAD and HMV for COPD in one document. NMD, chest wall disease, OHS, CSA and OSA all remain under the LCDs. The 2025 NCD did not unify home NIV policy; it carved COPD out of it.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Deleted effective 06/09/2025. The Group I / Group II construct no longer exists. If your qualification habit came from that LCD, it is out of date.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 52 mmHg under NCD 240.9 for COPD, for RAD and HMV alike. ≥ 45 mmHg under L33800 for restrictive thoracic disease and hypoventilation syndrome.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What NCD 240.9 actually requires</a:t>
            </a:r>
            <a:endParaRPr lang="en-US" sz="2700" dirty="0"/>
          </a:p>
        </p:txBody>
      </p:sp>
      <p:sp>
        <p:nvSpPr>
          <p:cNvPr id="5" name="Text 3"/>
          <p:cNvSpPr txBox="1"/>
          <p:nvPr/>
        </p:nvSpPr>
        <p:spPr>
          <a:xfrm>
            <a:off x="640080" y="932688"/>
            <a:ext cx="10911535" cy="27432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Chronic respiratory failure consequent to COPD  ·  effective June 9, 2025</a:t>
            </a:r>
            <a:endParaRPr lang="en-US" sz="1250" dirty="0"/>
          </a:p>
        </p:txBody>
      </p:sp>
      <p:sp>
        <p:nvSpPr>
          <p:cNvPr id="6" name="Text 4"/>
          <p:cNvSpPr txBox="1"/>
          <p:nvPr/>
        </p:nvSpPr>
        <p:spPr>
          <a:xfrm>
            <a:off x="640080" y="1444752"/>
            <a:ext cx="5349240"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RAD with backup rate — initial 6 months, all of:</a:t>
            </a:r>
            <a:endParaRPr lang="en-US" sz="1200" dirty="0"/>
          </a:p>
        </p:txBody>
      </p:sp>
      <p:sp>
        <p:nvSpPr>
          <p:cNvPr id="7" name="Text 5"/>
          <p:cNvSpPr txBox="1"/>
          <p:nvPr/>
        </p:nvSpPr>
        <p:spPr>
          <a:xfrm>
            <a:off x="685800" y="1719072"/>
            <a:ext cx="5303520" cy="137160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PaCO₂ ≥ 52 mmHg by ABG, awake, on prescribed FiO₂</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Sleep apnea is not the predominant cause — formal sleep testing not required. “Not predominant” is not “absent”</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Stability (no new or increased symptom for ≥ 2 days and no pharmacologic change in the prior 2 weeks) or persistence (hypercapnia ≥ 2 weeks post-hospitalization)</a:t>
            </a:r>
            <a:endParaRPr lang="en-US" sz="1150" dirty="0"/>
          </a:p>
        </p:txBody>
      </p:sp>
      <p:sp>
        <p:nvSpPr>
          <p:cNvPr id="8" name="Text 6"/>
          <p:cNvSpPr txBox="1"/>
          <p:nvPr/>
        </p:nvSpPr>
        <p:spPr>
          <a:xfrm>
            <a:off x="640080" y="3163824"/>
            <a:ext cx="5349240" cy="457200"/>
          </a:xfrm>
          <a:prstGeom prst="rect">
            <a:avLst/>
          </a:prstGeom>
          <a:noFill/>
          <a:ln/>
        </p:spPr>
        <p:txBody>
          <a:bodyPr wrap="square" lIns="0" tIns="0" rIns="0" bIns="0" rtlCol="0" anchor="t"/>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By 6 months it must be used as high-intensity therapy: IPAP ≥ 15 cm H₂O and backup rate ≥ 14/min.</a:t>
            </a:r>
            <a:endParaRPr lang="en-US" sz="1150" dirty="0"/>
          </a:p>
        </p:txBody>
      </p:sp>
      <p:sp>
        <p:nvSpPr>
          <p:cNvPr id="9" name="Text 7"/>
          <p:cNvSpPr txBox="1"/>
          <p:nvPr/>
        </p:nvSpPr>
        <p:spPr>
          <a:xfrm>
            <a:off x="640080" y="3584448"/>
            <a:ext cx="5349240"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CMS clarified in April 2026 that “high intensity” applies to RADs only — never to HMV.</a:t>
            </a:r>
            <a:endParaRPr lang="en-US" sz="1000" dirty="0"/>
          </a:p>
        </p:txBody>
      </p:sp>
      <p:sp>
        <p:nvSpPr>
          <p:cNvPr id="10" name="Text 8"/>
          <p:cNvSpPr txBox="1"/>
          <p:nvPr/>
        </p:nvSpPr>
        <p:spPr>
          <a:xfrm>
            <a:off x="6263640" y="1444752"/>
            <a:ext cx="5285232"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HMV — must be used in a volume-targeted mode, plus:</a:t>
            </a:r>
            <a:endParaRPr lang="en-US" sz="1200" dirty="0"/>
          </a:p>
        </p:txBody>
      </p:sp>
      <p:sp>
        <p:nvSpPr>
          <p:cNvPr id="11" name="Text 9"/>
          <p:cNvSpPr txBox="1"/>
          <p:nvPr/>
        </p:nvSpPr>
        <p:spPr>
          <a:xfrm>
            <a:off x="6309360" y="1719072"/>
            <a:ext cx="5239512" cy="219456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PaCO₂ ≥ 52 mmHg, sleep apnea not predominant, and at least one of:</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FiO₂ ≥ 36% or ≥ 4 L nasally</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Support &gt; 8 hours per 24 hours</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Alarms and internal battery needed because the patient “is unable to effectively breathe on their own for more than a few hours” and interruption “is likely to cause a life-threatening condition”</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Clinician judgment that no RAD outcome is achievable “because the patient's needs exceed the capabilities of a RAD”</a:t>
            </a:r>
            <a:endParaRPr lang="en-US" sz="1150" dirty="0"/>
          </a:p>
        </p:txBody>
      </p:sp>
      <p:sp>
        <p:nvSpPr>
          <p:cNvPr id="12" name="Shape 10"/>
          <p:cNvSpPr/>
          <p:nvPr/>
        </p:nvSpPr>
        <p:spPr>
          <a:xfrm>
            <a:off x="640080" y="4315968"/>
            <a:ext cx="10911535" cy="749808"/>
          </a:xfrm>
          <a:prstGeom prst="rect">
            <a:avLst/>
          </a:prstGeom>
          <a:solidFill>
            <a:srgbClr val="F2F2F2"/>
          </a:solidFill>
          <a:ln w="12700">
            <a:solidFill>
              <a:srgbClr val="F2F2F2"/>
            </a:solidFill>
            <a:prstDash val="solid"/>
          </a:ln>
        </p:spPr>
      </p:sp>
      <p:sp>
        <p:nvSpPr>
          <p:cNvPr id="13" name="Text 11"/>
          <p:cNvSpPr txBox="1"/>
          <p:nvPr/>
        </p:nvSpPr>
        <p:spPr>
          <a:xfrm>
            <a:off x="841248" y="4315968"/>
            <a:ext cx="10509199" cy="749808"/>
          </a:xfrm>
          <a:prstGeom prst="rect">
            <a:avLst/>
          </a:prstGeom>
          <a:noFill/>
          <a:ln/>
        </p:spPr>
        <p:txBody>
          <a:bodyPr wrap="square" lIns="0" tIns="0" rIns="0" bIns="0" rtlCol="0" anchor="ctr"/>
          <a:lstStyle/>
          <a:p>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The most important door in the NCD.   </a:t>
            </a:r>
            <a:pPr indent="0" marL="0">
              <a:lnSpc>
                <a:spcPct val="112000"/>
              </a:lnSpc>
              <a:buNone/>
            </a:pPr>
            <a:r>
              <a:rPr lang="en-US" sz="1250" dirty="0">
                <a:solidFill>
                  <a:srgbClr val="000000"/>
                </a:solidFill>
                <a:latin typeface="Calibri" pitchFamily="34" charset="0"/>
                <a:ea typeface="Calibri" pitchFamily="34" charset="-122"/>
                <a:cs typeface="Calibri" pitchFamily="34" charset="-120"/>
              </a:rPr>
              <a:t>A RAD is covered immediately at discharge for 6 months if the patient required a RAD or ventilator in the 24 hours before discharge and the clinician judges risk of rapid symptom exacerbation or PaCO₂ rise. </a:t>
            </a:r>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No ABG threshold on this pathway.</a:t>
            </a:r>
            <a:endParaRPr lang="en-US" sz="1250" dirty="0"/>
          </a:p>
        </p:txBody>
      </p:sp>
      <p:sp>
        <p:nvSpPr>
          <p:cNvPr id="14" name="Text 12"/>
          <p:cNvSpPr txBox="1"/>
          <p:nvPr/>
        </p:nvSpPr>
        <p:spPr>
          <a:xfrm>
            <a:off x="640080" y="5193792"/>
            <a:ext cx="10911535" cy="256032"/>
          </a:xfrm>
          <a:prstGeom prst="rect">
            <a:avLst/>
          </a:prstGeom>
          <a:noFill/>
          <a:ln/>
        </p:spPr>
        <p:txBody>
          <a:bodyPr wrap="square" lIns="0" tIns="0" rIns="0" bIns="0"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Two asymmetries worth a sentence each</a:t>
            </a:r>
            <a:endParaRPr lang="en-US" sz="1150" dirty="0"/>
          </a:p>
        </p:txBody>
      </p:sp>
      <p:sp>
        <p:nvSpPr>
          <p:cNvPr id="15" name="Text 13"/>
          <p:cNvSpPr txBox="1"/>
          <p:nvPr/>
        </p:nvSpPr>
        <p:spPr>
          <a:xfrm>
            <a:off x="640080" y="5468112"/>
            <a:ext cx="10911535" cy="731520"/>
          </a:xfrm>
          <a:prstGeom prst="rect">
            <a:avLst/>
          </a:prstGeom>
          <a:noFill/>
          <a:ln/>
        </p:spPr>
        <p:txBody>
          <a:bodyPr wrap="square" lIns="0" tIns="0" rIns="0" bIns="0" rtlCol="0" anchor="t"/>
          <a:lstStyle/>
          <a:p>
            <a:pPr indent="0" marL="0">
              <a:lnSpc>
                <a:spcPct val="115000"/>
              </a:lnSpc>
              <a:buNone/>
            </a:pPr>
            <a:r>
              <a:rPr lang="en-US" sz="1100" dirty="0">
                <a:solidFill>
                  <a:srgbClr val="1A1A1A"/>
                </a:solidFill>
                <a:latin typeface="Calibri" pitchFamily="34" charset="0"/>
                <a:ea typeface="Calibri" pitchFamily="34" charset="-122"/>
                <a:cs typeface="Calibri" pitchFamily="34" charset="-120"/>
              </a:rPr>
              <a:t>RAD continuing coverage requires adherence (≥ 4 h/24 h on ≥ 70% of days) and a clinical outcome — PaCO₂ &lt; 46, stabilization, 20% reduction, or symptom improvement. HMV continuing coverage requires adherence only. And for volume-targeted HMV used &gt; 8 h/24 h with an oronasal mask at night, a second daytime interface is covered.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The non-COPD pathways — and the one that matters most to you</a:t>
            </a:r>
            <a:endParaRPr lang="en-US" sz="2700" dirty="0"/>
          </a:p>
        </p:txBody>
      </p:sp>
      <p:sp>
        <p:nvSpPr>
          <p:cNvPr id="5" name="Shape 3"/>
          <p:cNvSpPr/>
          <p:nvPr/>
        </p:nvSpPr>
        <p:spPr>
          <a:xfrm>
            <a:off x="640080" y="1207008"/>
            <a:ext cx="10911535" cy="1298448"/>
          </a:xfrm>
          <a:prstGeom prst="rect">
            <a:avLst/>
          </a:prstGeom>
          <a:solidFill>
            <a:srgbClr val="F2F2F2"/>
          </a:solidFill>
          <a:ln w="12700">
            <a:solidFill>
              <a:srgbClr val="F2F2F2"/>
            </a:solidFill>
            <a:prstDash val="solid"/>
          </a:ln>
        </p:spPr>
      </p:sp>
      <p:sp>
        <p:nvSpPr>
          <p:cNvPr id="6" name="Text 4"/>
          <p:cNvSpPr txBox="1"/>
          <p:nvPr/>
        </p:nvSpPr>
        <p:spPr>
          <a:xfrm>
            <a:off x="841248" y="1316736"/>
            <a:ext cx="10509199"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Restrictive thoracic / neuromuscular  ·  LCD L33800</a:t>
            </a:r>
            <a:endParaRPr lang="en-US" sz="1200" dirty="0"/>
          </a:p>
        </p:txBody>
      </p:sp>
      <p:sp>
        <p:nvSpPr>
          <p:cNvPr id="7" name="Text 5"/>
          <p:cNvSpPr txBox="1"/>
          <p:nvPr/>
        </p:nvSpPr>
        <p:spPr>
          <a:xfrm>
            <a:off x="841248" y="1591056"/>
            <a:ext cx="10509199" cy="82296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The only pathway where the clinician freely chooses E0470 vs E0471, and the only one that does not require hypercapnia. </a:t>
            </a:r>
            <a:endParaRPr lang="en-US" sz="1150" dirty="0"/>
          </a:p>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Documented NMD or severe thoracic cage abnormality, COPD not a significant contributor, plus ANY ONE of:  awake PaCO₂ ≥ 45 mmHg  ·  SpO₂ ≤ 88% for ≥ 5 min of nocturnal recording  ·  NMD only: MIP &lt; 60 cm H₂O or FVC &lt; 50% predicted</a:t>
            </a:r>
            <a:endParaRPr lang="en-US" sz="1150" dirty="0"/>
          </a:p>
        </p:txBody>
      </p:sp>
      <p:sp>
        <p:nvSpPr>
          <p:cNvPr id="8" name="Shape 6"/>
          <p:cNvSpPr/>
          <p:nvPr/>
        </p:nvSpPr>
        <p:spPr>
          <a:xfrm>
            <a:off x="640080" y="2670048"/>
            <a:ext cx="10911535" cy="0"/>
          </a:xfrm>
          <a:prstGeom prst="line">
            <a:avLst/>
          </a:prstGeom>
          <a:noFill/>
          <a:ln w="12700">
            <a:solidFill>
              <a:srgbClr val="000000"/>
            </a:solidFill>
            <a:prstDash val="solid"/>
          </a:ln>
        </p:spPr>
      </p:sp>
      <p:sp>
        <p:nvSpPr>
          <p:cNvPr id="9" name="Text 7"/>
          <p:cNvSpPr txBox="1"/>
          <p:nvPr/>
        </p:nvSpPr>
        <p:spPr>
          <a:xfrm>
            <a:off x="640080" y="2788920"/>
            <a:ext cx="10911535" cy="347472"/>
          </a:xfrm>
          <a:prstGeom prst="rect">
            <a:avLst/>
          </a:prstGeom>
          <a:noFill/>
          <a:ln/>
        </p:spPr>
        <p:txBody>
          <a:bodyPr wrap="square" lIns="0" tIns="0" rIns="0" bIns="0" rtlCol="0" anchor="t"/>
          <a:lstStyle/>
          <a:p>
            <a:pPr indent="0" marL="0">
              <a:lnSpc>
                <a:spcPct val="112000"/>
              </a:lnSpc>
              <a:buNone/>
            </a:pPr>
            <a:r>
              <a:rPr lang="en-US" sz="1400" i="1" dirty="0">
                <a:solidFill>
                  <a:srgbClr val="000000"/>
                </a:solidFill>
                <a:latin typeface="Cambria" pitchFamily="34" charset="0"/>
                <a:ea typeface="Cambria" pitchFamily="34" charset="-122"/>
                <a:cs typeface="Cambria" pitchFamily="34" charset="-120"/>
              </a:rPr>
              <a:t>An ALS patient qualifies on MIP or FVC alone — normal ABG, no sleep study. Fellows routinely wait for hypercapnia they do not need.</a:t>
            </a:r>
            <a:endParaRPr lang="en-US" sz="1400" dirty="0"/>
          </a:p>
        </p:txBody>
      </p:sp>
      <p:sp>
        <p:nvSpPr>
          <p:cNvPr id="10" name="Shape 8"/>
          <p:cNvSpPr/>
          <p:nvPr/>
        </p:nvSpPr>
        <p:spPr>
          <a:xfrm>
            <a:off x="640080" y="3191256"/>
            <a:ext cx="10911535" cy="0"/>
          </a:xfrm>
          <a:prstGeom prst="line">
            <a:avLst/>
          </a:prstGeom>
          <a:noFill/>
          <a:ln w="9525">
            <a:solidFill>
              <a:srgbClr val="C8C8C8"/>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3310128"/>
          <a:ext cx="10911535" cy="914400"/>
        </p:xfrm>
        <a:graphic>
          <a:graphicData uri="http://schemas.openxmlformats.org/drawingml/2006/table">
            <a:tbl>
              <a:tblPr/>
              <a:tblGrid>
                <a:gridCol w="2834640"/>
                <a:gridCol w="8074152"/>
              </a:tblGrid>
              <a:tr h="0">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Pathway</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What it requires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Hypoventilation syndrome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PaCO₂ ≥ 45 awake, FEV₁/FVC ≥ 70%, plus either a ≥ 7 mmHg sleep or on-waking rise, or SpO₂ ≤ 88% for ≥ 5 min not caused by obstructive events.  E0471 here is a step-up only — it requires a covered E0470 already in use and failure on it.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Central / complex sleep apnea</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Attended facility PSG before initiation — home testing does not qualify. CAHI ≥ 5/h, centrals &gt; 50% of events, and no evidence of hypoventilation, plus demonstrated improvement on the settings to be prescribed.</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OSA  ·  LCD L33718</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E0470 requires E0601 tried and proven ineffective despite optimal mask fit and pressure.  E0471 is categorically denied if the primary diagnosis is OSA.  Adherence: ≥ 4 h/night on 70% of nights in a consecutive 30-day period, with in-person re-evaluation no sooner than day 31 and no later than day 91.</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12" name="Text 9"/>
          <p:cNvSpPr txBox="1"/>
          <p:nvPr/>
        </p:nvSpPr>
        <p:spPr>
          <a:xfrm>
            <a:off x="640080" y="5614416"/>
            <a:ext cx="10911535" cy="402336"/>
          </a:xfrm>
          <a:prstGeom prst="rect">
            <a:avLst/>
          </a:prstGeom>
          <a:noFill/>
          <a:ln/>
        </p:spPr>
        <p:txBody>
          <a:bodyPr wrap="square" lIns="0" tIns="0" rIns="0" bIns="0" rtlCol="0" anchor="ctr"/>
          <a:lstStyle/>
          <a:p>
            <a:pPr indent="0" marL="0">
              <a:lnSpc>
                <a:spcPct val="112000"/>
              </a:lnSpc>
              <a:buNone/>
            </a:pPr>
            <a:r>
              <a:rPr lang="en-US" sz="1150" b="1" dirty="0">
                <a:solidFill>
                  <a:srgbClr val="000000"/>
                </a:solidFill>
                <a:latin typeface="Calibri" pitchFamily="34" charset="0"/>
                <a:ea typeface="Calibri" pitchFamily="34" charset="-122"/>
                <a:cs typeface="Calibri" pitchFamily="34" charset="-120"/>
              </a:rPr>
              <a:t>A gate that applies to every RAD pathway and gets missed: the record must document symptoms of sleep-associated hypoventilation — hypersomnolence, fatigue, morning headache, cognitive dysfunction, dyspnea. No symptoms, no RAD.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Matching the device to the clinical problem</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11535" cy="914400"/>
        </p:xfrm>
        <a:graphic>
          <a:graphicData uri="http://schemas.openxmlformats.org/drawingml/2006/table">
            <a:tbl>
              <a:tblPr/>
              <a:tblGrid>
                <a:gridCol w="2176272"/>
                <a:gridCol w="3017520"/>
                <a:gridCol w="3017520"/>
                <a:gridCol w="2697480"/>
              </a:tblGrid>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Problem</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First-line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Escalate when</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Uncomplicated OSA</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CPAP / APAP, not bilevel</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CPAP fails despite optimal fit and pressure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Patil 2019 (AASM) suggests CPAP/APAP over bilevel</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Stable ambulatory OHS with severe OSA</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CPAP</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Persistent hypercapnia despite adherence → BPAP S/T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Mokhlesi 2019 (ATS), conditional</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Hospitalized, suspected OHS</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Discharge on NIV pending evaluation and titration</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Mokhlesi 2019 — do not generalize to stable outpatients</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COPD, persistent hypercapnia after recovery</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BPAP with backup rate, high-intensity, targeting real PaCO₂ reduction</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FiO₂ needs, &gt; 8 h/day, alarms + battery, or RAD targets unachievable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Köhnlein 2014; Murphy 2017; Macrea 2020 (ATS)</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Neuromuscular / chest wall</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BPAP (S or S/T) early — MIP/FVC criteria; do not wait for CO₂</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Daytime or mouthpiece support, &gt; 10 h/day, dependence</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Ward 2005; Khan 2023 (CHEST)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Central sleep apnea</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Depends on etiology — CPAP, backup-rate bilevel, or ASV</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Badr 2025 (AASM); bilevel without backup is suggested against</a:t>
                      </a:r>
                      <a:endParaRPr lang="en-US" sz="10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Shape 3"/>
          <p:cNvSpPr/>
          <p:nvPr/>
        </p:nvSpPr>
        <p:spPr>
          <a:xfrm>
            <a:off x="640080" y="4462272"/>
            <a:ext cx="10911535" cy="749808"/>
          </a:xfrm>
          <a:prstGeom prst="rect">
            <a:avLst/>
          </a:prstGeom>
          <a:solidFill>
            <a:srgbClr val="F2F2F2"/>
          </a:solidFill>
          <a:ln w="12700">
            <a:solidFill>
              <a:srgbClr val="F2F2F2"/>
            </a:solidFill>
            <a:prstDash val="solid"/>
          </a:ln>
        </p:spPr>
      </p:sp>
      <p:sp>
        <p:nvSpPr>
          <p:cNvPr id="7" name="Text 4"/>
          <p:cNvSpPr txBox="1"/>
          <p:nvPr/>
        </p:nvSpPr>
        <p:spPr>
          <a:xfrm>
            <a:off x="841248" y="4462272"/>
            <a:ext cx="10509199" cy="749808"/>
          </a:xfrm>
          <a:prstGeom prst="rect">
            <a:avLst/>
          </a:prstGeom>
          <a:noFill/>
          <a:ln/>
        </p:spPr>
        <p:txBody>
          <a:bodyPr wrap="square" lIns="0" tIns="0" rIns="0" bIns="0" rtlCol="0" anchor="ctr"/>
          <a:lstStyle/>
          <a:p>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Read the table down the first column, not across the last.   </a:t>
            </a:r>
            <a:pPr indent="0" marL="0">
              <a:lnSpc>
                <a:spcPct val="112000"/>
              </a:lnSpc>
              <a:buNone/>
            </a:pPr>
            <a:r>
              <a:rPr lang="en-US" sz="1250" dirty="0">
                <a:solidFill>
                  <a:srgbClr val="000000"/>
                </a:solidFill>
                <a:latin typeface="Calibri" pitchFamily="34" charset="0"/>
                <a:ea typeface="Calibri" pitchFamily="34" charset="-122"/>
                <a:cs typeface="Calibri" pitchFamily="34" charset="-120"/>
              </a:rPr>
              <a:t>Every row is a different physiologic problem. The device follows from the problem and from what happens if support stops — not from how sick the patient looks, and not from which code is easier to get approved.</a:t>
            </a:r>
            <a:endParaRPr lang="en-US" sz="1250" dirty="0"/>
          </a:p>
        </p:txBody>
      </p:sp>
      <p:sp>
        <p:nvSpPr>
          <p:cNvPr id="8" name="Text 5"/>
          <p:cNvSpPr txBox="1"/>
          <p:nvPr/>
        </p:nvSpPr>
        <p:spPr>
          <a:xfrm>
            <a:off x="640080" y="5376672"/>
            <a:ext cx="10911535"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Detailed qualification thresholds for each pathway are in the backup slides.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COPD: selection and timing, not the device label</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11535" cy="914400"/>
        </p:xfrm>
        <a:graphic>
          <a:graphicData uri="http://schemas.openxmlformats.org/drawingml/2006/table">
            <a:tbl>
              <a:tblPr/>
              <a:tblGrid>
                <a:gridCol w="2514600"/>
                <a:gridCol w="4434840"/>
                <a:gridCol w="3959352"/>
              </a:tblGrid>
              <a:tr h="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Trial</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Population and timing</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Köhnlein 2014</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Stable severe hypercapnic COPD; NIV targeted substantial PaCO₂ reduction</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One-year mortality 12% vs 33%.  ARR 21%, NNT 5</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RESCUE  (Struik 2014)</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Hypercapnia persisting &gt; 48 h after stopping acute ventilatory support</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No improvement in readmission-or-death despite better CO₂</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50" b="1" dirty="0">
                          <a:solidFill>
                            <a:srgbClr val="1A1A1A"/>
                          </a:solidFill>
                          <a:latin typeface="Calibri" pitchFamily="34" charset="0"/>
                          <a:ea typeface="Calibri" pitchFamily="34" charset="-122"/>
                          <a:cs typeface="Calibri" pitchFamily="34" charset="-120"/>
                        </a:rPr>
                        <a:t>HOT-HMV  (Murphy 2017)</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Persistent hypercapnia 2–4 weeks after resolution of acidosis</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Median time to readmission or death 1.4 → 4.3 months.  Adjusted HR 0.49 (0.31–0.77)</a:t>
                      </a:r>
                      <a:endParaRPr lang="en-US" sz="115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Shape 3"/>
          <p:cNvSpPr/>
          <p:nvPr/>
        </p:nvSpPr>
        <p:spPr>
          <a:xfrm>
            <a:off x="640080" y="3703320"/>
            <a:ext cx="10911535" cy="0"/>
          </a:xfrm>
          <a:prstGeom prst="line">
            <a:avLst/>
          </a:prstGeom>
          <a:noFill/>
          <a:ln w="9525">
            <a:solidFill>
              <a:srgbClr val="C8C8C8"/>
            </a:solidFill>
            <a:prstDash val="solid"/>
          </a:ln>
        </p:spPr>
      </p:sp>
      <p:sp>
        <p:nvSpPr>
          <p:cNvPr id="7" name="Text 4"/>
          <p:cNvSpPr txBox="1"/>
          <p:nvPr/>
        </p:nvSpPr>
        <p:spPr>
          <a:xfrm>
            <a:off x="640080" y="3831336"/>
            <a:ext cx="10911535"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Two things to say explicitly</a:t>
            </a:r>
            <a:endParaRPr lang="en-US" sz="1200" dirty="0"/>
          </a:p>
        </p:txBody>
      </p:sp>
      <p:sp>
        <p:nvSpPr>
          <p:cNvPr id="8" name="Text 5"/>
          <p:cNvSpPr txBox="1"/>
          <p:nvPr/>
        </p:nvSpPr>
        <p:spPr>
          <a:xfrm>
            <a:off x="685800" y="4105656"/>
            <a:ext cx="10865815" cy="173736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HOT-HMV tested a home NIV strategy. It did not randomize an E0466 billing category against an E0471 billing category — do not let the trial name stand in for a code</a:t>
            </a:r>
            <a:endParaRPr lang="en-US" sz="1200" dirty="0"/>
          </a:p>
          <a:p>
            <a:pPr marL="165100" indent="-165100">
              <a:lnSpc>
                <a:spcPct val="1150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The contrast supports attention to persistence and patient selection. It does not isolate timing as the only explanation for the differing results</a:t>
            </a:r>
            <a:endParaRPr lang="en-US" sz="1200" dirty="0"/>
          </a:p>
          <a:p>
            <a:pPr marL="165100" indent="-165100">
              <a:lnSpc>
                <a:spcPct val="1150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ATS guidance: assess for OSA, reassess after recovery from an exacerbation, and target meaningful reduction or normalization of PaCO₂. Reassessing at 2–4 weeks is not a reason to withdraw support from someone who cannot be weaned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 · CURRENT CATEGORIES</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The prescription is a care plan, not a brand name</a:t>
            </a:r>
            <a:endParaRPr lang="en-US" sz="2700" dirty="0"/>
          </a:p>
        </p:txBody>
      </p:sp>
      <p:sp>
        <p:nvSpPr>
          <p:cNvPr id="5" name="Shape 3"/>
          <p:cNvSpPr/>
          <p:nvPr/>
        </p:nvSpPr>
        <p:spPr>
          <a:xfrm>
            <a:off x="640080" y="1252728"/>
            <a:ext cx="1600200" cy="658368"/>
          </a:xfrm>
          <a:prstGeom prst="rect">
            <a:avLst/>
          </a:prstGeom>
          <a:solidFill>
            <a:srgbClr val="FFFFFF"/>
          </a:solidFill>
          <a:ln w="12700">
            <a:solidFill>
              <a:srgbClr val="000000"/>
            </a:solidFill>
            <a:prstDash val="solid"/>
          </a:ln>
        </p:spPr>
      </p:sp>
      <p:sp>
        <p:nvSpPr>
          <p:cNvPr id="6" name="Text 4"/>
          <p:cNvSpPr txBox="1"/>
          <p:nvPr/>
        </p:nvSpPr>
        <p:spPr>
          <a:xfrm>
            <a:off x="713232"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Indication</a:t>
            </a:r>
            <a:endParaRPr lang="en-US" sz="1000" dirty="0"/>
          </a:p>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&amp; goal</a:t>
            </a:r>
            <a:endParaRPr lang="en-US" sz="1000" dirty="0"/>
          </a:p>
        </p:txBody>
      </p:sp>
      <p:sp>
        <p:nvSpPr>
          <p:cNvPr id="7" name="Shape 5"/>
          <p:cNvSpPr/>
          <p:nvPr/>
        </p:nvSpPr>
        <p:spPr>
          <a:xfrm>
            <a:off x="2276856" y="1581912"/>
            <a:ext cx="192024" cy="0"/>
          </a:xfrm>
          <a:prstGeom prst="line">
            <a:avLst/>
          </a:prstGeom>
          <a:noFill/>
          <a:ln w="12700">
            <a:solidFill>
              <a:srgbClr val="000000"/>
            </a:solidFill>
            <a:prstDash val="solid"/>
            <a:tailEnd type="triangle"/>
          </a:ln>
        </p:spPr>
      </p:sp>
      <p:sp>
        <p:nvSpPr>
          <p:cNvPr id="8" name="Shape 6"/>
          <p:cNvSpPr/>
          <p:nvPr/>
        </p:nvSpPr>
        <p:spPr>
          <a:xfrm>
            <a:off x="2505456" y="1252728"/>
            <a:ext cx="1600200" cy="658368"/>
          </a:xfrm>
          <a:prstGeom prst="rect">
            <a:avLst/>
          </a:prstGeom>
          <a:solidFill>
            <a:srgbClr val="FFFFFF"/>
          </a:solidFill>
          <a:ln w="12700">
            <a:solidFill>
              <a:srgbClr val="000000"/>
            </a:solidFill>
            <a:prstDash val="solid"/>
          </a:ln>
        </p:spPr>
      </p:sp>
      <p:sp>
        <p:nvSpPr>
          <p:cNvPr id="9" name="Text 7"/>
          <p:cNvSpPr txBox="1"/>
          <p:nvPr/>
        </p:nvSpPr>
        <p:spPr>
          <a:xfrm>
            <a:off x="2578608"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Mode and</a:t>
            </a:r>
            <a:endParaRPr lang="en-US" sz="1000" dirty="0"/>
          </a:p>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settings</a:t>
            </a:r>
            <a:endParaRPr lang="en-US" sz="1000" dirty="0"/>
          </a:p>
        </p:txBody>
      </p:sp>
      <p:sp>
        <p:nvSpPr>
          <p:cNvPr id="10" name="Shape 8"/>
          <p:cNvSpPr/>
          <p:nvPr/>
        </p:nvSpPr>
        <p:spPr>
          <a:xfrm>
            <a:off x="4142232" y="1581912"/>
            <a:ext cx="192024" cy="0"/>
          </a:xfrm>
          <a:prstGeom prst="line">
            <a:avLst/>
          </a:prstGeom>
          <a:noFill/>
          <a:ln w="12700">
            <a:solidFill>
              <a:srgbClr val="000000"/>
            </a:solidFill>
            <a:prstDash val="solid"/>
            <a:tailEnd type="triangle"/>
          </a:ln>
        </p:spPr>
      </p:sp>
      <p:sp>
        <p:nvSpPr>
          <p:cNvPr id="11" name="Shape 9"/>
          <p:cNvSpPr/>
          <p:nvPr/>
        </p:nvSpPr>
        <p:spPr>
          <a:xfrm>
            <a:off x="4370832" y="1252728"/>
            <a:ext cx="1600200" cy="658368"/>
          </a:xfrm>
          <a:prstGeom prst="rect">
            <a:avLst/>
          </a:prstGeom>
          <a:solidFill>
            <a:srgbClr val="FFFFFF"/>
          </a:solidFill>
          <a:ln w="12700">
            <a:solidFill>
              <a:srgbClr val="000000"/>
            </a:solidFill>
            <a:prstDash val="solid"/>
          </a:ln>
        </p:spPr>
      </p:sp>
      <p:sp>
        <p:nvSpPr>
          <p:cNvPr id="12" name="Text 10"/>
          <p:cNvSpPr txBox="1"/>
          <p:nvPr/>
        </p:nvSpPr>
        <p:spPr>
          <a:xfrm>
            <a:off x="4443984"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Interface</a:t>
            </a:r>
            <a:endParaRPr lang="en-US" sz="1000" dirty="0"/>
          </a:p>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&amp; oxygen</a:t>
            </a:r>
            <a:endParaRPr lang="en-US" sz="1000" dirty="0"/>
          </a:p>
        </p:txBody>
      </p:sp>
      <p:sp>
        <p:nvSpPr>
          <p:cNvPr id="13" name="Shape 11"/>
          <p:cNvSpPr/>
          <p:nvPr/>
        </p:nvSpPr>
        <p:spPr>
          <a:xfrm>
            <a:off x="6007608" y="1581912"/>
            <a:ext cx="192024" cy="0"/>
          </a:xfrm>
          <a:prstGeom prst="line">
            <a:avLst/>
          </a:prstGeom>
          <a:noFill/>
          <a:ln w="12700">
            <a:solidFill>
              <a:srgbClr val="000000"/>
            </a:solidFill>
            <a:prstDash val="solid"/>
            <a:tailEnd type="triangle"/>
          </a:ln>
        </p:spPr>
      </p:sp>
      <p:sp>
        <p:nvSpPr>
          <p:cNvPr id="14" name="Shape 12"/>
          <p:cNvSpPr/>
          <p:nvPr/>
        </p:nvSpPr>
        <p:spPr>
          <a:xfrm>
            <a:off x="6236208" y="1252728"/>
            <a:ext cx="1600200" cy="658368"/>
          </a:xfrm>
          <a:prstGeom prst="rect">
            <a:avLst/>
          </a:prstGeom>
          <a:solidFill>
            <a:srgbClr val="FFFFFF"/>
          </a:solidFill>
          <a:ln w="12700">
            <a:solidFill>
              <a:srgbClr val="000000"/>
            </a:solidFill>
            <a:prstDash val="solid"/>
          </a:ln>
        </p:spPr>
      </p:sp>
      <p:sp>
        <p:nvSpPr>
          <p:cNvPr id="15" name="Text 13"/>
          <p:cNvSpPr txBox="1"/>
          <p:nvPr/>
        </p:nvSpPr>
        <p:spPr>
          <a:xfrm>
            <a:off x="6309360"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Safety</a:t>
            </a:r>
            <a:endParaRPr lang="en-US" sz="1000" dirty="0"/>
          </a:p>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needs</a:t>
            </a:r>
            <a:endParaRPr lang="en-US" sz="1000" dirty="0"/>
          </a:p>
        </p:txBody>
      </p:sp>
      <p:sp>
        <p:nvSpPr>
          <p:cNvPr id="16" name="Shape 14"/>
          <p:cNvSpPr/>
          <p:nvPr/>
        </p:nvSpPr>
        <p:spPr>
          <a:xfrm>
            <a:off x="7872984" y="1581912"/>
            <a:ext cx="192024" cy="0"/>
          </a:xfrm>
          <a:prstGeom prst="line">
            <a:avLst/>
          </a:prstGeom>
          <a:noFill/>
          <a:ln w="12700">
            <a:solidFill>
              <a:srgbClr val="000000"/>
            </a:solidFill>
            <a:prstDash val="solid"/>
            <a:tailEnd type="triangle"/>
          </a:ln>
        </p:spPr>
      </p:sp>
      <p:sp>
        <p:nvSpPr>
          <p:cNvPr id="17" name="Shape 15"/>
          <p:cNvSpPr/>
          <p:nvPr/>
        </p:nvSpPr>
        <p:spPr>
          <a:xfrm>
            <a:off x="8101584" y="1252728"/>
            <a:ext cx="1600200" cy="658368"/>
          </a:xfrm>
          <a:prstGeom prst="rect">
            <a:avLst/>
          </a:prstGeom>
          <a:solidFill>
            <a:srgbClr val="FFFFFF"/>
          </a:solidFill>
          <a:ln w="12700">
            <a:solidFill>
              <a:srgbClr val="000000"/>
            </a:solidFill>
            <a:prstDash val="solid"/>
          </a:ln>
        </p:spPr>
      </p:sp>
      <p:sp>
        <p:nvSpPr>
          <p:cNvPr id="18" name="Text 16"/>
          <p:cNvSpPr txBox="1"/>
          <p:nvPr/>
        </p:nvSpPr>
        <p:spPr>
          <a:xfrm>
            <a:off x="8174736"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Training</a:t>
            </a:r>
            <a:endParaRPr lang="en-US" sz="1000" dirty="0"/>
          </a:p>
        </p:txBody>
      </p:sp>
      <p:sp>
        <p:nvSpPr>
          <p:cNvPr id="19" name="Shape 17"/>
          <p:cNvSpPr/>
          <p:nvPr/>
        </p:nvSpPr>
        <p:spPr>
          <a:xfrm>
            <a:off x="9738360" y="1581912"/>
            <a:ext cx="192024" cy="0"/>
          </a:xfrm>
          <a:prstGeom prst="line">
            <a:avLst/>
          </a:prstGeom>
          <a:noFill/>
          <a:ln w="12700">
            <a:solidFill>
              <a:srgbClr val="000000"/>
            </a:solidFill>
            <a:prstDash val="solid"/>
            <a:tailEnd type="triangle"/>
          </a:ln>
        </p:spPr>
      </p:sp>
      <p:sp>
        <p:nvSpPr>
          <p:cNvPr id="20" name="Shape 18"/>
          <p:cNvSpPr/>
          <p:nvPr/>
        </p:nvSpPr>
        <p:spPr>
          <a:xfrm>
            <a:off x="9966960" y="1252728"/>
            <a:ext cx="1600200" cy="658368"/>
          </a:xfrm>
          <a:prstGeom prst="rect">
            <a:avLst/>
          </a:prstGeom>
          <a:solidFill>
            <a:srgbClr val="FFFFFF"/>
          </a:solidFill>
          <a:ln w="12700">
            <a:solidFill>
              <a:srgbClr val="000000"/>
            </a:solidFill>
            <a:prstDash val="solid"/>
          </a:ln>
        </p:spPr>
      </p:sp>
      <p:sp>
        <p:nvSpPr>
          <p:cNvPr id="21" name="Text 19"/>
          <p:cNvSpPr txBox="1"/>
          <p:nvPr/>
        </p:nvSpPr>
        <p:spPr>
          <a:xfrm>
            <a:off x="10040112" y="1252728"/>
            <a:ext cx="1453896" cy="658368"/>
          </a:xfrm>
          <a:prstGeom prst="rect">
            <a:avLst/>
          </a:prstGeom>
          <a:noFill/>
          <a:ln/>
        </p:spPr>
        <p:txBody>
          <a:bodyPr wrap="square" lIns="0" tIns="0" rIns="0" bIns="0" rtlCol="0" anchor="ctr"/>
          <a:lstStyle/>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Who reassesses,</a:t>
            </a:r>
            <a:endParaRPr lang="en-US" sz="1000" dirty="0"/>
          </a:p>
          <a:p>
            <a:pPr algn="ctr" indent="0" marL="0">
              <a:lnSpc>
                <a:spcPct val="105000"/>
              </a:lnSpc>
              <a:buNone/>
            </a:pPr>
            <a:r>
              <a:rPr lang="en-US" sz="1000" dirty="0">
                <a:solidFill>
                  <a:srgbClr val="1A1A1A"/>
                </a:solidFill>
                <a:latin typeface="Calibri" pitchFamily="34" charset="0"/>
                <a:ea typeface="Calibri" pitchFamily="34" charset="-122"/>
                <a:cs typeface="Calibri" pitchFamily="34" charset="-120"/>
              </a:rPr>
              <a:t>and when</a:t>
            </a:r>
            <a:endParaRPr lang="en-US" sz="1000" dirty="0"/>
          </a:p>
        </p:txBody>
      </p:sp>
      <p:sp>
        <p:nvSpPr>
          <p:cNvPr id="22" name="Text 20"/>
          <p:cNvSpPr txBox="1"/>
          <p:nvPr/>
        </p:nvSpPr>
        <p:spPr>
          <a:xfrm>
            <a:off x="640080" y="2167128"/>
            <a:ext cx="5349240"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Three distinct follow-up questions, routinely collapsed into one</a:t>
            </a:r>
            <a:endParaRPr lang="en-US" sz="1200" dirty="0"/>
          </a:p>
        </p:txBody>
      </p:sp>
      <p:sp>
        <p:nvSpPr>
          <p:cNvPr id="23" name="Text 21"/>
          <p:cNvSpPr txBox="1"/>
          <p:nvPr/>
        </p:nvSpPr>
        <p:spPr>
          <a:xfrm>
            <a:off x="685800" y="2441448"/>
            <a:ext cx="5303520" cy="91440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Is the patient using it?</a:t>
            </a:r>
            <a:endParaRPr lang="en-US" sz="1300" dirty="0"/>
          </a:p>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Is it providing effective support?</a:t>
            </a:r>
            <a:endParaRPr lang="en-US" sz="1300" dirty="0"/>
          </a:p>
          <a:p>
            <a:pPr marL="165100" indent="-165100">
              <a:lnSpc>
                <a:spcPct val="115000"/>
              </a:lnSpc>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Is the patient benefiting?</a:t>
            </a:r>
            <a:endParaRPr lang="en-US" sz="1300" dirty="0"/>
          </a:p>
        </p:txBody>
      </p:sp>
      <p:sp>
        <p:nvSpPr>
          <p:cNvPr id="24" name="Text 22"/>
          <p:cNvSpPr txBox="1"/>
          <p:nvPr/>
        </p:nvSpPr>
        <p:spPr>
          <a:xfrm>
            <a:off x="640080" y="3355848"/>
            <a:ext cx="5303520" cy="274320"/>
          </a:xfrm>
          <a:prstGeom prst="rect">
            <a:avLst/>
          </a:prstGeom>
          <a:noFill/>
          <a:ln/>
        </p:spPr>
        <p:txBody>
          <a:bodyPr wrap="square" lIns="0" tIns="0" rIns="0" bIns="0" rtlCol="0" anchor="ctr"/>
          <a:lstStyle/>
          <a:p>
            <a:pPr indent="0" marL="0">
              <a:lnSpc>
                <a:spcPct val="110000"/>
              </a:lnSpc>
              <a:buNone/>
            </a:pPr>
            <a:r>
              <a:rPr lang="en-US" sz="1000" i="1" dirty="0">
                <a:solidFill>
                  <a:srgbClr val="6E6E6E"/>
                </a:solidFill>
                <a:latin typeface="Calibri" pitchFamily="34" charset="0"/>
                <a:ea typeface="Calibri" pitchFamily="34" charset="-122"/>
                <a:cs typeface="Calibri" pitchFamily="34" charset="-120"/>
              </a:rPr>
              <a:t>The download answers only the first.</a:t>
            </a:r>
            <a:endParaRPr lang="en-US" sz="1000" dirty="0"/>
          </a:p>
        </p:txBody>
      </p:sp>
      <p:sp>
        <p:nvSpPr>
          <p:cNvPr id="25" name="Text 23"/>
          <p:cNvSpPr txBox="1"/>
          <p:nvPr/>
        </p:nvSpPr>
        <p:spPr>
          <a:xfrm>
            <a:off x="6263640" y="2167128"/>
            <a:ext cx="5285232" cy="256032"/>
          </a:xfrm>
          <a:prstGeom prst="rect">
            <a:avLst/>
          </a:prstGeom>
          <a:noFill/>
          <a:ln/>
        </p:spPr>
        <p:txBody>
          <a:bodyPr wrap="square" lIns="0" tIns="0" rIns="0" bIns="0" rtlCol="0" anchor="ctr"/>
          <a:lstStyle/>
          <a:p>
            <a:pPr indent="0" marL="0">
              <a:buNone/>
            </a:pPr>
            <a:r>
              <a:rPr lang="en-US" sz="1200" b="1" dirty="0">
                <a:solidFill>
                  <a:srgbClr val="000000"/>
                </a:solidFill>
                <a:latin typeface="Calibri" pitchFamily="34" charset="0"/>
                <a:ea typeface="Calibri" pitchFamily="34" charset="-122"/>
                <a:cs typeface="Calibri" pitchFamily="34" charset="-120"/>
              </a:rPr>
              <a:t>Do not put these in a justification letter — they will not work</a:t>
            </a:r>
            <a:endParaRPr lang="en-US" sz="1200" dirty="0"/>
          </a:p>
        </p:txBody>
      </p:sp>
      <p:sp>
        <p:nvSpPr>
          <p:cNvPr id="26" name="Text 24"/>
          <p:cNvSpPr txBox="1"/>
          <p:nvPr/>
        </p:nvSpPr>
        <p:spPr>
          <a:xfrm>
            <a:off x="6309360" y="2441448"/>
            <a:ext cx="5239512" cy="1554480"/>
          </a:xfrm>
          <a:prstGeom prst="rect">
            <a:avLst/>
          </a:prstGeom>
          <a:noFill/>
          <a:ln/>
        </p:spPr>
        <p:txBody>
          <a:bodyPr wrap="square" lIns="0" tIns="0" rIns="0" bIns="0" rtlCol="0" anchor="t"/>
          <a:lstStyle/>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Need for portability</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Need for an internal battery because home power is unstable</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Need for air travel</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Need for multimodal support — cough assist, nebulizer, suction</a:t>
            </a:r>
            <a:endParaRPr lang="en-US" sz="1150" dirty="0"/>
          </a:p>
          <a:p>
            <a:pPr marL="165100" indent="-165100">
              <a:lnSpc>
                <a:spcPct val="115000"/>
              </a:lnSpc>
              <a:spcAft>
                <a:spcPts val="700"/>
              </a:spcAft>
              <a:buSzPct val="100000"/>
              <a:buChar char="•"/>
            </a:pPr>
            <a:r>
              <a:rPr lang="en-US" sz="1150" dirty="0">
                <a:solidFill>
                  <a:srgbClr val="1A1A1A"/>
                </a:solidFill>
                <a:latin typeface="Calibri" pitchFamily="34" charset="0"/>
                <a:ea typeface="Calibri" pitchFamily="34" charset="-122"/>
                <a:cs typeface="Calibri" pitchFamily="34" charset="-120"/>
              </a:rPr>
              <a:t>Improvement on a hospital ventilator running settings the patient's own bilevel could deliver</a:t>
            </a:r>
            <a:endParaRPr lang="en-US" sz="1150" dirty="0"/>
          </a:p>
        </p:txBody>
      </p:sp>
      <p:sp>
        <p:nvSpPr>
          <p:cNvPr id="27" name="Shape 25"/>
          <p:cNvSpPr/>
          <p:nvPr/>
        </p:nvSpPr>
        <p:spPr>
          <a:xfrm>
            <a:off x="640080" y="5074920"/>
            <a:ext cx="10911535" cy="841248"/>
          </a:xfrm>
          <a:prstGeom prst="rect">
            <a:avLst/>
          </a:prstGeom>
          <a:solidFill>
            <a:srgbClr val="F2F2F2"/>
          </a:solidFill>
          <a:ln w="12700">
            <a:solidFill>
              <a:srgbClr val="F2F2F2"/>
            </a:solidFill>
            <a:prstDash val="solid"/>
          </a:ln>
        </p:spPr>
      </p:sp>
      <p:sp>
        <p:nvSpPr>
          <p:cNvPr id="28" name="Text 26"/>
          <p:cNvSpPr txBox="1"/>
          <p:nvPr/>
        </p:nvSpPr>
        <p:spPr>
          <a:xfrm>
            <a:off x="841248" y="5074920"/>
            <a:ext cx="10509199" cy="841248"/>
          </a:xfrm>
          <a:prstGeom prst="rect">
            <a:avLst/>
          </a:prstGeom>
          <a:noFill/>
          <a:ln/>
        </p:spPr>
        <p:txBody>
          <a:bodyPr wrap="square" lIns="0" tIns="0" rIns="0" bIns="0" rtlCol="0" anchor="ctr"/>
          <a:lstStyle/>
          <a:p>
            <a:pPr indent="0" marL="0">
              <a:lnSpc>
                <a:spcPct val="112000"/>
              </a:lnSpc>
              <a:buNone/>
            </a:pPr>
            <a:r>
              <a:rPr lang="en-US" sz="1150" b="1" dirty="0">
                <a:solidFill>
                  <a:srgbClr val="000000"/>
                </a:solidFill>
                <a:latin typeface="Calibri" pitchFamily="34" charset="0"/>
                <a:ea typeface="Calibri" pitchFamily="34" charset="-122"/>
                <a:cs typeface="Calibri" pitchFamily="34" charset="-120"/>
              </a:rPr>
              <a:t>New, and worth flagging.   </a:t>
            </a:r>
            <a:pPr indent="0" marL="0">
              <a:lnSpc>
                <a:spcPct val="112000"/>
              </a:lnSpc>
              <a:buNone/>
            </a:pPr>
            <a:r>
              <a:rPr lang="en-US" sz="1150" dirty="0">
                <a:solidFill>
                  <a:srgbClr val="000000"/>
                </a:solidFill>
                <a:latin typeface="Calibri" pitchFamily="34" charset="0"/>
                <a:ea typeface="Calibri" pitchFamily="34" charset="-122"/>
                <a:cs typeface="Calibri" pitchFamily="34" charset="-120"/>
              </a:rPr>
              <a:t>Effective October 28, 2026, E0466 / E0467 / E0468 join the Face-to-Face Encounter and Written Order Prior to Delivery list. A home NIV ordered without a documented pre-delivery visit and written order is not payable — regardless of NCD 240.9. E0465 and the RAD codes are not on the list, and this is not prior authorization.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6336792"/>
            <a:ext cx="10362895" cy="237744"/>
          </a:xfrm>
          <a:prstGeom prst="rect">
            <a:avLst/>
          </a:prstGeom>
          <a:noFill/>
          <a:ln/>
        </p:spPr>
        <p:txBody>
          <a:bodyPr wrap="square" lIns="0" tIns="0" rIns="0" bIns="0" rtlCol="0" anchor="ctr"/>
          <a:lstStyle/>
          <a:p>
            <a:pPr indent="0" marL="0">
              <a:buNone/>
            </a:pPr>
            <a:r>
              <a:rPr lang="en-US" sz="900" spc="110" kern="0" dirty="0">
                <a:solidFill>
                  <a:srgbClr val="6E6E6E"/>
                </a:solidFill>
                <a:latin typeface="Calibri" pitchFamily="34" charset="0"/>
                <a:ea typeface="Calibri" pitchFamily="34" charset="-122"/>
                <a:cs typeface="Calibri" pitchFamily="34" charset="-120"/>
              </a:rPr>
              <a:t>VII · CLOSE</a:t>
            </a:r>
            <a:endParaRPr lang="en-US" sz="900" dirty="0"/>
          </a:p>
        </p:txBody>
      </p:sp>
      <p:sp>
        <p:nvSpPr>
          <p:cNvPr id="3" name="Text 1"/>
          <p:cNvSpPr txBox="1"/>
          <p:nvPr/>
        </p:nvSpPr>
        <p:spPr>
          <a:xfrm>
            <a:off x="11002975" y="6336792"/>
            <a:ext cx="548640" cy="237744"/>
          </a:xfrm>
          <a:prstGeom prst="rect">
            <a:avLst/>
          </a:prstGeom>
          <a:noFill/>
          <a:ln/>
        </p:spPr>
        <p:txBody>
          <a:bodyPr wrap="square" lIns="0" tIns="0" rIns="0" bIns="0" rtlCol="0" anchor="ctr"/>
          <a:lstStyle/>
          <a:p>
            <a:pPr algn="r" indent="0" marL="0">
              <a:buNone/>
            </a:pPr>
            <a:r>
              <a:rPr lang="en-US" sz="900" dirty="0">
                <a:solidFill>
                  <a:srgbClr val="6E6E6E"/>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640080" y="384048"/>
            <a:ext cx="10911535" cy="566928"/>
          </a:xfrm>
          <a:prstGeom prst="rect">
            <a:avLst/>
          </a:prstGeom>
          <a:noFill/>
          <a:ln/>
        </p:spPr>
        <p:txBody>
          <a:bodyPr wrap="square" lIns="0" tIns="0" rIns="0" bIns="0" rtlCol="0" anchor="t"/>
          <a:lstStyle/>
          <a:p>
            <a:pPr indent="0" marL="0">
              <a:buNone/>
            </a:pPr>
            <a:r>
              <a:rPr lang="en-US" sz="2700" b="1" dirty="0">
                <a:solidFill>
                  <a:srgbClr val="000000"/>
                </a:solidFill>
                <a:latin typeface="Cambria" pitchFamily="34" charset="0"/>
                <a:ea typeface="Cambria" pitchFamily="34" charset="-122"/>
                <a:cs typeface="Cambria" pitchFamily="34" charset="-120"/>
              </a:rPr>
              <a:t>Return to the three patients</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11535" cy="914400"/>
        </p:xfrm>
        <a:graphic>
          <a:graphicData uri="http://schemas.openxmlformats.org/drawingml/2006/table">
            <a:tbl>
              <a:tblPr/>
              <a:tblGrid>
                <a:gridCol w="1600200"/>
                <a:gridCol w="2606040"/>
                <a:gridCol w="4160520"/>
                <a:gridCol w="2542032"/>
              </a:tblGrid>
              <a:tr h="0">
                <a:tc>
                  <a:txBody>
                    <a:bodyPr/>
                    <a:lstStyle/>
                    <a:p>
                      <a:pPr indent="0" marL="0">
                        <a:buNone/>
                      </a:pP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Physiologic goal</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Required capabilities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Coverage route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solidFill>
                      <a:srgbClr val="F2F2F2"/>
                    </a:solidFill>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A  ·  OSA</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Splint the airway</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CPAP. Nothing more</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E0601, LCD L33718</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B  ·  COPD</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Reduce PaCO₂ meaningfully</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High-intensity BPAP S/T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E0471, NCD 240.9 — or the discharge pathway if she leaves on it</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r h="0">
                <a:tc>
                  <a:txBody>
                    <a:bodyPr/>
                    <a:lstStyle/>
                    <a:p>
                      <a:pPr indent="0" marL="0">
                        <a:buNone/>
                      </a:pPr>
                      <a:r>
                        <a:rPr lang="en-US" sz="1100" b="1" dirty="0">
                          <a:solidFill>
                            <a:srgbClr val="1A1A1A"/>
                          </a:solidFill>
                          <a:latin typeface="Calibri" pitchFamily="34" charset="0"/>
                          <a:ea typeface="Calibri" pitchFamily="34" charset="-122"/>
                          <a:cs typeface="Calibri" pitchFamily="34" charset="-120"/>
                        </a:rPr>
                        <a:t>C  ·  ALS</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Follow a changing pump</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Starts as a RAD; becomes an HMV when daytime mouthpiece support, battery and alarms become the need</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L33800 on FVC/MIP criteria, then NCD 280.1</a:t>
                      </a:r>
                      <a:endParaRPr lang="en-US" sz="1100" dirty="0">
                        <a:latin typeface="Calibri" charset="0"/>
                        <a:ea typeface="Calibri" charset="0"/>
                        <a:cs typeface="Calibri" charset="0"/>
                      </a:endParaRPr>
                    </a:p>
                  </a:txBody>
                  <a:tcPr marL="0" marR="177800" marT="76200" marB="76200" anchor="t">
                    <a:lnL w="0" cap="flat" cmpd="sng" algn="ctr">
                      <a:noFill/>
                    </a:lnL>
                    <a:lnR w="0" cap="flat" cmpd="sng" algn="ctr">
                      <a:noFill/>
                    </a:lnR>
                    <a:lnT w="9525" cap="flat" cmpd="sng" algn="ctr">
                      <a:solidFill>
                        <a:srgbClr val="C8C8C8"/>
                      </a:solidFill>
                      <a:prstDash val="solid"/>
                      <a:round/>
                      <a:headEnd type="none" w="med" len="med"/>
                      <a:tailEnd type="none" w="med" len="med"/>
                    </a:lnT>
                    <a:lnB w="9525" cap="flat" cmpd="sng" algn="ctr">
                      <a:solidFill>
                        <a:srgbClr val="C8C8C8"/>
                      </a:solidFill>
                      <a:prstDash val="solid"/>
                      <a:round/>
                      <a:headEnd type="none" w="med" len="med"/>
                      <a:tailEnd type="none" w="med" len="med"/>
                    </a:lnB>
                  </a:tcPr>
                </a:tc>
              </a:tr>
            </a:tbl>
          </a:graphicData>
        </a:graphic>
      </p:graphicFrame>
      <p:sp>
        <p:nvSpPr>
          <p:cNvPr id="6" name="Shape 3"/>
          <p:cNvSpPr/>
          <p:nvPr/>
        </p:nvSpPr>
        <p:spPr>
          <a:xfrm>
            <a:off x="640080" y="3639312"/>
            <a:ext cx="10911535" cy="0"/>
          </a:xfrm>
          <a:prstGeom prst="line">
            <a:avLst/>
          </a:prstGeom>
          <a:noFill/>
          <a:ln w="15875">
            <a:solidFill>
              <a:srgbClr val="000000"/>
            </a:solidFill>
            <a:prstDash val="solid"/>
          </a:ln>
        </p:spPr>
      </p:sp>
      <p:sp>
        <p:nvSpPr>
          <p:cNvPr id="7" name="Text 4"/>
          <p:cNvSpPr txBox="1"/>
          <p:nvPr/>
        </p:nvSpPr>
        <p:spPr>
          <a:xfrm>
            <a:off x="640080" y="3767328"/>
            <a:ext cx="10911535" cy="27432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Three things to retain</a:t>
            </a:r>
            <a:endParaRPr lang="en-US" sz="1600" dirty="0"/>
          </a:p>
        </p:txBody>
      </p:sp>
      <p:sp>
        <p:nvSpPr>
          <p:cNvPr id="8" name="Text 5"/>
          <p:cNvSpPr txBox="1"/>
          <p:nvPr/>
        </p:nvSpPr>
        <p:spPr>
          <a:xfrm>
            <a:off x="640080" y="4133088"/>
            <a:ext cx="365760" cy="310896"/>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640080" y="4480560"/>
            <a:ext cx="3401568" cy="566928"/>
          </a:xfrm>
          <a:prstGeom prst="rect">
            <a:avLst/>
          </a:prstGeom>
          <a:noFill/>
          <a:ln/>
        </p:spPr>
        <p:txBody>
          <a:bodyPr wrap="square" lIns="0" tIns="0" rIns="0" bIns="0" rtlCol="0" anchor="ctr"/>
          <a:lstStyle/>
          <a:p>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A treatment mode is not a device class.</a:t>
            </a:r>
            <a:endParaRPr lang="en-US" sz="1250" dirty="0"/>
          </a:p>
        </p:txBody>
      </p:sp>
      <p:sp>
        <p:nvSpPr>
          <p:cNvPr id="10" name="Text 7"/>
          <p:cNvSpPr txBox="1"/>
          <p:nvPr/>
        </p:nvSpPr>
        <p:spPr>
          <a:xfrm>
            <a:off x="640080" y="5084064"/>
            <a:ext cx="3401568" cy="73152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Bilevel S/T exists on both sides of the reimbursement line.</a:t>
            </a:r>
            <a:endParaRPr lang="en-US" sz="1150" dirty="0"/>
          </a:p>
        </p:txBody>
      </p:sp>
      <p:sp>
        <p:nvSpPr>
          <p:cNvPr id="11" name="Text 8"/>
          <p:cNvSpPr txBox="1"/>
          <p:nvPr/>
        </p:nvSpPr>
        <p:spPr>
          <a:xfrm>
            <a:off x="4398264" y="4133088"/>
            <a:ext cx="365760" cy="310896"/>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4398264" y="4480560"/>
            <a:ext cx="3401568" cy="566928"/>
          </a:xfrm>
          <a:prstGeom prst="rect">
            <a:avLst/>
          </a:prstGeom>
          <a:noFill/>
          <a:ln/>
        </p:spPr>
        <p:txBody>
          <a:bodyPr wrap="square" lIns="0" tIns="0" rIns="0" bIns="0" rtlCol="0" anchor="ctr"/>
          <a:lstStyle/>
          <a:p>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Choose capabilities from clinical need and consequence of interruption.</a:t>
            </a:r>
            <a:endParaRPr lang="en-US" sz="1250" dirty="0"/>
          </a:p>
        </p:txBody>
      </p:sp>
      <p:sp>
        <p:nvSpPr>
          <p:cNvPr id="13" name="Text 10"/>
          <p:cNvSpPr txBox="1"/>
          <p:nvPr/>
        </p:nvSpPr>
        <p:spPr>
          <a:xfrm>
            <a:off x="4398264" y="5084064"/>
            <a:ext cx="3401568" cy="73152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Battery, alarms, daytime interface, invasive route. Everything else has converged.</a:t>
            </a:r>
            <a:endParaRPr lang="en-US" sz="1150" dirty="0"/>
          </a:p>
        </p:txBody>
      </p:sp>
      <p:sp>
        <p:nvSpPr>
          <p:cNvPr id="14" name="Text 11"/>
          <p:cNvSpPr txBox="1"/>
          <p:nvPr/>
        </p:nvSpPr>
        <p:spPr>
          <a:xfrm>
            <a:off x="8156448" y="4133088"/>
            <a:ext cx="365760" cy="310896"/>
          </a:xfrm>
          <a:prstGeom prst="rect">
            <a:avLst/>
          </a:prstGeom>
          <a:noFill/>
          <a:ln/>
        </p:spPr>
        <p:txBody>
          <a:bodyPr wrap="square" lIns="0" tIns="0" rIns="0" bIns="0" rtlCol="0" anchor="ctr"/>
          <a:lstStyle/>
          <a:p>
            <a:pPr indent="0" marL="0">
              <a:buNone/>
            </a:pPr>
            <a:r>
              <a:rPr lang="en-US" sz="1800" b="1" dirty="0">
                <a:solidFill>
                  <a:srgbClr val="000000"/>
                </a:solidFill>
                <a:latin typeface="Cambria" pitchFamily="34" charset="0"/>
                <a:ea typeface="Cambria" pitchFamily="34" charset="-122"/>
                <a:cs typeface="Cambria" pitchFamily="34" charset="-120"/>
              </a:rPr>
              <a:t>3</a:t>
            </a:r>
            <a:endParaRPr lang="en-US" sz="1800" dirty="0"/>
          </a:p>
        </p:txBody>
      </p:sp>
      <p:sp>
        <p:nvSpPr>
          <p:cNvPr id="15" name="Text 12"/>
          <p:cNvSpPr txBox="1"/>
          <p:nvPr/>
        </p:nvSpPr>
        <p:spPr>
          <a:xfrm>
            <a:off x="8156448" y="4480560"/>
            <a:ext cx="3401568" cy="566928"/>
          </a:xfrm>
          <a:prstGeom prst="rect">
            <a:avLst/>
          </a:prstGeom>
          <a:noFill/>
          <a:ln/>
        </p:spPr>
        <p:txBody>
          <a:bodyPr wrap="square" lIns="0" tIns="0" rIns="0" bIns="0" rtlCol="0" anchor="ctr"/>
          <a:lstStyle/>
          <a:p>
            <a:pPr indent="0" marL="0">
              <a:lnSpc>
                <a:spcPct val="112000"/>
              </a:lnSpc>
              <a:buNone/>
            </a:pPr>
            <a:r>
              <a:rPr lang="en-US" sz="1250" b="1" dirty="0">
                <a:solidFill>
                  <a:srgbClr val="000000"/>
                </a:solidFill>
                <a:latin typeface="Calibri" pitchFamily="34" charset="0"/>
                <a:ea typeface="Calibri" pitchFamily="34" charset="-122"/>
                <a:cs typeface="Calibri" pitchFamily="34" charset="-120"/>
              </a:rPr>
              <a:t>The categories are historical artifacts, not physiology.</a:t>
            </a:r>
            <a:endParaRPr lang="en-US" sz="1250" dirty="0"/>
          </a:p>
        </p:txBody>
      </p:sp>
      <p:sp>
        <p:nvSpPr>
          <p:cNvPr id="16" name="Text 13"/>
          <p:cNvSpPr txBox="1"/>
          <p:nvPr/>
        </p:nvSpPr>
        <p:spPr>
          <a:xfrm>
            <a:off x="8156448" y="5084064"/>
            <a:ext cx="3401568" cy="731520"/>
          </a:xfrm>
          <a:prstGeom prst="rect">
            <a:avLst/>
          </a:prstGeom>
          <a:noFill/>
          <a:ln/>
        </p:spPr>
        <p:txBody>
          <a:bodyPr wrap="square" lIns="0" tIns="0" rIns="0" bIns="0" rtlCol="0" anchor="ctr"/>
          <a:lstStyle/>
          <a:p>
            <a:pPr indent="0" marL="0">
              <a:lnSpc>
                <a:spcPct val="115000"/>
              </a:lnSpc>
              <a:buNone/>
            </a:pPr>
            <a:r>
              <a:rPr lang="en-US" sz="1150" dirty="0">
                <a:solidFill>
                  <a:srgbClr val="1A1A1A"/>
                </a:solidFill>
                <a:latin typeface="Calibri" pitchFamily="34" charset="0"/>
                <a:ea typeface="Calibri" pitchFamily="34" charset="-122"/>
                <a:cs typeface="Calibri" pitchFamily="34" charset="-120"/>
              </a:rPr>
              <a:t>A 1992 marketing sentence, a 1993 statute, a 1998 spending alarm. Knowing that is what lets you argue with the denial letter.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 RADs, and Home Mechanical Ventilators</dc:title>
  <dc:subject>PptxGenJS Presentation</dc:subject>
  <dc:creator>Brian Locke</dc:creator>
  <cp:lastModifiedBy>Brian Locke</cp:lastModifiedBy>
  <cp:revision>1</cp:revision>
  <dcterms:created xsi:type="dcterms:W3CDTF">2026-09-18T01:28:26Z</dcterms:created>
  <dcterms:modified xsi:type="dcterms:W3CDTF">2026-09-18T01:28:26Z</dcterms:modified>
</cp:coreProperties>
</file>