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S01 | PAP, RADs, HMVs</a:t>
            </a:r>
          </a:p>
          <a:p>
            <a:r>
              <a:t>Overview</a:t>
            </a:r>
          </a:p>
          <a:p/>
          <a:p>
            <a:r>
              <a:t>Scope and organization</a:t>
            </a:r>
          </a:p>
          <a:p/>
          <a:p>
            <a:r>
              <a:t>The three terms refer to overlapping clinical and administrative concepts. Positive airway pressure (PAP) describes a family of pressure-based treatments. Respiratory assist device (RAD) is a Medicare equipment category for bilevel devices. Home mechanical ventilation (HMV) can describe the clinical practice of ventilation outside hospital or a ventilator-class platform. In this package, HMV denotes a home mechanical ventilator when the discussion concerns equipment coding. [R05] [R13] [R16]</a:t>
            </a:r>
          </a:p>
          <a:p/>
          <a:p>
            <a:r>
              <a:t>The sequence is home mechanical ventilation, sleep-apnea/PAP treatment, the emergence of RAD classification, and the current combined landscape. The first three sections are development pathways rather than mutually exclusive inventions. Bilevel devices borrowed technology from CPAP systems and were also used for disorders already managed with ventilators. [R05] [R12]</a:t>
            </a:r>
          </a:p>
          <a:p/>
          <a:p>
            <a:r>
              <a:t>The coverage discussion concerns Original Medicare unless another payer is named. The clinical scope is principally adult home respiratory support. Pediatric ventilation and Medicaid appear in the historical account of home care, rather than as a comprehensive pediatric treatment or state-benefit review. [R06] [R23]</a:t>
            </a:r>
          </a:p>
          <a:p/>
          <a:p>
            <a:r>
              <a:t>Evidence and date conventions</a:t>
            </a:r>
          </a:p>
          <a:p/>
          <a:p>
            <a:r>
              <a:t>Clinical findings retain their study populations and endpoints. Guideline recommendations are identified as recommendations, not presented as trial results. Historical observations, retrospective historical accounts, and present coverage requirements are separate evidence types. The evidence cutoff is September 19, 2026. A policy's announcement, effective date, and claims-system implementation date may differ. [R13] [R16] [R22]</a:t>
            </a:r>
          </a:p>
          <a:p/>
          <a:p>
            <a:r>
              <a:t>The presentation contains 26 main slides, with a nominal 40-minute content allocation, and 12 hidden reference slides. The companion supplies additional factual context and source limitations. It contains no learner exercises or presenter script.</a:t>
            </a:r>
          </a:p>
          <a:p/>
          <a:p>
            <a:r>
              <a:t>REFERENCES</a:t>
            </a:r>
          </a:p>
          <a:p>
            <a:r>
              <a:t>R05: Hind M, Polkey MI, Simonds AK. Homeward Bound: A Centenary of Home Mechanical Ventilation. Am J Respir Crit Care Med. 2017;195(9):1140–1149.</a:t>
            </a:r>
          </a:p>
          <a:p>
            <a:r>
              <a:t>https://doi.org/10.1164/rccm.201702-0285CI</a:t>
            </a:r>
          </a:p>
          <a:p/>
          <a:p>
            <a:r>
              <a:t>R06: King AC. Long-Term Home Mechanical Ventilation in the United States. Respir Care. 2012;57(6):921–930.</a:t>
            </a:r>
          </a:p>
          <a:p>
            <a:r>
              <a:t>https://doi.org/10.4187/respcare.01741</a:t>
            </a:r>
          </a:p>
          <a:p/>
          <a:p>
            <a:r>
              <a:t>R12: Sanders MH, Kern N. Obstructive sleep apnea treated by independently adjusted inspiratory and expiratory positive airway pressures via nasal mask. Chest. 1990;98:317–324.</a:t>
            </a:r>
          </a:p>
          <a:p>
            <a:r>
              <a:t>https://doi.org/10.1378/chest.98.2.317</a:t>
            </a:r>
          </a:p>
          <a:p/>
          <a:p>
            <a:r>
              <a:t>R13: CMS. Medicare Program; Payment for Respiratory Assist Devices With Bi-Level Capability and a Backup Rate. Final rule. 71 FR 4518–4525. January 27, 2006. Effective April 1, 2006.</a:t>
            </a:r>
          </a:p>
          <a:p>
            <a:r>
              <a:t>https://www.govinfo.gov/content/pkg/FR-2006-01-27/html/06-798.htm</a:t>
            </a:r>
          </a:p>
          <a:p/>
          <a:p>
            <a:r>
              <a:t>R16: CMS. NCD 240.9: Noninvasive Positive Pressure Ventilation in the Home for Chronic Respiratory Failure Consequent to COPD. Version effective June 9, 2025.</a:t>
            </a:r>
          </a:p>
          <a:p>
            <a:r>
              <a:t>https://www.cms.gov/medicare-coverage-database/view/ncd.aspx?ncdid=380&amp;ncdver=1</a:t>
            </a:r>
          </a:p>
          <a:p/>
          <a:p>
            <a:r>
              <a:t>R22: CGS. New Codes Added to Required Face-to-Face and Written Order Prior To Delivery List – Effective October 28, 2026. September 10, 2026.</a:t>
            </a:r>
          </a:p>
          <a:p>
            <a:r>
              <a:t>https://www.cgsmedicare.com/jc/pubs/news/2026/09/news-210620.html</a:t>
            </a:r>
          </a:p>
          <a:p/>
          <a:p>
            <a:r>
              <a:t>R23: Utah Medicaid. Utah Medicaid Criteria.</a:t>
            </a:r>
          </a:p>
          <a:p>
            <a:r>
              <a:t>https://medicaid.utah.gov/utah-medicaid-criteria/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S02 | Poliomyelitis and respiratory paralysis</a:t>
            </a:r>
          </a:p>
          <a:p>
            <a:r>
              <a:t>I · Home mechanical ventilation</a:t>
            </a:r>
          </a:p>
          <a:p/>
          <a:p>
            <a:r>
              <a:t>Original clinical context</a:t>
            </a:r>
          </a:p>
          <a:p/>
          <a:p>
            <a:r>
              <a:t>Poliomyelitis produced respiratory muscle weakness or paralysis and, in some patients, bulbar dysfunction. Tank ventilators generated negative pressure around the thorax while the head remained outside the chamber. Their use in the twentieth-century epidemics was an important setting for prolonged mechanical support. It was not the first use of positive or negative pressure to assist breathing. [R05]</a:t>
            </a:r>
          </a:p>
          <a:p/>
          <a:p>
            <a:r>
              <a:t>Hind and colleagues describe earlier negative-pressure cabinets, Dräger's 1907 resuscitation device, and the iron-lung developments associated with Drinker and Emerson. These devices differ in operating principle and clinical application. A resuscitation device used briefly after an industrial accident is not the same care arrangement as weeks or years of ventilatory support. [R05]</a:t>
            </a:r>
          </a:p>
          <a:p/>
          <a:p>
            <a:r>
              <a:t>Copenhagen, 1952</a:t>
            </a:r>
          </a:p>
          <a:p/>
          <a:p>
            <a:r>
              <a:t>The Copenhagen epidemic exposed both an equipment shortage and limitations of negative-pressure support in some patients with bulbar involvement. Tracheotomy, airway care, and prolonged positive-pressure ventilation became central to the response. Medical students provided manual ventilation in shifts. The episode is associated with the organization of sustained intensive care as well as with ventilator development. [R05] [R07] [R08]</a:t>
            </a:r>
          </a:p>
          <a:p/>
          <a:p>
            <a:r>
              <a:t>The published excerpt of Hannah Wunsch's *The Autumn Ghost* follows twelve-year-old Vivi Ebert during this epidemic. The book excerpt and interview are the sources used here; the complete book was not reviewed for this package. No additional dialogue or patient details have been reconstructed. [R07]</a:t>
            </a:r>
          </a:p>
          <a:p/>
          <a:p>
            <a:r>
              <a:t>Historical limits</a:t>
            </a:r>
          </a:p>
          <a:p/>
          <a:p>
            <a:r>
              <a:t>The early mortality comparisons were not randomized evaluations and involved changing airway management, staffing, and selection as well as ventilation. This slide therefore does not assign a precise causal mortality effect to positive pressure alone. The iron-lung photograph is illustrative. Its source caption does not identify Copenhagen, Vivi Ebert, a particular institution, or a particular date. [R05] [R08]</a:t>
            </a:r>
          </a:p>
          <a:p/>
          <a:p>
            <a:r>
              <a:t>The clinical population consisted of people with persistent respiratory impairment after poliomyelitis. That description is distinct from post-polio syndrome, which concerns later deterioration after a period of recovery. The history here concerns the establishment of sustained respiratory support and the needs of survivors.</a:t>
            </a:r>
          </a:p>
          <a:p/>
          <a:p>
            <a:r>
              <a:t>SOURCE QUALIFICATION</a:t>
            </a:r>
          </a:p>
          <a:p>
            <a:r>
              <a:t>Historical review and published book excerpt; no reconstructed patient outcome comparison.</a:t>
            </a:r>
          </a:p>
          <a:p/>
          <a:p>
            <a:r>
              <a:t>REFERENCES</a:t>
            </a:r>
          </a:p>
          <a:p>
            <a:r>
              <a:t>R05: Hind M, Polkey MI, Simonds AK. Homeward Bound: A Centenary of Home Mechanical Ventilation. Am J Respir Crit Care Med. 2017;195(9):1140–1149.</a:t>
            </a:r>
          </a:p>
          <a:p>
            <a:r>
              <a:t>https://doi.org/10.1164/rccm.201702-0285CI</a:t>
            </a:r>
          </a:p>
          <a:p/>
          <a:p>
            <a:r>
              <a:t>R07: Wunsch H. The Autumn Ghost. Greystone Books; 2023. Published excerpt and author interview, September 18, 2023.</a:t>
            </a:r>
          </a:p>
          <a:p>
            <a:r>
              <a:t>https://www.wbur.org/hereandnow/2023/09/18/the-autumn-ghost-polio</a:t>
            </a:r>
          </a:p>
          <a:p/>
          <a:p>
            <a:r>
              <a:t>R08: Lassen HCA. A preliminary report on the 1952 epidemic of poliomyelitis in Copenhagen with special reference to the treatment of acute respiratory insufficiency. Lancet. 1953;1:37–41.</a:t>
            </a:r>
          </a:p>
          <a:p>
            <a:r>
              <a:t>https://doi.org/10.1016/S0140-6736(53)92530-6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S03 | Long-term ventilation outside hospital</a:t>
            </a:r>
          </a:p>
          <a:p>
            <a:r>
              <a:t>I · Home mechanical ventilation</a:t>
            </a:r>
          </a:p>
          <a:p/>
          <a:p>
            <a:r>
              <a:t>Philanthropic support and survivor care</a:t>
            </a:r>
          </a:p>
          <a:p/>
          <a:p>
            <a:r>
              <a:t>The March of Dimes institutional history records that the organization paid for and transported thousands of iron lungs during the 1946 epidemics. The organization also supported vaccine development and field testing. Equipment mobilization and long-term survivor care were related but distinct activities. The introduction of vaccination did not remove the respiratory care needs of people who had already survived paralytic disease. [R09]</a:t>
            </a:r>
          </a:p>
          <a:p/>
          <a:p>
            <a:r>
              <a:t>Historical reviews describe polio survivors living outside hospital with tanks, cuirasses, or negative-pressure jackets. Home mechanical ventilation therefore predates compact modern positive-pressure ventilators. The technology, assistance available in the household, and arrangements for maintenance all affected the feasibility of home care. [R05] [R06]</a:t>
            </a:r>
          </a:p>
          <a:p/>
          <a:p>
            <a:r>
              <a:t>Portable positive-pressure ventilation</a:t>
            </a:r>
          </a:p>
          <a:p/>
          <a:p>
            <a:r>
              <a:t>King dates the approval of the LP3 portable volume ventilator for out-of-hospital use to 1977. Her account also describes early pediatric home-ventilation programs. The particular account of Allen Goldberg importing experience from France is explicitly based on a personal communication in that review; it is not an independently retrieved archival description. [R06]</a:t>
            </a:r>
          </a:p>
          <a:p/>
          <a:p>
            <a:r>
              <a:t>Home support expanded beyond polio to neuromuscular disease, chest-wall disorders, congenital conditions, and survivors of other respiratory illnesses. Ventilatory dependence ranged from nocturnal assistance to near-continuous support. The terms home ventilation and tracheostomy ventilation were never exact synonyms. [R05] [R06]</a:t>
            </a:r>
          </a:p>
          <a:p/>
          <a:p>
            <a:r>
              <a:t>Financing and Medicaid</a:t>
            </a:r>
          </a:p>
          <a:p/>
          <a:p>
            <a:r>
              <a:t>The Katie Beckett case in 1981 illustrates the difference between a clinically feasible home-care arrangement and eligibility rules that had favored institutional care. The 1982 TEFRA option subsequently allowed participating states to disregard parental income for certain children who would otherwise require an institutional level of care. The individual 1981 intervention and the later statutory option are different events. The benefit is Medicaid-related; it is not the source of the later Medicare RAD billing category. [R06]</a:t>
            </a:r>
          </a:p>
          <a:p/>
          <a:p>
            <a:r>
              <a:t>The official Georgia Medicaid program history dates the TEFRA option to 1982 and describes the parental-income disregard. That source is used for the statutory milestone, not as a Utah eligibility guide. Present-day Medicaid programs and plan processes remain separate from Original Medicare equipment rules. [R49] [R23]</a:t>
            </a:r>
          </a:p>
          <a:p/>
          <a:p>
            <a:r>
              <a:t>REFERENCES</a:t>
            </a:r>
          </a:p>
          <a:p>
            <a:r>
              <a:t>R05: Hind M, Polkey MI, Simonds AK. Homeward Bound: A Centenary of Home Mechanical Ventilation. Am J Respir Crit Care Med. 2017;195(9):1140–1149.</a:t>
            </a:r>
          </a:p>
          <a:p>
            <a:r>
              <a:t>https://doi.org/10.1164/rccm.201702-0285CI</a:t>
            </a:r>
          </a:p>
          <a:p/>
          <a:p>
            <a:r>
              <a:t>R06: King AC. Long-Term Home Mechanical Ventilation in the United States. Respir Care. 2012;57(6):921–930.</a:t>
            </a:r>
          </a:p>
          <a:p>
            <a:r>
              <a:t>https://doi.org/10.4187/respcare.01741</a:t>
            </a:r>
          </a:p>
          <a:p/>
          <a:p>
            <a:r>
              <a:t>R09: March of Dimes. Celebrate our history.</a:t>
            </a:r>
          </a:p>
          <a:p>
            <a:r>
              <a:t>https://www.marchofdimes.org/about-us/celebrate-our-history</a:t>
            </a:r>
          </a:p>
          <a:p/>
          <a:p>
            <a:r>
              <a:t>R23: Utah Medicaid. Utah Medicaid Criteria.</a:t>
            </a:r>
          </a:p>
          <a:p>
            <a:r>
              <a:t>https://medicaid.utah.gov/utah-medicaid-criteria/</a:t>
            </a:r>
          </a:p>
          <a:p/>
          <a:p>
            <a:r>
              <a:t>R49: Georgia Medicaid. TEFRA/Katie Beckett: statutory history and program description.</a:t>
            </a:r>
          </a:p>
          <a:p>
            <a:r>
              <a:t>https://medicaid.georgia.gov/programs/all-programs/tefrakatie-beckett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S04 | Home ventilators: design and payment context</a:t>
            </a:r>
          </a:p>
          <a:p>
            <a:r>
              <a:t>I · Home mechanical ventilation</a:t>
            </a:r>
          </a:p>
          <a:p/>
          <a:p>
            <a:r>
              <a:t>Equipment requirements</a:t>
            </a:r>
          </a:p>
          <a:p/>
          <a:p>
            <a:r>
              <a:t>The home-ventilator pathway developed around prolonged support for a respiratory system unable to sustain adequate ventilation. Dependence varied among patients. Some required continuous assistance; others used support during sleep or for part of the day. Relevant equipment features included available modes, circuits, alarms, power continuity, and operation outside hospital. These characteristics do not imply that every current ventilator has an identical feature set. [R05] [R06] [R16]</a:t>
            </a:r>
          </a:p>
          <a:p/>
          <a:p>
            <a:r>
              <a:t>The servicing-based payment category</a:t>
            </a:r>
          </a:p>
          <a:p/>
          <a:p>
            <a:r>
              <a:t>Medicare's frequent-and-substantial-servicing category is an equipment-payment arrangement. Continuing rental differs from capped rental followed by ownership. Current ventilator coding guidance describes an all-inclusive rental arrangement that includes the equipment and associated supplies, maintenance, repairs, and replacement. Clinical eligibility and correct coding remain separate requirements. [R13] [R20]</a:t>
            </a:r>
          </a:p>
          <a:p/>
          <a:p>
            <a:r>
              <a:t>The 2006 regulatory record distinguishes servicing of equipment from monitoring a patient's clinical condition. ONMAP likewise notes that the statute and regulations apply to equipment servicing, not to a guaranteed schedule of professional respiratory therapy visits. Practices described in historical reviews are therefore not a universal present-day professional-services entitlement. [R13] [R14]</a:t>
            </a:r>
          </a:p>
          <a:p/>
          <a:p>
            <a:r>
              <a:t>Polio-era coverage intent</a:t>
            </a:r>
          </a:p>
          <a:p/>
          <a:p>
            <a:r>
              <a:t>Gusman and Wolfe describe early ventilator coverage as having been developed around people with persistent respiratory failure after poliomyelitis. Their account states that the criteria were deliberately broad and that the population was expected to diminish. The passage is retrospective and uncited in their paper. It supplies historical interpretation but does not establish what every original policymaker believed. [R10]</a:t>
            </a:r>
          </a:p>
          <a:p/>
          <a:p>
            <a:r>
              <a:t>The supplied evidence does not establish that Medicare created today's three categories because it anticipated an indefinitely expanding post-polio population. The supported distinction is between the documented burden of long-term survivor care and the later authors' account of expectations about that population. The explicit statutory exclusions for CPAP and intermittent-assist devices are documented separately in the regulatory record. [R09] [R10] [R13]</a:t>
            </a:r>
          </a:p>
          <a:p/>
          <a:p>
            <a:r>
              <a:t>Current continuity</a:t>
            </a:r>
          </a:p>
          <a:p/>
          <a:p>
            <a:r>
              <a:t>NCD 280.1 continues to list ventilators for neuromuscular diseases, thoracic restrictive diseases, and chronic respiratory failure consequent to COPD, with the COPD cross-reference to NCD 240.9. The current national COPD criteria did not exist during the polio epidemics and are not being projected backward into that period. [R41] [R16]</a:t>
            </a:r>
          </a:p>
          <a:p/>
          <a:p>
            <a:r>
              <a:t>REFERENCES</a:t>
            </a:r>
          </a:p>
          <a:p>
            <a:r>
              <a:t>R05: Hind M, Polkey MI, Simonds AK. Homeward Bound: A Centenary of Home Mechanical Ventilation. Am J Respir Crit Care Med. 2017;195(9):1140–1149.</a:t>
            </a:r>
          </a:p>
          <a:p>
            <a:r>
              <a:t>https://doi.org/10.1164/rccm.201702-0285CI</a:t>
            </a:r>
          </a:p>
          <a:p/>
          <a:p>
            <a:r>
              <a:t>R06: King AC. Long-Term Home Mechanical Ventilation in the United States. Respir Care. 2012;57(6):921–930.</a:t>
            </a:r>
          </a:p>
          <a:p>
            <a:r>
              <a:t>https://doi.org/10.4187/respcare.01741</a:t>
            </a:r>
          </a:p>
          <a:p/>
          <a:p>
            <a:r>
              <a:t>R09: March of Dimes. Celebrate our history.</a:t>
            </a:r>
          </a:p>
          <a:p>
            <a:r>
              <a:t>https://www.marchofdimes.org/about-us/celebrate-our-history</a:t>
            </a:r>
          </a:p>
          <a:p/>
          <a:p>
            <a:r>
              <a:t>R10: Gusman E, Wolfe LF. Billing and Coding Guidance: Device and Discharge Planning. Sleep Med Clin. 2025.</a:t>
            </a:r>
          </a:p>
          <a:p>
            <a:r>
              <a:t>https://doi.org/10.1016/j.jsmc.2025.07.014</a:t>
            </a:r>
          </a:p>
          <a:p/>
          <a:p>
            <a:r>
              <a:t>R13: CMS. Medicare Program; Payment for Respiratory Assist Devices With Bi-Level Capability and a Backup Rate. Final rule. 71 FR 4518–4525. January 27, 2006. Effective April 1, 2006.</a:t>
            </a:r>
          </a:p>
          <a:p>
            <a:r>
              <a:t>https://www.govinfo.gov/content/pkg/FR-2006-01-27/html/06-798.htm</a:t>
            </a:r>
          </a:p>
          <a:p/>
          <a:p>
            <a:r>
              <a:t>R14: Gay PC, Owens RL, on behalf of the ONMAP Technical Expert Panel. Optimal NIV Medicare Access Promotion: Executive Summary. Chest. 2021;160(5):1808–1821.</a:t>
            </a:r>
          </a:p>
          <a:p>
            <a:r>
              <a:t>https://doi.org/10.1016/j.chest.2021.05.074</a:t>
            </a:r>
          </a:p>
          <a:p/>
          <a:p>
            <a:r>
              <a:t>R16: CMS. NCD 240.9: Noninvasive Positive Pressure Ventilation in the Home for Chronic Respiratory Failure Consequent to COPD. Version effective June 9, 2025.</a:t>
            </a:r>
          </a:p>
          <a:p>
            <a:r>
              <a:t>https://www.cms.gov/medicare-coverage-database/view/ncd.aspx?ncdid=380&amp;ncdver=1</a:t>
            </a:r>
          </a:p>
          <a:p/>
          <a:p>
            <a:r>
              <a:t>R20: Noridian. Correct Billing and Coding of Ventilators, revised.</a:t>
            </a:r>
          </a:p>
          <a:p>
            <a:r>
              <a:t>https://med.noridianmedicare.com/web/jadme/policies/dmd-articles/2025/correct-billing-and-coding-of-ventilators-revised-b</a:t>
            </a:r>
          </a:p>
          <a:p/>
          <a:p>
            <a:r>
              <a:t>R41: CMS. NCD 280.1: Durable Medical Equipment Reference List.</a:t>
            </a:r>
          </a:p>
          <a:p>
            <a:r>
              <a:t>https://www.cms.gov/medicare-coverage-database/view/ncd.aspx?ncdid=190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S05 | Sleep apnea: the original clinical problem</a:t>
            </a:r>
          </a:p>
          <a:p>
            <a:r>
              <a:t>II · Sleep apnea and PAP</a:t>
            </a:r>
          </a:p>
          <a:p/>
          <a:p>
            <a:r>
              <a:t>Clinical context</a:t>
            </a:r>
          </a:p>
          <a:p/>
          <a:p>
            <a:r>
              <a:t>The sleep-apnea pathway concerned recurrent obstruction of the upper airway during sleep. Obstructive apnea is characterized by absent airflow despite continuing respiratory effort. Repeated events can disrupt sleep and produce intermittent hypoxemia. These findings differ from persistent inability of the respiratory pump to generate adequate alveolar ventilation, although both mechanisms can be present in one patient. [R01] [R11]</a:t>
            </a:r>
          </a:p>
          <a:p/>
          <a:p>
            <a:r>
              <a:t>The early nasal CPAP report involved five patients with severe obstructive sleep apnea. That selected group is not a prevalence sample and does not represent the full spectrum subsequently defined by population sleep testing. The original research established an immediate treatment effect on airway obstruction, rather than long-term prevention of every cardiovascular outcome later associated with OSA. [R11]</a:t>
            </a:r>
          </a:p>
          <a:p/>
          <a:p>
            <a:r>
              <a:t>Design constraints</a:t>
            </a:r>
          </a:p>
          <a:p/>
          <a:p>
            <a:r>
              <a:t>The treatment required an interface that could be used through sleep and a source of enough pressure to maintain airway patency. A constant distending pressure could address the upper-airway problem without supplying a different pressure on every inspiration or a mandatory breathing rate. Spontaneous respiratory effort remained the source of the inspiratory cycle. [R11] [R44]</a:t>
            </a:r>
          </a:p>
          <a:p/>
          <a:p>
            <a:r>
              <a:t>Tolerance, mask fit, leakage, and the practicality of nightly use became major features of home therapy. Those are meaningful treatment constraints even when the patient is not dependent on a life-support ventilator. The equipment's initial use during sleep does not imply that OSA has no clinically important consequences. [R24] [R45]</a:t>
            </a:r>
          </a:p>
          <a:p/>
          <a:p>
            <a:r>
              <a:t>Relationship to hypercapnia</a:t>
            </a:r>
          </a:p>
          <a:p/>
          <a:p>
            <a:r>
              <a:t>OSA can coexist with obesity, obstructive lung disease, neuromuscular weakness, or altered respiratory drive. The contribution of OSA to sustained CO₂ retention depends in part on whether ventilation between events compensates for CO₂ accumulation during obstruction. Daytime hypercapnia is neither required for the OSA equipment pathway nor excluded from every patient with OSA. [R01] [R44]</a:t>
            </a:r>
          </a:p>
          <a:p/>
          <a:p>
            <a:r>
              <a:t>The airflow and effort traces on the slide are newly drawn schematic signals, not a polysomnogram from a study participant. They represent the defining contrast between airflow obstruction and ongoing effort, without implying a measured event duration or severity.</a:t>
            </a:r>
          </a:p>
          <a:p/>
          <a:p>
            <a:r>
              <a:t>REFERENCES</a:t>
            </a:r>
          </a:p>
          <a:p>
            <a:r>
              <a:t>R01: Locke BW, Brown JP, Sundar KM. The Role of Obstructive Sleep Apnea in Hypercapnic Respiratory Failure Identified in Critical Care, Emergency, Inpatient, and Outpatient Settings. Sleep Med Clin. 2024;19(2):339–356.</a:t>
            </a:r>
          </a:p>
          <a:p>
            <a:r>
              <a:t>https://doi.org/10.1016/j.jsmc.2024.02.012</a:t>
            </a:r>
          </a:p>
          <a:p/>
          <a:p>
            <a:r>
              <a:t>R11: Sullivan CE, Issa FG, Berthon-Jones M, Eves L. Reversal of obstructive sleep apnoea by continuous positive airway pressure applied through the nares. Lancet. 1981;1:862–865.</a:t>
            </a:r>
          </a:p>
          <a:p>
            <a:r>
              <a:t>https://doi.org/10.1016/S0140-6736(81)92140-1</a:t>
            </a:r>
          </a:p>
          <a:p/>
          <a:p>
            <a:r>
              <a:t>R24: Patil SP, et al. Treatment of Adult Obstructive Sleep Apnea with Positive Airway Pressure: An AASM Clinical Practice Guideline. J Clin Sleep Med. 2019;15:335–343.</a:t>
            </a:r>
          </a:p>
          <a:p>
            <a:r>
              <a:t>https://doi.org/10.5664/jcsm.7640</a:t>
            </a:r>
          </a:p>
          <a:p/>
          <a:p>
            <a:r>
              <a:t>R44: CMS. NCD 240.4: Continuous Positive Airway Pressure Therapy for Obstructive Sleep Apnea. Version 3, effective March 13, 2008.</a:t>
            </a:r>
          </a:p>
          <a:p>
            <a:r>
              <a:t>https://www.cms.gov/medicare-coverage-database/view/ncd.aspx?ncdid=226&amp;ncdver=3</a:t>
            </a:r>
          </a:p>
          <a:p/>
          <a:p>
            <a:r>
              <a:t>R45: Sullivan CE, Issa FG, Berthon-Jones M, McCauley VB, Costas LJ. Home treatment of obstructive sleep apnoea with continuous positive airway pressure applied through a nose-mask. Bull Eur Physiopathol Respir. 1984;20(1):49–54.</a:t>
            </a:r>
          </a:p>
          <a:p>
            <a:r>
              <a:t>https://pubmed.ncbi.nlm.nih.gov/6367865/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S06 | Nasal CPAP, 1981</a:t>
            </a:r>
          </a:p>
          <a:p>
            <a:r>
              <a:t>II · Sleep apnea and PAP</a:t>
            </a:r>
          </a:p>
          <a:p/>
          <a:p>
            <a:r>
              <a:t>Original observation</a:t>
            </a:r>
          </a:p>
          <a:p/>
          <a:p>
            <a:r>
              <a:t>Sullivan, Issa, Berthon-Jones, and Eves reported nasal continuous positive airway pressure in 1981. In five patients with severe OSA, pressures of 4.5–10 cm H₂O prevented upper-airway occlusion during sleep. The mechanistic explanation was pneumatic splinting of the nasopharyngeal airway. The report was a small early clinical demonstration, not a randomized comparison with another long-term treatment. [R11]</a:t>
            </a:r>
          </a:p>
          <a:p/>
          <a:p>
            <a:r>
              <a:t>Home treatment</a:t>
            </a:r>
          </a:p>
          <a:p/>
          <a:p>
            <a:r>
              <a:t>A subsequent 1984 report described all-night testing in 50 patients and a home-treatment program begun in early 1981. Thirty-five patients had continued therapy for periods of 3–30 months at publication. Patients initially underwent several nights of hospital treatment and training with a custom-made nasal mask. The report described rapid improvement in daytime somnolence and continued need for regular nightly therapy in most patients. [R45]</a:t>
            </a:r>
          </a:p>
          <a:p/>
          <a:p>
            <a:r>
              <a:t>These observations establish early feasibility of repeated treatment at home. They do not define today's eligibility thresholds, modern interface options, or the comparative effectiveness of current automatic and fixed-pressure devices. The clinical result and later equipment policies developed on different timelines. [R45] [R44]</a:t>
            </a:r>
          </a:p>
          <a:p/>
          <a:p>
            <a:r>
              <a:t>Pressure delivery</a:t>
            </a:r>
          </a:p>
          <a:p/>
          <a:p>
            <a:r>
              <a:t>CPAP supplies one pressure level during inspiration and expiration. It does not create the inspiratory-expiratory pressure difference used as pressure support in bilevel therapy. It can nevertheless change respiratory mechanics, maintain upper-airway patency, and, in selected obstruction-dominant phenotypes, improve CO₂ clearance indirectly. The absence of pressure support is not the absence of physiologic effect. [R11] [R01]</a:t>
            </a:r>
          </a:p>
          <a:p/>
          <a:p>
            <a:r>
              <a:t>The displayed pressure trace is schematic. A modern device may include expiratory pressure-relief features, but those comfort features are not being classified as the ventilatory support or backup-rate functions of a different equipment category in this historical example.</a:t>
            </a:r>
          </a:p>
          <a:p/>
          <a:p>
            <a:r>
              <a:t>REFERENCES</a:t>
            </a:r>
          </a:p>
          <a:p>
            <a:r>
              <a:t>R01: Locke BW, Brown JP, Sundar KM. The Role of Obstructive Sleep Apnea in Hypercapnic Respiratory Failure Identified in Critical Care, Emergency, Inpatient, and Outpatient Settings. Sleep Med Clin. 2024;19(2):339–356.</a:t>
            </a:r>
          </a:p>
          <a:p>
            <a:r>
              <a:t>https://doi.org/10.1016/j.jsmc.2024.02.012</a:t>
            </a:r>
          </a:p>
          <a:p/>
          <a:p>
            <a:r>
              <a:t>R11: Sullivan CE, Issa FG, Berthon-Jones M, Eves L. Reversal of obstructive sleep apnoea by continuous positive airway pressure applied through the nares. Lancet. 1981;1:862–865.</a:t>
            </a:r>
          </a:p>
          <a:p>
            <a:r>
              <a:t>https://doi.org/10.1016/S0140-6736(81)92140-1</a:t>
            </a:r>
          </a:p>
          <a:p/>
          <a:p>
            <a:r>
              <a:t>R44: CMS. NCD 240.4: Continuous Positive Airway Pressure Therapy for Obstructive Sleep Apnea. Version 3, effective March 13, 2008.</a:t>
            </a:r>
          </a:p>
          <a:p>
            <a:r>
              <a:t>https://www.cms.gov/medicare-coverage-database/view/ncd.aspx?ncdid=226&amp;ncdver=3</a:t>
            </a:r>
          </a:p>
          <a:p/>
          <a:p>
            <a:r>
              <a:t>R45: Sullivan CE, Issa FG, Berthon-Jones M, McCauley VB, Costas LJ. Home treatment of obstructive sleep apnoea with continuous positive airway pressure applied through a nose-mask. Bull Eur Physiopathol Respir. 1984;20(1):49–54.</a:t>
            </a:r>
          </a:p>
          <a:p>
            <a:r>
              <a:t>https://pubmed.ncbi.nlm.nih.gov/6367865/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S07 | PAP: a sleep-apnea coverage pathway</a:t>
            </a:r>
          </a:p>
          <a:p>
            <a:r>
              <a:t>II · Sleep apnea and PAP</a:t>
            </a:r>
          </a:p>
          <a:p/>
          <a:p>
            <a:r>
              <a:t>National coverage history</a:t>
            </a:r>
          </a:p>
          <a:p/>
          <a:p>
            <a:r>
              <a:t>The revision history of NCD 240.4 records initial CPAP coverage effective January 12, 1987 for adults with moderate or severe OSA who had not obtained relief from other noninvasive therapies. A related 1987 revision included patients for whom surgery was a likely alternative. Coverage was expanded with an April 1, 2002 effective date. In 2008, accepted diagnostic routes expanded to specified home sleep tests and the policy described an initial 12-week treatment period. [R44]</a:t>
            </a:r>
          </a:p>
          <a:p/>
          <a:p>
            <a:r>
              <a:t>The dates are coverage milestones, not dates on which OSA or CPAP were first recognized. The effective date of the current national policy is March 13, 2008; the original implementation date was August 4, 2008. The record also contains later technical clarifications. [R44]</a:t>
            </a:r>
          </a:p>
          <a:p/>
          <a:p>
            <a:r>
              <a:t>Present equipment pathway</a:t>
            </a:r>
          </a:p>
          <a:p/>
          <a:p>
            <a:r>
              <a:t>The national policy and PAP LCD connect eligibility to clinical evaluation and objective sleep testing. The familiar thresholds are AHI/RDI at least 15 events per hour, or 5–14 with qualifying symptoms or specified comorbid conditions. Medicare uses its specified hypopnea definition, including a 4% oxygen-desaturation component. Diagnostic scoring conventions and payer definitions are not necessarily identical. [R44] [R18]</a:t>
            </a:r>
          </a:p>
          <a:p/>
          <a:p>
            <a:r>
              <a:t>LCD L33718 uses PAP to include both E0601 CPAP and qualifying E0470 bilevel treatment without a backup rate. E0470 for OSA requires a trial of E0601 that proved ineffective despite optimal mask fitting and pressure settings. A primary OSA diagnosis does not establish E0471 coverage under this policy. [R18]</a:t>
            </a:r>
          </a:p>
          <a:p/>
          <a:p>
            <a:r>
              <a:t>Payment and continuation</a:t>
            </a:r>
          </a:p>
          <a:p/>
          <a:p>
            <a:r>
              <a:t>Medicare's beneficiary description of CPAP includes a 12-week trial and, under applicable continuous-use rental conditions, ownership after 13 monthly rental payments. The PAP LCD specifies clinical re-evaluation between days 31 and 91, improvement in OSA symptoms, and objective adherence of at least four hours nightly on 70% of nights in a consecutive 30-day period during the first three months. These are administrative continuation rules, not experimentally demonstrated minimum doses for every clinical outcome. [R18] [R39]</a:t>
            </a:r>
          </a:p>
          <a:p/>
          <a:p>
            <a:r>
              <a:t>No arterial hypercapnia threshold defines routine OSA eligibility. This contrasts with some later hypoventilation coverage pathways and is one reason an identical bilevel equipment code can have different testing requirements under different diagnoses. [R18] [R17]</a:t>
            </a:r>
          </a:p>
          <a:p/>
          <a:p>
            <a:r>
              <a:t>REFERENCES</a:t>
            </a:r>
          </a:p>
          <a:p>
            <a:r>
              <a:t>R17: DME MACs. LCD L33800: Respiratory Assist Devices.</a:t>
            </a:r>
          </a:p>
          <a:p>
            <a:r>
              <a:t>https://www.cms.gov/medicare-coverage-database/view/lcd.aspx?lcdid=33800</a:t>
            </a:r>
          </a:p>
          <a:p/>
          <a:p>
            <a:r>
              <a:t>R18: DME MACs. LCD L33718: Positive Airway Pressure Devices for the Treatment of Obstructive Sleep Apnea.</a:t>
            </a:r>
          </a:p>
          <a:p>
            <a:r>
              <a:t>https://www.cms.gov/medicare-coverage-database/view/lcd.aspx?lcdid=33718</a:t>
            </a:r>
          </a:p>
          <a:p/>
          <a:p>
            <a:r>
              <a:t>R39: Medicare.gov. Continuous Positive Airway Pressure Devices.</a:t>
            </a:r>
          </a:p>
          <a:p>
            <a:r>
              <a:t>https://www.medicare.gov/coverage/continuous-positive-airway-pressure-devices</a:t>
            </a:r>
          </a:p>
          <a:p/>
          <a:p>
            <a:r>
              <a:t>R44: CMS. NCD 240.4: Continuous Positive Airway Pressure Therapy for Obstructive Sleep Apnea. Version 3, effective March 13, 2008.</a:t>
            </a:r>
          </a:p>
          <a:p>
            <a:r>
              <a:t>https://www.cms.gov/medicare-coverage-database/view/ncd.aspx?ncdid=226&amp;ncdver=3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S08 | Bilevel positive airway pressure, 1990</a:t>
            </a:r>
          </a:p>
          <a:p>
            <a:r>
              <a:t>III · Respiratory assist devices</a:t>
            </a:r>
          </a:p>
          <a:p/>
          <a:p>
            <a:r>
              <a:t>Early clinical study</a:t>
            </a:r>
          </a:p>
          <a:p/>
          <a:p>
            <a:r>
              <a:t>Sanders and Kern's 1990 report addressed independently adjustable inspiratory and expiratory pressures through a nasal mask in OSA. The study examined different requirements for maintaining the upper airway during the two phases of breathing. This origin is more specific than saying bilevel technology was originally invented for chronic hypercapnic COPD. [R12]</a:t>
            </a:r>
          </a:p>
          <a:p/>
          <a:p>
            <a:r>
              <a:t>Separating inspiratory positive airway pressure (IPAP) from expiratory positive airway pressure (EPAP) also provided a route to inspiratory assistance. At otherwise comparable conditions, the pressure difference can augment tidal ventilation and unload inspiratory muscles. The actual ventilatory effect depends on patient effort, respiratory mechanics, timing, leaks, and the interface. [R01] [R13]</a:t>
            </a:r>
          </a:p>
          <a:p/>
          <a:p>
            <a:r>
              <a:t>Spontaneous and timed assistance</a:t>
            </a:r>
          </a:p>
          <a:p/>
          <a:p>
            <a:r>
              <a:t>In spontaneous bilevel operation, patient effort triggers the assisted breath. A backup-rate feature supplies a timed breath when spontaneous triggering is inadequate relative to the device's configured timing. The backup rate does not itself guarantee adequate tidal volume, alveolar ventilation, or gas exchange. [R16]</a:t>
            </a:r>
          </a:p>
          <a:p/>
          <a:p>
            <a:r>
              <a:t>The illustration includes patient-effort traces. With the same missing effort, spontaneous-only support lacks the corresponding assisted inspiration, whereas spontaneous/timed operation supplies a backup breath. The drawing is conceptual rather than a proprietary algorithm specification. Trigger and cycle details vary by product.</a:t>
            </a:r>
          </a:p>
          <a:p/>
          <a:p>
            <a:r>
              <a:t>Separation from the other pathways</a:t>
            </a:r>
          </a:p>
          <a:p/>
          <a:p>
            <a:r>
              <a:t>The device now had more capabilities than a simple CPAP system, but the presence of two pressures or a backup rate did not automatically place it in the same payment category as a home ventilator. Equipment-servicing requirements, intended operating context, code assignment, and subsequent statute all contributed to the distinction. [R13]</a:t>
            </a:r>
          </a:p>
          <a:p/>
          <a:p>
            <a:r>
              <a:t>Bilevel, NIV, RAD, and HMV are consequently related but non-equivalent terms. Bilevel describes pressure delivery. NIV describes a noninvasive route of ventilatory support. RAD is an equipment category. HMV may describe a platform or a home-care practice. The same physiologically useful mode can be available on different platforms. [R13] [R16]</a:t>
            </a:r>
          </a:p>
          <a:p/>
          <a:p>
            <a:r>
              <a:t>REFERENCES</a:t>
            </a:r>
          </a:p>
          <a:p>
            <a:r>
              <a:t>R01: Locke BW, Brown JP, Sundar KM. The Role of Obstructive Sleep Apnea in Hypercapnic Respiratory Failure Identified in Critical Care, Emergency, Inpatient, and Outpatient Settings. Sleep Med Clin. 2024;19(2):339–356.</a:t>
            </a:r>
          </a:p>
          <a:p>
            <a:r>
              <a:t>https://doi.org/10.1016/j.jsmc.2024.02.012</a:t>
            </a:r>
          </a:p>
          <a:p/>
          <a:p>
            <a:r>
              <a:t>R12: Sanders MH, Kern N. Obstructive sleep apnea treated by independently adjusted inspiratory and expiratory positive airway pressures via nasal mask. Chest. 1990;98:317–324.</a:t>
            </a:r>
          </a:p>
          <a:p>
            <a:r>
              <a:t>https://doi.org/10.1378/chest.98.2.317</a:t>
            </a:r>
          </a:p>
          <a:p/>
          <a:p>
            <a:r>
              <a:t>R13: CMS. Medicare Program; Payment for Respiratory Assist Devices With Bi-Level Capability and a Backup Rate. Final rule. 71 FR 4518–4525. January 27, 2006. Effective April 1, 2006.</a:t>
            </a:r>
          </a:p>
          <a:p>
            <a:r>
              <a:t>https://www.govinfo.gov/content/pkg/FR-2006-01-27/html/06-798.htm</a:t>
            </a:r>
          </a:p>
          <a:p/>
          <a:p>
            <a:r>
              <a:t>R16: CMS. NCD 240.9: Noninvasive Positive Pressure Ventilation in the Home for Chronic Respiratory Failure Consequent to COPD. Version effective June 9, 2025.</a:t>
            </a:r>
          </a:p>
          <a:p>
            <a:r>
              <a:t>https://www.cms.gov/medicare-coverage-database/view/ncd.aspx?ncdid=380&amp;ncdver=1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S09 | NIV beyond upper-airway obstruction</a:t>
            </a:r>
          </a:p>
          <a:p>
            <a:r>
              <a:t>III · Respiratory assist devices</a:t>
            </a:r>
          </a:p>
          <a:p/>
          <a:p>
            <a:r>
              <a:t>Expansion of use</a:t>
            </a:r>
          </a:p>
          <a:p/>
          <a:p>
            <a:r>
              <a:t>By the late 1980s and 1990s, reports of mask positive-pressure ventilation included people with neuromuscular, chest-wall, and obstructive lung disease. Improvements in blowers and interfaces used for sleep apnea facilitated smaller pressure-support devices. At the same time, clinicians applied a growing understanding of respiratory muscle mechanics and nocturnal ventilatory impairment. [R05]</a:t>
            </a:r>
          </a:p>
          <a:p/>
          <a:p>
            <a:r>
              <a:t>The pathophysiologic problems were not uniform. Muscle weakness reduces available pressure-generating capacity. Chest-wall abnormalities can increase the mechanical work of breathing. COPD can combine resistive loading, hyperinflation-related disadvantage, and inefficient ventilation. Obesity can affect chest-wall loading, lung volume, airway patency, and respiratory drive. Multiple mechanisms may occur together. [R01] [R03]</a:t>
            </a:r>
          </a:p>
          <a:p/>
          <a:p>
            <a:r>
              <a:t>Nocturnal presentation</a:t>
            </a:r>
          </a:p>
          <a:p/>
          <a:p>
            <a:r>
              <a:t>Ventilation and its compensatory control change during sleep. Loss of wakefulness-related drive, changes in chemosensitivity, posture-related mechanics, and reduced accessory-muscle contribution during REM can reveal limited ventilatory reserve before awake CO₂ is persistently elevated. The diaphragm continues to function during REM; the physiology is not complete respiratory-muscle paralysis. [R01] [R04]</a:t>
            </a:r>
          </a:p>
          <a:p/>
          <a:p>
            <a:r>
              <a:t>The sequence from REM-associated abnormalities to more sustained nocturnal and daytime hypoventilation is a common pattern described in progressive ventilatory disorders. It is not an inevitable progression for every isolated abnormal CO₂ recording. The natural history depends on the underlying disorder, reversibility, and severity. [R01] [R04]</a:t>
            </a:r>
          </a:p>
          <a:p/>
          <a:p>
            <a:r>
              <a:t>Category mismatch</a:t>
            </a:r>
          </a:p>
          <a:p/>
          <a:p>
            <a:r>
              <a:t>A device used only at night may be providing substantial ventilatory assistance. Conversely, a patient using a sophisticated device may not require every capability it contains. Hours of use, respiratory diagnosis, mode, and equipment-service needs are related but different attributes. This is part of the clinical background to a RAD category that was distinct from both simple OSA treatment and more extensive home-ventilator support. [R13] [R14]</a:t>
            </a:r>
          </a:p>
          <a:p/>
          <a:p>
            <a:r>
              <a:t>Piper and Yee's review is retained as a requested bibliographic anchor. Its full text was not newly retrieved for this revision. The detailed physiology here is supported by the supplied Locke and Shah reviews, rather than an assertion that the entire Piper review was audited. [R01] [R04]</a:t>
            </a:r>
          </a:p>
          <a:p/>
          <a:p>
            <a:r>
              <a:t>REFERENCES</a:t>
            </a:r>
          </a:p>
          <a:p>
            <a:r>
              <a:t>R01: Locke BW, Brown JP, Sundar KM. The Role of Obstructive Sleep Apnea in Hypercapnic Respiratory Failure Identified in Critical Care, Emergency, Inpatient, and Outpatient Settings. Sleep Med Clin. 2024;19(2):339–356.</a:t>
            </a:r>
          </a:p>
          <a:p>
            <a:r>
              <a:t>https://doi.org/10.1016/j.jsmc.2024.02.012</a:t>
            </a:r>
          </a:p>
          <a:p/>
          <a:p>
            <a:r>
              <a:t>R03: Piper AJ, Yee BJ. Hypoventilation Syndromes. Compr Physiol. 2014;4:1639–1676.</a:t>
            </a:r>
          </a:p>
          <a:p>
            <a:r>
              <a:t>https://doi.org/10.1002/cphy.c140008</a:t>
            </a:r>
          </a:p>
          <a:p/>
          <a:p>
            <a:r>
              <a:t>R04: Shah NM, Steier J, Hart N, Kaltsakas G. Effects of non-invasive ventilation on sleep in chronic hypercapnic respiratory failure. Thorax. Published online November 18, 2023.</a:t>
            </a:r>
          </a:p>
          <a:p>
            <a:r>
              <a:t>https://doi.org/10.1136/thorax-2023-220035</a:t>
            </a:r>
          </a:p>
          <a:p/>
          <a:p>
            <a:r>
              <a:t>R05: Hind M, Polkey MI, Simonds AK. Homeward Bound: A Centenary of Home Mechanical Ventilation. Am J Respir Crit Care Med. 2017;195(9):1140–1149.</a:t>
            </a:r>
          </a:p>
          <a:p>
            <a:r>
              <a:t>https://doi.org/10.1164/rccm.201702-0285CI</a:t>
            </a:r>
          </a:p>
          <a:p/>
          <a:p>
            <a:r>
              <a:t>R13: CMS. Medicare Program; Payment for Respiratory Assist Devices With Bi-Level Capability and a Backup Rate. Final rule. 71 FR 4518–4525. January 27, 2006. Effective April 1, 2006.</a:t>
            </a:r>
          </a:p>
          <a:p>
            <a:r>
              <a:t>https://www.govinfo.gov/content/pkg/FR-2006-01-27/html/06-798.htm</a:t>
            </a:r>
          </a:p>
          <a:p/>
          <a:p>
            <a:r>
              <a:t>R14: Gay PC, Owens RL, on behalf of the ONMAP Technical Expert Panel. Optimal NIV Medicare Access Promotion: Executive Summary. Chest. 2021;160(5):1808–1821.</a:t>
            </a:r>
          </a:p>
          <a:p>
            <a:r>
              <a:t>https://doi.org/10.1016/j.chest.2021.05.074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 | The equipment-servicing split, 1992–2006</a:t>
            </a:r>
          </a:p>
          <a:p>
            <a:r>
              <a:t>III · Respiratory assist devices</a:t>
            </a:r>
          </a:p>
          <a:p/>
          <a:p>
            <a:r>
              <a:t>Coding and the original equipment description</a:t>
            </a:r>
          </a:p>
          <a:p/>
          <a:p>
            <a:r>
              <a:t>The 2006 final rule recounts the January 1, 1992 introduction of E0452 for intermittent-assist devices with CPAP and bilevel capabilities, with or without a backup rate. The manufacturer's coding submission described part-day use, usually during sleep, and little routine equipment maintenance. The word intermittent referred to the intended usage schedule, not to a demonstration that the underlying disease was unimportant. [R13]</a:t>
            </a:r>
          </a:p>
          <a:p/>
          <a:p>
            <a:r>
              <a:t>A separate E0453 code described a portable therapeutic ventilator for part-time use by people otherwise dependent on stationary ventilation. Thus, even in the historical record, part-time use alone was not a sufficient distinction between a ventilator and an intermittent-assist device. CMS described differences in intended equipment role and servicing needs. [R13]</a:t>
            </a:r>
          </a:p>
          <a:p/>
          <a:p>
            <a:r>
              <a:t>Statutory and payment history</a:t>
            </a:r>
          </a:p>
          <a:p/>
          <a:p>
            <a:r>
              <a:t>The Omnibus Budget Reconciliation Act of 1993 amended the equipment-payment provision to exclude intermittent-assist devices with CPAP from the frequent-and-substantial-servicing category. CMS later described some carrier guidance permitting backup-rate devices to be billed as therapeutic ventilators as erroneous. The final rule concerns the payment classification of equipment, not a randomized assessment of the relative clinical value of bilevel and ventilator platforms. [R13]</a:t>
            </a:r>
          </a:p>
          <a:p/>
          <a:p>
            <a:r>
              <a:t>Regional medical review policies implemented on October 1, 1999 adopted RAD nomenclature and separate codes for devices without backup, with backup and a noninvasive interface, and with backup and an invasive interface. The final payment decision for backup-rate devices was deferred after public comment. [R13]</a:t>
            </a:r>
          </a:p>
          <a:p/>
          <a:p>
            <a:r>
              <a:t>2006 implementation</a:t>
            </a:r>
          </a:p>
          <a:p/>
          <a:p>
            <a:r>
              <a:t>The final rule published January 27, 2006 moved backup-rate RADs to capped-rental payment, effective April 1, 2006. CMS cited the statutory exclusion and its assessment of actual equipment-maintenance requirements. The contemporaneous agency announcement describes the change in the same terms. [R13] [R48]</a:t>
            </a:r>
          </a:p>
          <a:p/>
          <a:p>
            <a:r>
              <a:t>Historical dollar examples in that rule reflected then-current payment conditions, including an older capped-rental arrangement. They are not current fee estimates. The present slide contains no historical price comparison that could be mistaken for a contemporary patient-specific quotation.</a:t>
            </a:r>
          </a:p>
          <a:p/>
          <a:p>
            <a:r>
              <a:t>REFERENCES</a:t>
            </a:r>
          </a:p>
          <a:p>
            <a:r>
              <a:t>R13: CMS. Medicare Program; Payment for Respiratory Assist Devices With Bi-Level Capability and a Backup Rate. Final rule. 71 FR 4518–4525. January 27, 2006. Effective April 1, 2006.</a:t>
            </a:r>
          </a:p>
          <a:p>
            <a:r>
              <a:t>https://www.govinfo.gov/content/pkg/FR-2006-01-27/html/06-798.htm</a:t>
            </a:r>
          </a:p>
          <a:p/>
          <a:p>
            <a:r>
              <a:t>R48: CMS. CMS Revises Payment Classification of Certain Respiratory Assist Devices. January 26, 2006.</a:t>
            </a:r>
          </a:p>
          <a:p>
            <a:r>
              <a:t>https://www.cms.gov/newsroom/press-releases/cms-revises-payment-classification-certain-respiratory-assist-devices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 | Diagnosis-specific RAD coverage</a:t>
            </a:r>
          </a:p>
          <a:p>
            <a:r>
              <a:t>III · Respiratory assist devices</a:t>
            </a:r>
          </a:p>
          <a:p/>
          <a:p>
            <a:r>
              <a:t>Clinical consensus and administrative policy</a:t>
            </a:r>
          </a:p>
          <a:p/>
          <a:p>
            <a:r>
              <a:t>The 1998 consensus process and the regional policies implemented in 1999 helped establish diagnosis-specific approaches to home noninvasive ventilation. The groups included restrictive thoracic disorders, COPD, central or complex sleep apnea, and hypoventilation syndromes. Different testing and escalation rules accompanied the different categories. [R13] [R14]</a:t>
            </a:r>
          </a:p>
          <a:p/>
          <a:p>
            <a:r>
              <a:t>ONMAP's 2021 executive summary describes increased prescriptions and expenditures as part of the context for the earlier review. This is a multisociety retrospective account of the policy-development environment. The final rule independently documents the code changes, dates, and equipment-payment rationale. The two sources address related but nonidentical questions. [R13] [R14]</a:t>
            </a:r>
          </a:p>
          <a:p/>
          <a:p>
            <a:r>
              <a:t>Resulting distinctions</a:t>
            </a:r>
          </a:p>
          <a:p/>
          <a:p>
            <a:r>
              <a:t>An E0470 device lacks a backup rate; an E0471 device includes a backup rate. These code distinctions are not diagnoses. A qualifying OSA patient receiving E0470 follows the PAP LCD, whereas an E0470 used for another covered disorder may follow the RAD LCD or, for COPD-related respiratory failure, the national COPD policy. [R17] [R18] [R16]</a:t>
            </a:r>
          </a:p>
          <a:p/>
          <a:p>
            <a:r>
              <a:t>Some branches require awake hypercapnia and other tests. The restrictive-thoracic branch includes alternative physiologic findings, including muscle strength or vital capacity measurements for neuromuscular disease. The central-apnea branch has its own polysomnographic criteria. Consequently, neither an ABG nor a trial of a simpler device is a universal prerequisite across every diagnosis. [R17]</a:t>
            </a:r>
          </a:p>
          <a:p/>
          <a:p>
            <a:r>
              <a:t>Current status of the legacy categories</a:t>
            </a:r>
          </a:p>
          <a:p/>
          <a:p>
            <a:r>
              <a:t>The severe-COPD criteria previously contained in L33800 were removed in the revision effective June 9, 2025, with referral to NCD 240.9 for initial and continuing coverage. The LCD remains relevant for the non-COPD branches. The current structure is therefore a combination of a newer COPD-specific national policy and existing diagnosis-specific local policies. [R17] [R16]</a:t>
            </a:r>
          </a:p>
          <a:p/>
          <a:p>
            <a:r>
              <a:t>The clinical categories can overlap within one person, even when the administrative route requires a particular qualifying diagnosis and associated evidence. The policies do not establish the fraction of hypercapnia attributable to each of several coexisting conditions. [R01]</a:t>
            </a:r>
          </a:p>
          <a:p/>
          <a:p>
            <a:r>
              <a:t>REFERENCES</a:t>
            </a:r>
          </a:p>
          <a:p>
            <a:r>
              <a:t>R01: Locke BW, Brown JP, Sundar KM. The Role of Obstructive Sleep Apnea in Hypercapnic Respiratory Failure Identified in Critical Care, Emergency, Inpatient, and Outpatient Settings. Sleep Med Clin. 2024;19(2):339–356.</a:t>
            </a:r>
          </a:p>
          <a:p>
            <a:r>
              <a:t>https://doi.org/10.1016/j.jsmc.2024.02.012</a:t>
            </a:r>
          </a:p>
          <a:p/>
          <a:p>
            <a:r>
              <a:t>R13: CMS. Medicare Program; Payment for Respiratory Assist Devices With Bi-Level Capability and a Backup Rate. Final rule. 71 FR 4518–4525. January 27, 2006. Effective April 1, 2006.</a:t>
            </a:r>
          </a:p>
          <a:p>
            <a:r>
              <a:t>https://www.govinfo.gov/content/pkg/FR-2006-01-27/html/06-798.htm</a:t>
            </a:r>
          </a:p>
          <a:p/>
          <a:p>
            <a:r>
              <a:t>R14: Gay PC, Owens RL, on behalf of the ONMAP Technical Expert Panel. Optimal NIV Medicare Access Promotion: Executive Summary. Chest. 2021;160(5):1808–1821.</a:t>
            </a:r>
          </a:p>
          <a:p>
            <a:r>
              <a:t>https://doi.org/10.1016/j.chest.2021.05.074</a:t>
            </a:r>
          </a:p>
          <a:p/>
          <a:p>
            <a:r>
              <a:t>R16: CMS. NCD 240.9: Noninvasive Positive Pressure Ventilation in the Home for Chronic Respiratory Failure Consequent to COPD. Version effective June 9, 2025.</a:t>
            </a:r>
          </a:p>
          <a:p>
            <a:r>
              <a:t>https://www.cms.gov/medicare-coverage-database/view/ncd.aspx?ncdid=380&amp;ncdver=1</a:t>
            </a:r>
          </a:p>
          <a:p/>
          <a:p>
            <a:r>
              <a:t>R17: DME MACs. LCD L33800: Respiratory Assist Devices.</a:t>
            </a:r>
          </a:p>
          <a:p>
            <a:r>
              <a:t>https://www.cms.gov/medicare-coverage-database/view/lcd.aspx?lcdid=33800</a:t>
            </a:r>
          </a:p>
          <a:p/>
          <a:p>
            <a:r>
              <a:t>R18: DME MACs. LCD L33718: Positive Airway Pressure Devices for the Treatment of Obstructive Sleep Apnea.</a:t>
            </a:r>
          </a:p>
          <a:p>
            <a:r>
              <a:t>https://www.cms.gov/medicare-coverage-database/view/lcd.aspx?lcdid=33718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 | Overlapping modes, different platforms</a:t>
            </a:r>
          </a:p>
          <a:p>
            <a:r>
              <a:t>IV · Current landscape</a:t>
            </a:r>
          </a:p>
          <a:p/>
          <a:p>
            <a:r>
              <a:t>Modes and equipment</a:t>
            </a:r>
          </a:p>
          <a:p/>
          <a:p>
            <a:r>
              <a:t>A mode describes the pattern and control of ventilatory support. A platform is the physical device with its approved uses, controls, monitoring, alarms, and power options. A code identifies the equipment or service for billing. Similar pressure waveforms do not imply identical platform capabilities, intended use, or reimbursement. [R13] [R16]</a:t>
            </a:r>
          </a:p>
          <a:p/>
          <a:p>
            <a:r>
              <a:t>CPAP and APAP devices support upper-airway patency with single-level pressure at a given time. E0470 and E0471 identify bilevel RADs without and with a backup-rate feature, respectively. E0466 identifies a home ventilator with a noninvasive interface; E0465 identifies a home ventilator with an invasive interface. Other codes exist for multifunction or dual-function ventilator systems and are not shown as a separate therapeutic ladder. [R17] [R18] [R20]</a:t>
            </a:r>
          </a:p>
          <a:p/>
          <a:p>
            <a:r>
              <a:t>Areas of convergence</a:t>
            </a:r>
          </a:p>
          <a:p/>
          <a:p>
            <a:r>
              <a:t>Both advanced RADs and ventilators may offer pressure-based NIV, a backup rate, and adaptive pressure-support strategies. The particular mode set varies by manufacturer and model. NCD 240.9 describes HMVs as typically having additional ventilatory modes, monitoring and control features, alarms, and backup power. The word typically is important: an equipment category is not a detailed specification for every product. [R16]</a:t>
            </a:r>
          </a:p>
          <a:p/>
          <a:p>
            <a:r>
              <a:t>Volume-assured pressure support and adaptive servo-ventilation are control strategies rather than billing categories. Their targets and intended applications differ. A broad ventilator taxonomy can assign related descriptors to modes without making them clinically interchangeable. [R33] [R14]</a:t>
            </a:r>
          </a:p>
          <a:p/>
          <a:p>
            <a:r>
              <a:t>Remaining distinctions</a:t>
            </a:r>
          </a:p>
          <a:p/>
          <a:p>
            <a:r>
              <a:t>A patient using daytime mouthpiece support, an invasive circuit, multiple configurations, or support with important interruption risk may have needs that exceed a particular RAD. Conversely, the availability of a more complex platform does not demonstrate that its additional capabilities improve outcomes for every patient who can use it. [R16] [R27]</a:t>
            </a:r>
          </a:p>
          <a:p/>
          <a:p>
            <a:r>
              <a:t>The displayed codes are descriptions of equipment, not a list of automatic approvals. Correct coding, clinical justification, and coverage eligibility remain separate. The same E0470 device may appear in the OSA PAP pathway or in a different clinical coverage pathway. [R18] [R17]</a:t>
            </a:r>
          </a:p>
          <a:p/>
          <a:p>
            <a:r>
              <a:t>REFERENCES</a:t>
            </a:r>
          </a:p>
          <a:p>
            <a:r>
              <a:t>R13: CMS. Medicare Program; Payment for Respiratory Assist Devices With Bi-Level Capability and a Backup Rate. Final rule. 71 FR 4518–4525. January 27, 2006. Effective April 1, 2006.</a:t>
            </a:r>
          </a:p>
          <a:p>
            <a:r>
              <a:t>https://www.govinfo.gov/content/pkg/FR-2006-01-27/html/06-798.htm</a:t>
            </a:r>
          </a:p>
          <a:p/>
          <a:p>
            <a:r>
              <a:t>R14: Gay PC, Owens RL, on behalf of the ONMAP Technical Expert Panel. Optimal NIV Medicare Access Promotion: Executive Summary. Chest. 2021;160(5):1808–1821.</a:t>
            </a:r>
          </a:p>
          <a:p>
            <a:r>
              <a:t>https://doi.org/10.1016/j.chest.2021.05.074</a:t>
            </a:r>
          </a:p>
          <a:p/>
          <a:p>
            <a:r>
              <a:t>R16: CMS. NCD 240.9: Noninvasive Positive Pressure Ventilation in the Home for Chronic Respiratory Failure Consequent to COPD. Version effective June 9, 2025.</a:t>
            </a:r>
          </a:p>
          <a:p>
            <a:r>
              <a:t>https://www.cms.gov/medicare-coverage-database/view/ncd.aspx?ncdid=380&amp;ncdver=1</a:t>
            </a:r>
          </a:p>
          <a:p/>
          <a:p>
            <a:r>
              <a:t>R17: DME MACs. LCD L33800: Respiratory Assist Devices.</a:t>
            </a:r>
          </a:p>
          <a:p>
            <a:r>
              <a:t>https://www.cms.gov/medicare-coverage-database/view/lcd.aspx?lcdid=33800</a:t>
            </a:r>
          </a:p>
          <a:p/>
          <a:p>
            <a:r>
              <a:t>R18: DME MACs. LCD L33718: Positive Airway Pressure Devices for the Treatment of Obstructive Sleep Apnea.</a:t>
            </a:r>
          </a:p>
          <a:p>
            <a:r>
              <a:t>https://www.cms.gov/medicare-coverage-database/view/lcd.aspx?lcdid=33718</a:t>
            </a:r>
          </a:p>
          <a:p/>
          <a:p>
            <a:r>
              <a:t>R20: Noridian. Correct Billing and Coding of Ventilators, revised.</a:t>
            </a:r>
          </a:p>
          <a:p>
            <a:r>
              <a:t>https://med.noridianmedicare.com/web/jadme/policies/dmd-articles/2025/correct-billing-and-coding-of-ventilators-revised-b</a:t>
            </a:r>
          </a:p>
          <a:p/>
          <a:p>
            <a:r>
              <a:t>R27: Khan A, et al. Respiratory Management of Patients With Neuromuscular Weakness: CHEST Clinical Practice Guideline and Expert Panel Report. Chest. 2023;164:394–413.</a:t>
            </a:r>
          </a:p>
          <a:p>
            <a:r>
              <a:t>https://doi.org/10.1016/j.chest.2023.03.011</a:t>
            </a:r>
          </a:p>
          <a:p/>
          <a:p>
            <a:r>
              <a:t>R33: Badr MS, et al. Treatment of Central Sleep Apnea in Adults: An AASM Clinical Practice Guideline. J Clin Sleep Med. 2025;21:2181–2191.</a:t>
            </a:r>
          </a:p>
          <a:p>
            <a:r>
              <a:t>https://doi.org/10.5664/jcsm.11858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S13 | Sleep-related and multifactorial hypoventilation</a:t>
            </a:r>
          </a:p>
          <a:p>
            <a:r>
              <a:t>IV · Current landscape</a:t>
            </a:r>
          </a:p>
          <a:p/>
          <a:p>
            <a:r>
              <a:t>Physiologic overlap</a:t>
            </a:r>
          </a:p>
          <a:p/>
          <a:p>
            <a:r>
              <a:t>Sleep can expose limited ventilatory reserve before daytime hypercapnia becomes persistent. In obstructive apnea, metabolic CO₂ production continues while alveolar ventilation falls. Between events, increased ventilation can clear the accumulated CO₂. Frequent or prolonged obstruction, or limited compensatory ventilation, can leave a net nocturnal CO₂ burden. [R01]</a:t>
            </a:r>
          </a:p>
          <a:p/>
          <a:p>
            <a:r>
              <a:t>The mechanisms are not mutually exclusive. Obesity can increase chest-wall load and upper-airway collapsibility. COPD can impair mechanics and ventilatory efficiency. Respiratory muscle weakness and sedating drugs can further limit compensation. A patient may therefore have both recurrent obstructive events and sustained hypoventilation. [R01] [R36]</a:t>
            </a:r>
          </a:p>
          <a:p/>
          <a:p>
            <a:r>
              <a:t>Measurements and disease labels</a:t>
            </a:r>
          </a:p>
          <a:p/>
          <a:p>
            <a:r>
              <a:t>A daytime blood gas describes gas exchange at the sampled time and conditions. Overnight CO₂ monitoring describes a different period of physiology. Apnea-hypopnea frequency, hypoxic burden, and sustained CO₂ elevation measure related but distinct aspects of sleep-disordered breathing. The absence of one abnormality does not establish the absence of all the others. [R01] [R04] [R38]</a:t>
            </a:r>
          </a:p>
          <a:p/>
          <a:p>
            <a:r>
              <a:t>The AASM adult hypoventilation scoring criteria commonly cited in this literature are CO₂ above 55 mmHg for at least ten minutes, or a rise of at least 10 mmHg from the awake supine value to above 50 mmHg for at least ten minutes. These are scoring criteria. They do not by themselves specify a single treatment or identify its effect on hospitalization, symptoms, or survival across all diagnoses. [R38]</a:t>
            </a:r>
          </a:p>
          <a:p/>
          <a:p>
            <a:r>
              <a:t>Evidence limitations</a:t>
            </a:r>
          </a:p>
          <a:p/>
          <a:p>
            <a:r>
              <a:t>Locke and colleagues describe an inverse diagnostic problem: many studies begin with a known disease and characterize hypercapnia, whereas clinicians often begin with hypercapnia and incomplete knowledge of contributing diseases. Coexistence of OSA and respiratory failure does not quantify the causal contribution of OSA or the benefit of treating it. [R01]</a:t>
            </a:r>
          </a:p>
          <a:p/>
          <a:p>
            <a:r>
              <a:t>The editorial by Locke and Brown identifies gaps in recognition, treatment targets, monitoring, and care delivery. These gaps coexist with positive trials in selected populations. They do not amount to evidence that NIV is ineffective, nor do they validate one general treatment algorithm for all multifactorial disease. [R02]</a:t>
            </a:r>
          </a:p>
          <a:p/>
          <a:p>
            <a:r>
              <a:t>The curves are conceptual illustrations of complete and incomplete compensation between events. No participant-level measurements, estimated prevalence, or validated progression rate is represented by the drawing.</a:t>
            </a:r>
          </a:p>
          <a:p/>
          <a:p>
            <a:r>
              <a:t>REFERENCES</a:t>
            </a:r>
          </a:p>
          <a:p>
            <a:r>
              <a:t>R01: Locke BW, Brown JP, Sundar KM. The Role of Obstructive Sleep Apnea in Hypercapnic Respiratory Failure Identified in Critical Care, Emergency, Inpatient, and Outpatient Settings. Sleep Med Clin. 2024;19(2):339–356.</a:t>
            </a:r>
          </a:p>
          <a:p>
            <a:r>
              <a:t>https://doi.org/10.1016/j.jsmc.2024.02.012</a:t>
            </a:r>
          </a:p>
          <a:p/>
          <a:p>
            <a:r>
              <a:t>R02: Locke BW, Brown J. What Are We Aiming for in Chronic Hypercapnic Respiratory Failure? Respir Care. 2023;68(12):1775–1778.</a:t>
            </a:r>
          </a:p>
          <a:p>
            <a:r>
              <a:t>https://doi.org/10.4187/respcare.11573</a:t>
            </a:r>
          </a:p>
          <a:p/>
          <a:p>
            <a:r>
              <a:t>R04: Shah NM, Steier J, Hart N, Kaltsakas G. Effects of non-invasive ventilation on sleep in chronic hypercapnic respiratory failure. Thorax. Published online November 18, 2023.</a:t>
            </a:r>
          </a:p>
          <a:p>
            <a:r>
              <a:t>https://doi.org/10.1136/thorax-2023-220035</a:t>
            </a:r>
          </a:p>
          <a:p/>
          <a:p>
            <a:r>
              <a:t>R36: Chung Y, Garden FL, Marks GB, Vedam H. Causes of hypercapnic respiratory failure and associated in-hospital mortality. Respirology. 2022.</a:t>
            </a:r>
          </a:p>
          <a:p>
            <a:r>
              <a:t>https://doi.org/10.1111/resp.14388</a:t>
            </a:r>
          </a:p>
          <a:p/>
          <a:p>
            <a:r>
              <a:t>R38: Berry RB, et al. Rules for Scoring Respiratory Events in Sleep: Update of the 2007 AASM Manual. J Clin Sleep Med. 2012;8:597–619.</a:t>
            </a:r>
          </a:p>
          <a:p>
            <a:r>
              <a:t>https://doi.org/10.5664/jcsm.2172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S14 | Current uses: OSA, OHS, and central apnea</a:t>
            </a:r>
          </a:p>
          <a:p>
            <a:r>
              <a:t>IV · Current landscape</a:t>
            </a:r>
          </a:p>
          <a:p/>
          <a:p>
            <a:r>
              <a:t>Obstructive sleep apnea</a:t>
            </a:r>
          </a:p>
          <a:p/>
          <a:p>
            <a:r>
              <a:t>The 2019 AASM guideline recommends PAP for adults with OSA and excessive sleepiness, with additional recommendations concerning sleep-related quality of life and comorbid hypertension. CPAP or APAP is suggested over bilevel PAP for routine OSA treatment. This does not mean that bilevel has no role in selected circumstances. [R24]</a:t>
            </a:r>
          </a:p>
          <a:p/>
          <a:p>
            <a:r>
              <a:t>An improvement in AHI, symptoms, or pressure tolerance is not the same endpoint as reduced cardiovascular events or mortality. The early CPAP demonstrations and later guideline evidence address specific populations and outcomes rather than every consequence associated observationally with OSA. [R11] [R24]</a:t>
            </a:r>
          </a:p>
          <a:p/>
          <a:p>
            <a:r>
              <a:t>Obesity hypoventilation syndrome</a:t>
            </a:r>
          </a:p>
          <a:p/>
          <a:p>
            <a:r>
              <a:t>OHS includes obesity, sleep-disordered breathing, and awake hypercapnia after other causes are excluded. ATS conditionally recommends CPAP rather than NIV as first-line treatment for stable ambulatory OHS with severe OSA. The recommendation is phenotype- and setting-specific. A patient with obesity and hypercapnia is not automatically an uncomplicated OHS case, particularly when substantial lung disease or another cause is also present. [R25] [R01]</a:t>
            </a:r>
          </a:p>
          <a:p/>
          <a:p>
            <a:r>
              <a:t>For patients hospitalized with respiratory failure and suspected OHS, the ATS guideline suggests discharge with NIV until outpatient diagnostic evaluation and titration, ideally within the first three months. This provisional hospital pathway differs from the stable outpatient starting point. It is not a recommendation that every such patient receive an HMV rather than an appropriate RAD. [R25]</a:t>
            </a:r>
          </a:p>
          <a:p/>
          <a:p>
            <a:r>
              <a:t>Central sleep apnea</a:t>
            </a:r>
          </a:p>
          <a:p/>
          <a:p>
            <a:r>
              <a:t>The 2025 AASM guideline gives conditional, etiology-specific recommendations for CPAP, bilevel with a backup rate, ASV, and several non-PAP approaches. Bilevel without a backup rate is suggested against for the listed CSA etiologies. The backup-rate bilevel recommendation does not include every etiology included in the CPAP or ASV recommendation. [R33]</a:t>
            </a:r>
          </a:p>
          <a:p/>
          <a:p>
            <a:r>
              <a:t>For ASV in heart failure with reduced ejection fraction, the guideline specifies experienced-center treatment and close monitoring. This summary does not replace device-specific labeling or the full heart-failure evidence. Central apnea, sustained hypoventilation, and airway obstruction are not interchangeable targets merely because they can all appear on a sleep study. [R33]</a:t>
            </a:r>
          </a:p>
          <a:p/>
          <a:p>
            <a:r>
              <a:t>REFERENCES</a:t>
            </a:r>
          </a:p>
          <a:p>
            <a:r>
              <a:t>R01: Locke BW, Brown JP, Sundar KM. The Role of Obstructive Sleep Apnea in Hypercapnic Respiratory Failure Identified in Critical Care, Emergency, Inpatient, and Outpatient Settings. Sleep Med Clin. 2024;19(2):339–356.</a:t>
            </a:r>
          </a:p>
          <a:p>
            <a:r>
              <a:t>https://doi.org/10.1016/j.jsmc.2024.02.012</a:t>
            </a:r>
          </a:p>
          <a:p/>
          <a:p>
            <a:r>
              <a:t>R11: Sullivan CE, Issa FG, Berthon-Jones M, Eves L. Reversal of obstructive sleep apnoea by continuous positive airway pressure applied through the nares. Lancet. 1981;1:862–865.</a:t>
            </a:r>
          </a:p>
          <a:p>
            <a:r>
              <a:t>https://doi.org/10.1016/S0140-6736(81)92140-1</a:t>
            </a:r>
          </a:p>
          <a:p/>
          <a:p>
            <a:r>
              <a:t>R24: Patil SP, et al. Treatment of Adult Obstructive Sleep Apnea with Positive Airway Pressure: An AASM Clinical Practice Guideline. J Clin Sleep Med. 2019;15:335–343.</a:t>
            </a:r>
          </a:p>
          <a:p>
            <a:r>
              <a:t>https://doi.org/10.5664/jcsm.7640</a:t>
            </a:r>
          </a:p>
          <a:p/>
          <a:p>
            <a:r>
              <a:t>R25: Mokhlesi B, et al. Evaluation and Management of Obesity Hypoventilation Syndrome: An Official ATS Clinical Practice Guideline. Am J Respir Crit Care Med. 2019;200:e6–e24.</a:t>
            </a:r>
          </a:p>
          <a:p>
            <a:r>
              <a:t>https://doi.org/10.1164/rccm.201905-1071ST</a:t>
            </a:r>
          </a:p>
          <a:p/>
          <a:p>
            <a:r>
              <a:t>R33: Badr MS, et al. Treatment of Central Sleep Apnea in Adults: An AASM Clinical Practice Guideline. J Clin Sleep Med. 2025;21:2181–2191.</a:t>
            </a:r>
          </a:p>
          <a:p>
            <a:r>
              <a:t>https://doi.org/10.5664/jcsm.11858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S15 | COPD: trial populations and outcomes</a:t>
            </a:r>
          </a:p>
          <a:p>
            <a:r>
              <a:t>IV · Current landscape</a:t>
            </a:r>
          </a:p>
          <a:p/>
          <a:p>
            <a:r>
              <a:t>Stable hypercapnic COPD</a:t>
            </a:r>
          </a:p>
          <a:p/>
          <a:p>
            <a:r>
              <a:t>Köhnlein and colleagues studied a selected group with severe stable hypercapnic COPD using NIV targeted to a substantial PaCO₂ reduction. One-year mortality was 12% in the NIV group and 33% in the control group. The result concerns an active treatment strategy in an enriched population. It is not evidence that any amount of low-pressure nocturnal support produces the same effect in all COPD. [R30]</a:t>
            </a:r>
          </a:p>
          <a:p/>
          <a:p>
            <a:r>
              <a:t>The approximately 21-percentage-point absolute difference is descriptive of that trial's one-year risks. An NNT calculated from it is tied to the trial population and follow-up, not a constant property of the device. The main slide reports the observed risks rather than a universally portable NNT.</a:t>
            </a:r>
          </a:p>
          <a:p/>
          <a:p>
            <a:r>
              <a:t>Post-exacerbation trials</a:t>
            </a:r>
          </a:p>
          <a:p/>
          <a:p>
            <a:r>
              <a:t>RESCUE enrolled patients with prolonged hypercapnia more than 48 hours after acute ventilatory support stopped. It did not demonstrate benefit in its primary readmission-or-death outcome despite improved CO₂. HOT-HMV instead enrolled patients with persistent hypercapnia two to four weeks after resolution of respiratory acidosis. [R31] [R32]</a:t>
            </a:r>
          </a:p>
          <a:p/>
          <a:p>
            <a:r>
              <a:t>In HOT-HMV, home NIV plus oxygen prolonged time to readmission or death compared with oxygen alone. The median times were 4.3 versus 1.4 months, with an adjusted hazard ratio of 0.49 and 95% confidence interval 0.31–0.77. The comparison is a composite time-to-event outcome; it is not a statement of the same-sized reduction in mortality alone. [R32]</a:t>
            </a:r>
          </a:p>
          <a:p/>
          <a:p>
            <a:r>
              <a:t>The different results support attention to selection, timing, and the ventilation actually delivered. They do not isolate timing as the only difference between the trials. Population exclusions, interventions, and other design elements also differed. [R30] [R31] [R32]</a:t>
            </a:r>
          </a:p>
          <a:p/>
          <a:p>
            <a:r>
              <a:t>Clinical and coverage implications</a:t>
            </a:r>
          </a:p>
          <a:p/>
          <a:p>
            <a:r>
              <a:t>ATS suggests nocturnal NIV in chronic stable hypercapnic COPD, screening for OSA before long-term NIV, reassessment after recovery rather than routine initiation during the acute admission, and NIV targeted toward PaCO₂ normalization. The timing recommendation does not apply in the same way to patients who cannot be weaned from necessary ventilatory support. [R26]</a:t>
            </a:r>
          </a:p>
          <a:p/>
          <a:p>
            <a:r>
              <a:t>The trial name HOT-HMV describes home mechanical ventilation in a clinical research setting. It does not establish a US HCPCS classification or a randomized comparison of RAD and HMV reimbursement categories. The 2025 COPD coverage policy is a separate administrative document informed by evidence and policy review. [R32] [R16]</a:t>
            </a:r>
          </a:p>
          <a:p/>
          <a:p>
            <a:r>
              <a:t>REFERENCES</a:t>
            </a:r>
          </a:p>
          <a:p>
            <a:r>
              <a:t>R16: CMS. NCD 240.9: Noninvasive Positive Pressure Ventilation in the Home for Chronic Respiratory Failure Consequent to COPD. Version effective June 9, 2025.</a:t>
            </a:r>
          </a:p>
          <a:p>
            <a:r>
              <a:t>https://www.cms.gov/medicare-coverage-database/view/ncd.aspx?ncdid=380&amp;ncdver=1</a:t>
            </a:r>
          </a:p>
          <a:p/>
          <a:p>
            <a:r>
              <a:t>R26: Macrea M, et al. Long-Term Noninvasive Ventilation in Chronic Stable Hypercapnic COPD: An Official ATS Clinical Practice Guideline. Am J Respir Crit Care Med. 2020;202:e74–e87.</a:t>
            </a:r>
          </a:p>
          <a:p>
            <a:r>
              <a:t>https://doi.org/10.1164/rccm.202006-2382ST</a:t>
            </a:r>
          </a:p>
          <a:p/>
          <a:p>
            <a:r>
              <a:t>R30: Köhnlein T, et al. Non-invasive positive pressure ventilation for the treatment of severe stable COPD: a prospective, multicentre, randomised, controlled clinical trial. Lancet Respir Med. 2014;2:698–705.</a:t>
            </a:r>
          </a:p>
          <a:p>
            <a:r>
              <a:t>https://doi.org/10.1016/S2213-2600(14)70153-5</a:t>
            </a:r>
          </a:p>
          <a:p/>
          <a:p>
            <a:r>
              <a:t>R31: Struik FM, et al. Nocturnal NIV in COPD patients with prolonged hypercapnia after ventilatory support for acute respiratory failure: a randomised, controlled, parallel-group study. Thorax. 2014;69:826–834.</a:t>
            </a:r>
          </a:p>
          <a:p>
            <a:r>
              <a:t>https://doi.org/10.1136/thoraxjnl-2014-205126</a:t>
            </a:r>
          </a:p>
          <a:p/>
          <a:p>
            <a:r>
              <a:t>R32: Murphy PB, et al. Effect of Home NIV With Oxygen Therapy vs Oxygen Therapy Alone on Hospital Readmission or Death After an Acute COPD Exacerbation. JAMA. 2017;317:2177–2186.</a:t>
            </a:r>
          </a:p>
          <a:p>
            <a:r>
              <a:t>https://doi.org/10.1001/jama.2017.4451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S16 | Nocturnal and mixed-disease evidence</a:t>
            </a:r>
          </a:p>
          <a:p>
            <a:r>
              <a:t>IV · Current landscape</a:t>
            </a:r>
          </a:p>
          <a:p/>
          <a:p>
            <a:r>
              <a:t>Daytime normocapnia with nocturnal hypoventilation</a:t>
            </a:r>
          </a:p>
          <a:p/>
          <a:p>
            <a:r>
              <a:t>Ward and colleagues randomized 26 patients with congenital neuromuscular or chest-wall disease, vital capacity below 50% predicted, daytime normocapnia, and nocturnal hypercapnia. NIV improved nocturnal gas exchange, and many control participants subsequently met criteria for ventilatory support. The trial supplies direct evidence relevant to selected night-only impairment. [R28]</a:t>
            </a:r>
          </a:p>
          <a:p/>
          <a:p>
            <a:r>
              <a:t>The study was small and included a mixed-age disease-specific population. It does not demonstrate the same benefit for all adults with an isolated borderline nocturnal CO₂ value. A trial-defined phenotype, a sleep-scoring threshold, and an insurance eligibility threshold remain different constructions. [R28] [R38]</a:t>
            </a:r>
          </a:p>
          <a:p/>
          <a:p>
            <a:r>
              <a:t>CHEST recommends NIV for NMD with chronic respiratory failure and individualized treatment to achieve ventilation goals. Daytime support, mouthpiece ventilation, bulbar function, secretion clearance, and patient preferences enter the broader respiratory-care context. A precise forced sequence from one billing category to another is not itself the guideline intervention. [R27]</a:t>
            </a:r>
          </a:p>
          <a:p/>
          <a:p>
            <a:r>
              <a:t>Obesity and obstructive airway disease</a:t>
            </a:r>
          </a:p>
          <a:p/>
          <a:p>
            <a:r>
              <a:t>Zheng and colleagues compared CPAP with spontaneous-mode bilevel PAP in a pilot trial of 32 patients with obesity, obstructive airway disease, and chronic hypercapnia. At three months, the between-group difference in PaCO₂ reduction favored bilevel by 9.4 mmHg, with a 95% confidence interval of 4.3–15.0 mmHg. [R29]</a:t>
            </a:r>
          </a:p>
          <a:p/>
          <a:p>
            <a:r>
              <a:t>This is relevant evidence for a mixed phenotype often excluded from cleaner disease-specific trials. The endpoint was gas exchange, the bilevel mode was spontaneous, and the study was not a mortality comparison or an HMV-versus-RAD trial. It also did not enroll a general population with normal daytime PaCO₂ and isolated nocturnal impairment. [R29]</a:t>
            </a:r>
          </a:p>
          <a:p/>
          <a:p>
            <a:r>
              <a:t>Remaining gaps</a:t>
            </a:r>
          </a:p>
          <a:p/>
          <a:p>
            <a:r>
              <a:t>The available studies leave uncertainty about who benefits from treatment before sustained daytime hypercapnia, how long treatment should continue after a reversible illness, and which combination of settings and follow-up produces the best clinical outcomes in mixed disease. Much of the evidence supporting care-delivery processes and monitoring targets remains lower certainty than the evidence for NIV in selected established indications. [R02]</a:t>
            </a:r>
          </a:p>
          <a:p/>
          <a:p>
            <a:r>
              <a:t>REFERENCES</a:t>
            </a:r>
          </a:p>
          <a:p>
            <a:r>
              <a:t>R02: Locke BW, Brown J. What Are We Aiming for in Chronic Hypercapnic Respiratory Failure? Respir Care. 2023;68(12):1775–1778.</a:t>
            </a:r>
          </a:p>
          <a:p>
            <a:r>
              <a:t>https://doi.org/10.4187/respcare.11573</a:t>
            </a:r>
          </a:p>
          <a:p/>
          <a:p>
            <a:r>
              <a:t>R27: Khan A, et al. Respiratory Management of Patients With Neuromuscular Weakness: CHEST Clinical Practice Guideline and Expert Panel Report. Chest. 2023;164:394–413.</a:t>
            </a:r>
          </a:p>
          <a:p>
            <a:r>
              <a:t>https://doi.org/10.1016/j.chest.2023.03.011</a:t>
            </a:r>
          </a:p>
          <a:p/>
          <a:p>
            <a:r>
              <a:t>R28: Ward S, Chatwin M, Heather S, Simonds AK. Randomised controlled trial of NIV for nocturnal hypoventilation in neuromuscular and chest wall disease patients with daytime normocapnia. Thorax. 2005;60:1019–1024.</a:t>
            </a:r>
          </a:p>
          <a:p>
            <a:r>
              <a:t>https://doi.org/10.1136/thx.2004.037424</a:t>
            </a:r>
          </a:p>
          <a:p/>
          <a:p>
            <a:r>
              <a:t>R29: Zheng Y, Yee BJ, Wong K, Grunstein R, Piper A. A pilot randomized trial comparing CPAP vs bilevel PAP spontaneous mode in patients with obesity and obstructive airway disease. J Clin Sleep Med. 2022;18:99–107.</a:t>
            </a:r>
          </a:p>
          <a:p>
            <a:r>
              <a:t>https://doi.org/10.5664/jcsm.9506</a:t>
            </a:r>
          </a:p>
          <a:p/>
          <a:p>
            <a:r>
              <a:t>R38: Berry RB, et al. Rules for Scoring Respiratory Events in Sleep: Update of the 2007 AASM Manual. J Clin Sleep Med. 2012;8:597–619.</a:t>
            </a:r>
          </a:p>
          <a:p>
            <a:r>
              <a:t>https://doi.org/10.5664/jcsm.2172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S17 | Noninvasive ventilator claims, 2009–2015</a:t>
            </a:r>
          </a:p>
          <a:p>
            <a:r>
              <a:t>IV · Current landscape</a:t>
            </a:r>
          </a:p>
          <a:p/>
          <a:p>
            <a:r>
              <a:t>Scope of the OIG analysis</a:t>
            </a:r>
          </a:p>
          <a:p/>
          <a:p>
            <a:r>
              <a:t>The 2016 HHS Office of Inspector General report analyzed Medicare claims for noninvasive pressure-support ventilators coded E0464 from 2009 through 2015. This is a historical code-specific analysis. E0466 was introduced later and is not the code under which the 2009–2015 claim series was counted. [R47]</a:t>
            </a:r>
          </a:p>
          <a:p/>
          <a:p>
            <a:r>
              <a:t>Magnitude and denominator</a:t>
            </a:r>
          </a:p>
          <a:p/>
          <a:p>
            <a:r>
              <a:t>Paid E0464 claims increased from 2,528 in 2009 to 215,379 in 2015, approximately an 85-fold ratio. The number of beneficiaries associated with those claims increased from 415 to 32,848. A beneficiary could generate multiple claims; the 215,379 figure is therefore not a patient count. [R47]</a:t>
            </a:r>
          </a:p>
          <a:p/>
          <a:p>
            <a:r>
              <a:t>Combined expenditures for Medicare and beneficiaries increased from $3.8 million to $340 million. The expenditure denominator includes beneficiary liability as well as Medicare spending. These values are not estimates of the acquisition cost of the machines, current rental rates, or total national home-ventilation spending across all payers. [R47]</a:t>
            </a:r>
          </a:p>
          <a:p/>
          <a:p>
            <a:r>
              <a:t>Changes accompanying growth</a:t>
            </a:r>
          </a:p>
          <a:p/>
          <a:p>
            <a:r>
              <a:t>Three national suppliers accounted for 54% of nationwide beneficiary growth from 2012 through 2015. The diagnosis mix shifted from neuromuscular toward respiratory conditions. Those observations describe the distribution of claims growth and do not independently establish the medical necessity of each device. [R47]</a:t>
            </a:r>
          </a:p>
          <a:p/>
          <a:p>
            <a:r>
              <a:t>The report did not find evidence that reduced CPAP/RAD prices in competitive-bidding areas explained the increase. It also found that a large proportion of new ventilator beneficiaries had not recently switched from billed CPAP or RAD equipment. This does not rule out initial placement directly onto ventilators, but it does limit a simple explanation based entirely on observed switching. [R47]</a:t>
            </a:r>
          </a:p>
          <a:p/>
          <a:p>
            <a:r>
              <a:t>Interpretation</a:t>
            </a:r>
          </a:p>
          <a:p/>
          <a:p>
            <a:r>
              <a:t>The report is evidence of rapid growth and payment-integrity concerns. It is not an estimate of the proportion of all ventilator users who received unnecessary treatment. The current slide does not infer a causal effect of a particular coverage rule from the before-and-after counts. The adjacent slide distinguishes billing indicators from clinical appropriateness and access concerns. [R47]</a:t>
            </a:r>
          </a:p>
          <a:p/>
          <a:p>
            <a:r>
              <a:t>SOURCE QUALIFICATION</a:t>
            </a:r>
          </a:p>
          <a:p>
            <a:r>
              <a:t>Primary descriptive oversight data; expenditure figures include Medicare and beneficiary amounts.</a:t>
            </a:r>
          </a:p>
          <a:p/>
          <a:p>
            <a:r>
              <a:t>REFERENCES</a:t>
            </a:r>
          </a:p>
          <a:p>
            <a:r>
              <a:t>R47: HHS OIG. Escalating Medicare Billing for Ventilators Raises Concerns. Full report OEI-12-15-00370. September 2016.</a:t>
            </a:r>
          </a:p>
          <a:p>
            <a:r>
              <a:t>https://oig.hhs.gov/documents/evaluation/3183/OEI-12-15-00370-Complete%20Report.pdf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S18 | Access barriers and inappropriate billing</a:t>
            </a:r>
          </a:p>
          <a:p>
            <a:r>
              <a:t>IV · Current landscape</a:t>
            </a:r>
          </a:p>
          <a:p/>
          <a:p>
            <a:r>
              <a:t>Inappropriate billing indicators</a:t>
            </a:r>
          </a:p>
          <a:p/>
          <a:p>
            <a:r>
              <a:t>The OIG identified approximately $25 million in payments with indicators of inappropriate billing, including certain claims associated with OSA treatment and multiple or overlapping respiratory devices. The report referred claims for further review. An indicator in administrative data is not equivalent to a complete independent clinical assessment of the patient or an adjudicated finding of fraud. [R47]</a:t>
            </a:r>
          </a:p>
          <a:p/>
          <a:p>
            <a:r>
              <a:t>The report also described high denial rates in selected contractor prepayment reviews, largely because of deficient clinical documentation. Selected claims under review are not a random sample of every home-ventilator prescription. Their denial rate cannot be generalized into a national clinical-overuse prevalence. [R47]</a:t>
            </a:r>
          </a:p>
          <a:p/>
          <a:p>
            <a:r>
              <a:t>Access and service concerns</a:t>
            </a:r>
          </a:p>
          <a:p/>
          <a:p>
            <a:r>
              <a:t>ONMAP reported that some clinicians found qualification for a backup-rate RAD more difficult than arranging a home ventilator, despite overlapping treatment capabilities. Clinicians also described ongoing clinical and technical support as important to successful home NIV. These observations support a concern about misalignment among patient needs, qualification rules, and payment arrangements. [R14]</a:t>
            </a:r>
          </a:p>
          <a:p/>
          <a:p>
            <a:r>
              <a:t>Gusman and Wolfe similarly discuss the possibility that restrictive RAD requirements encouraged use of a more complex platform in circumstances where its unique capabilities were not necessary. This is a later clinical interpretation. It does not establish a measured causal effect of RAD criteria on the entire ventilator claims increase. [R10]</a:t>
            </a:r>
          </a:p>
          <a:p/>
          <a:p>
            <a:r>
              <a:t>Boundaries of the historical interpretation</a:t>
            </a:r>
          </a:p>
          <a:p/>
          <a:p>
            <a:r>
              <a:t>The reviewed sources document three different things: equipment-payment differences; reports of clinical access barriers; and claims patterns with billing-integrity signals. They do not prove a single closed chain in which one older rule caused all later ventilator growth or caused the 2025 national policy. [R13] [R14] [R47]</a:t>
            </a:r>
          </a:p>
          <a:p/>
          <a:p>
            <a:r>
              <a:t>The term overuse is therefore used here only in connection with source-specific evidence of possible or identified inappropriate use or billing, not as a label for the entire expansion of home ventilation. Effective NIV in a patient with unmet need, a correct treatment billed incorrectly, inadequate documentation, and an unnecessarily complex device are separate situations.</a:t>
            </a:r>
          </a:p>
          <a:p/>
          <a:p>
            <a:r>
              <a:t>Relation to the present landscape</a:t>
            </a:r>
          </a:p>
          <a:p/>
          <a:p>
            <a:r>
              <a:t>The newer COPD policy contains explicit RAD and HMV pathways in a single NCD. This is a documented policy change. Its effect on access, platform selection, clinical outcomes, or expenditure cannot be inferred merely from publication of the criteria. Evaluation of those effects would require subsequent outcome and utilization data. [R16]</a:t>
            </a:r>
          </a:p>
          <a:p/>
          <a:p>
            <a:r>
              <a:t>REFERENCES</a:t>
            </a:r>
          </a:p>
          <a:p>
            <a:r>
              <a:t>R10: Gusman E, Wolfe LF. Billing and Coding Guidance: Device and Discharge Planning. Sleep Med Clin. 2025.</a:t>
            </a:r>
          </a:p>
          <a:p>
            <a:r>
              <a:t>https://doi.org/10.1016/j.jsmc.2025.07.014</a:t>
            </a:r>
          </a:p>
          <a:p/>
          <a:p>
            <a:r>
              <a:t>R13: CMS. Medicare Program; Payment for Respiratory Assist Devices With Bi-Level Capability and a Backup Rate. Final rule. 71 FR 4518–4525. January 27, 2006. Effective April 1, 2006.</a:t>
            </a:r>
          </a:p>
          <a:p>
            <a:r>
              <a:t>https://www.govinfo.gov/content/pkg/FR-2006-01-27/html/06-798.htm</a:t>
            </a:r>
          </a:p>
          <a:p/>
          <a:p>
            <a:r>
              <a:t>R14: Gay PC, Owens RL, on behalf of the ONMAP Technical Expert Panel. Optimal NIV Medicare Access Promotion: Executive Summary. Chest. 2021;160(5):1808–1821.</a:t>
            </a:r>
          </a:p>
          <a:p>
            <a:r>
              <a:t>https://doi.org/10.1016/j.chest.2021.05.074</a:t>
            </a:r>
          </a:p>
          <a:p/>
          <a:p>
            <a:r>
              <a:t>R16: CMS. NCD 240.9: Noninvasive Positive Pressure Ventilation in the Home for Chronic Respiratory Failure Consequent to COPD. Version effective June 9, 2025.</a:t>
            </a:r>
          </a:p>
          <a:p>
            <a:r>
              <a:t>https://www.cms.gov/medicare-coverage-database/view/ncd.aspx?ncdid=380&amp;ncdver=1</a:t>
            </a:r>
          </a:p>
          <a:p/>
          <a:p>
            <a:r>
              <a:t>R47: HHS OIG. Escalating Medicare Billing for Ventilators Raises Concerns. Full report OEI-12-15-00370. September 2016.</a:t>
            </a:r>
          </a:p>
          <a:p>
            <a:r>
              <a:t>https://oig.hhs.gov/documents/evaluation/3183/OEI-12-15-00370-Complete%20Report.pdf</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S19 | Medicare coverage terminology</a:t>
            </a:r>
          </a:p>
          <a:p>
            <a:r>
              <a:t>IV · Current landscape</a:t>
            </a:r>
          </a:p>
          <a:p/>
          <a:p>
            <a:r>
              <a:t>National and local policy</a:t>
            </a:r>
          </a:p>
          <a:p/>
          <a:p>
            <a:r>
              <a:t>CMS publishes National Coverage Determinations, or NCDs, that grant, limit, or exclude Medicare coverage for specified services or technologies. Medicare Administrative Contractors, or MACs, implement coverage and claims administration. Local Coverage Determinations, or LCDs, address contractor-level coverage questions and cannot contradict national coverage policy. [R40]</a:t>
            </a:r>
          </a:p>
          <a:p/>
          <a:p>
            <a:r>
              <a:t>An NCD is not a professional society guideline. A guideline evaluates clinical practice; a coverage determination identifies circumstances under which Medicare considers a service covered within the benefit structure. The two documents may cite overlapping evidence while having different functions. [R16] [R26]</a:t>
            </a:r>
          </a:p>
          <a:p/>
          <a:p>
            <a:r>
              <a:t>Supplier versus contractor</a:t>
            </a:r>
          </a:p>
          <a:p/>
          <a:p>
            <a:r>
              <a:t>Durable medical equipment suppliers furnish the equipment. Supplier activities can include intake, collection of supporting records, coding and billing, setup, patient instruction, maintenance arrangements, and supply replacement. A DME MAC is not a local equipment shop or a hospital discharge planner. It administers Medicare claims and associated policy requirements. [R19] [R20]</a:t>
            </a:r>
          </a:p>
          <a:p/>
          <a:p>
            <a:r>
              <a:t>Supplier eligibility review is not automatically the same process as a formal payer prior authorization. Prior authorization, face-to-face documentation, and a written order prior to delivery are distinct requirements. Their applicability depends on the item, date of service, and payer. [R19] [R21]</a:t>
            </a:r>
          </a:p>
          <a:p/>
          <a:p>
            <a:r>
              <a:t>Codes, articles, and transmittals</a:t>
            </a:r>
          </a:p>
          <a:p/>
          <a:p>
            <a:r>
              <a:t>A HCPCS code describes the equipment or service being billed. The code does not establish the diagnosis or prove that the device was medically necessary. Related policy articles contain coding and documentation details. Claims-processing transmittals implement rules in payment systems and can change independently of the clinical policy text. [R19] [R16]</a:t>
            </a:r>
          </a:p>
          <a:p/>
          <a:p>
            <a:r>
              <a:t>CMS records an effective date and an implementation date because coverage and the operational claims-system change are not always simultaneous. The 2025 COPD policy is an example: June 9, 2025 is its effective date, whereas October 22, 2025 is the original implementation date. [R16]</a:t>
            </a:r>
          </a:p>
          <a:p/>
          <a:p>
            <a:r>
              <a:t>Other payers</a:t>
            </a:r>
          </a:p>
          <a:p/>
          <a:p>
            <a:r>
              <a:t>Original Medicare is the detailed example in this presentation. Medicaid coverage depends on the applicable state program and, where relevant, managed-care arrangement. Utah Medicaid's criteria page describes its own medical-necessity and authorization framework. Commercial and Medicare Advantage administration can also introduce plan-specific processes. None of these are established simply by substituting the payer name on a Medicare slide. [R23]</a:t>
            </a:r>
          </a:p>
          <a:p/>
          <a:p>
            <a:r>
              <a:t>REFERENCES</a:t>
            </a:r>
          </a:p>
          <a:p>
            <a:r>
              <a:t>R16: CMS. NCD 240.9: Noninvasive Positive Pressure Ventilation in the Home for Chronic Respiratory Failure Consequent to COPD. Version effective June 9, 2025.</a:t>
            </a:r>
          </a:p>
          <a:p>
            <a:r>
              <a:t>https://www.cms.gov/medicare-coverage-database/view/ncd.aspx?ncdid=380&amp;ncdver=1</a:t>
            </a:r>
          </a:p>
          <a:p/>
          <a:p>
            <a:r>
              <a:t>R19: DME MACs. Article A55426: Standard Documentation Requirements for All Claims Submitted to DME MACs.</a:t>
            </a:r>
          </a:p>
          <a:p>
            <a:r>
              <a:t>https://www.cms.gov/medicare-coverage-database/view/article.aspx?articleid=55426</a:t>
            </a:r>
          </a:p>
          <a:p/>
          <a:p>
            <a:r>
              <a:t>R20: Noridian. Correct Billing and Coding of Ventilators, revised.</a:t>
            </a:r>
          </a:p>
          <a:p>
            <a:r>
              <a:t>https://med.noridianmedicare.com/web/jadme/policies/dmd-articles/2025/correct-billing-and-coding-of-ventilators-revised-b</a:t>
            </a:r>
          </a:p>
          <a:p/>
          <a:p>
            <a:r>
              <a:t>R21: CMS. DMEPOS Written Order, Face-to-Face Encounter, and Written Order Prior to Delivery Requirements.</a:t>
            </a:r>
          </a:p>
          <a:p>
            <a:r>
              <a:t>https://www.cms.gov/data-research/monitoring-programs/medicare-fee-service-compliance-programs/medical-review-and-education/dmepos-order-requirements</a:t>
            </a:r>
          </a:p>
          <a:p/>
          <a:p>
            <a:r>
              <a:t>R23: Utah Medicaid. Utah Medicaid Criteria.</a:t>
            </a:r>
          </a:p>
          <a:p>
            <a:r>
              <a:t>https://medicaid.utah.gov/utah-medicaid-criteria/</a:t>
            </a:r>
          </a:p>
          <a:p/>
          <a:p>
            <a:r>
              <a:t>R26: Macrea M, et al. Long-Term Noninvasive Ventilation in Chronic Stable Hypercapnic COPD: An Official ATS Clinical Practice Guideline. Am J Respir Crit Care Med. 2020;202:e74–e87.</a:t>
            </a:r>
          </a:p>
          <a:p>
            <a:r>
              <a:t>https://doi.org/10.1164/rccm.202006-2382ST</a:t>
            </a:r>
          </a:p>
          <a:p/>
          <a:p>
            <a:r>
              <a:t>R40: CMS. National and Local Coverage Determination Process.</a:t>
            </a:r>
          </a:p>
          <a:p>
            <a:r>
              <a:t>https://www.cms.gov/medicare/coverage/determination-process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 | COPD national coverage, 2025</a:t>
            </a:r>
          </a:p>
          <a:p>
            <a:r>
              <a:t>IV · Current landscape</a:t>
            </a:r>
          </a:p>
          <a:p/>
          <a:p>
            <a:r>
              <a:t>Policy scope</a:t>
            </a:r>
          </a:p>
          <a:p/>
          <a:p>
            <a:r>
              <a:t>NCD 240.9 addresses noninvasive positive-pressure ventilation at home for chronic respiratory failure consequent to COPD. It covers RADs with or without a backup rate and HMVs used in a volume-targeted mode under specified conditions. It is not a unifying NCD for every cause of chronic hypoventilation or every form of sleep-disordered breathing. [R16]</a:t>
            </a:r>
          </a:p>
          <a:p/>
          <a:p>
            <a:r>
              <a:t>Its effective date is June 9, 2025. The initial implementation date is October 22, 2025. L33800 was revised to remove the former severe-COPD criteria and cross-reference the national policy. NCD 280.1 also contains a cross-reference to the COPD NCD. [R16] [R17] [R41]</a:t>
            </a:r>
          </a:p>
          <a:p/>
          <a:p>
            <a:r>
              <a:t>Structure</a:t>
            </a:r>
          </a:p>
          <a:p/>
          <a:p>
            <a:r>
              <a:t>The NCD distinguishes standard initial RAD coverage, an alternative RAD pathway without backup, and a RAD pathway immediately after hospital discharge. It also distinguishes standard HMV coverage from a hospital-discharge HMV route. Continuing-use requirements and repeat evaluations are specified. [R16]</a:t>
            </a:r>
          </a:p>
          <a:p/>
          <a:p>
            <a:r>
              <a:t>The standard routes use an awake arterial PaCO₂ threshold and an assessment that sleep apnea is not the predominant cause of hypercapnia. That wording allows coexisting sleep apnea. It does not mean that OSA must be absent. Formal sleep testing is not universally required when the treating clinician's assessment meets the policy's condition. [R16]</a:t>
            </a:r>
          </a:p>
          <a:p/>
          <a:p>
            <a:r>
              <a:t>2026 implementation clarifications</a:t>
            </a:r>
          </a:p>
          <a:p/>
          <a:p>
            <a:r>
              <a:t>The January 2026 revision history describes technical and claims-processing changes, including removal of E0465 from these claims-processing instructions. The April 2026 entry removes high-intensity wording from the HMV portion of the claims-processing manual because that term applies to RADs in this policy. The May entry corrects numbering and a business requirement. These implementation changes are not separate randomized clinical evidence or a new all-diagnosis NIV policy. [R16]</a:t>
            </a:r>
          </a:p>
          <a:p/>
          <a:p>
            <a:r>
              <a:t>Other determinations</a:t>
            </a:r>
          </a:p>
          <a:p/>
          <a:p>
            <a:r>
              <a:t>Section D preserves MAC authority to make reasonable-and-necessary determinations for initial or continued COPD-related RAD or HMV coverage. It is neither a guarantee of payment outside the enumerated routes nor a reason to portray the displayed national thresholds as the only conceivable coverage adjudication. [R16]</a:t>
            </a:r>
          </a:p>
          <a:p/>
          <a:p>
            <a:r>
              <a:t>The ONMAP reports are multisociety recommendations for improved access and policy design. They are not themselves binding coverage rules, and their proposed criteria are not interchangeable with the final NCD. [R14]</a:t>
            </a:r>
          </a:p>
          <a:p/>
          <a:p>
            <a:r>
              <a:t>REFERENCES</a:t>
            </a:r>
          </a:p>
          <a:p>
            <a:r>
              <a:t>R14: Gay PC, Owens RL, on behalf of the ONMAP Technical Expert Panel. Optimal NIV Medicare Access Promotion: Executive Summary. Chest. 2021;160(5):1808–1821.</a:t>
            </a:r>
          </a:p>
          <a:p>
            <a:r>
              <a:t>https://doi.org/10.1016/j.chest.2021.05.074</a:t>
            </a:r>
          </a:p>
          <a:p/>
          <a:p>
            <a:r>
              <a:t>R16: CMS. NCD 240.9: Noninvasive Positive Pressure Ventilation in the Home for Chronic Respiratory Failure Consequent to COPD. Version effective June 9, 2025.</a:t>
            </a:r>
          </a:p>
          <a:p>
            <a:r>
              <a:t>https://www.cms.gov/medicare-coverage-database/view/ncd.aspx?ncdid=380&amp;ncdver=1</a:t>
            </a:r>
          </a:p>
          <a:p/>
          <a:p>
            <a:r>
              <a:t>R17: DME MACs. LCD L33800: Respiratory Assist Devices.</a:t>
            </a:r>
          </a:p>
          <a:p>
            <a:r>
              <a:t>https://www.cms.gov/medicare-coverage-database/view/lcd.aspx?lcdid=33800</a:t>
            </a:r>
          </a:p>
          <a:p/>
          <a:p>
            <a:r>
              <a:t>R41: CMS. NCD 280.1: Durable Medical Equipment Reference List.</a:t>
            </a:r>
          </a:p>
          <a:p>
            <a:r>
              <a:t>https://www.cms.gov/medicare-coverage-database/view/ncd.aspx?ncdid=190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 | NCD 240.9: RAD pathways</a:t>
            </a:r>
          </a:p>
          <a:p>
            <a:r>
              <a:t>IV · Current landscape</a:t>
            </a:r>
          </a:p>
          <a:p/>
          <a:p>
            <a:r>
              <a:t>Standard route with a backup rate</a:t>
            </a:r>
          </a:p>
          <a:p/>
          <a:p>
            <a:r>
              <a:t>Initial coverage is six months. The standard backup-rate RAD route requires persistent hypercapnia demonstrated by an awake arterial PaCO₂ of at least 52 mmHg while breathing the prescribed inspired oxygen concentration. Sleep apnea must not be the predominant cause of hypercapnia. Formal sleep testing is not required when the treating clinician determines that sleep apnea is not predominant. [R16]</a:t>
            </a:r>
          </a:p>
          <a:p/>
          <a:p>
            <a:r>
              <a:t>The patient must also have stable COPD or hypercapnia present for at least two weeks after hospitalization and resolution of an exacerbation requiring acute NIV. The policy defines stability by no increase in or new onset of more than one respiratory symptom lasting two or more days, and no pharmacologic treatment change during the two weeks before initiation. The symptom list is cough, sputum production, sputum purulence, wheezing, or dyspnea. The phrase more than one is part of the policy. [R16]</a:t>
            </a:r>
          </a:p>
          <a:p/>
          <a:p>
            <a:r>
              <a:t>By the end of the initial six-month period, the RAD with backup is to be used as high-intensity therapy, operationally defined by IPAP at least 15 cm H₂O and a backup respiratory rate of at least 14 breaths per minute. These are the NCD's administrative minimum settings. They do not establish that those minimum settings normalize CO₂ or are an optimal individual prescription. [R16]</a:t>
            </a:r>
          </a:p>
          <a:p/>
          <a:p>
            <a:r>
              <a:t>Route without a backup rate</a:t>
            </a:r>
          </a:p>
          <a:p/>
          <a:p>
            <a:r>
              <a:t>A RAD without backup can be covered when the patient cannot tolerate high-intensity NIV or a backup rate is otherwise medically inappropriate. The policy specifies awake arterial PaCO₂ at least 52 mmHg and sleep apnea not being predominant. This is an explicit route, not a requirement that every COPD patient first fail an E0470 device before receiving E0471. [R16]</a:t>
            </a:r>
          </a:p>
          <a:p/>
          <a:p>
            <a:r>
              <a:t>Hospital-discharge route</a:t>
            </a:r>
          </a:p>
          <a:p/>
          <a:p>
            <a:r>
              <a:t>For acute-on-chronic respiratory failure due to COPD, a RAD with or without backup is covered immediately after discharge when a RAD or ventilator was required in the preceding 24 hours and the treating clinician determines that rapid symptom worsening or a PaCO₂ increase is a risk. Initial coverage is again six months. [R16]</a:t>
            </a:r>
          </a:p>
          <a:p/>
          <a:p>
            <a:r>
              <a:t>This subsection does not separately repeat the standard route's PaCO₂ threshold or two-week waiting interval. The slide reports that difference without claiming that blood gases have no clinical role or that every person who briefly received inpatient NIV meets the pathway. The specified acute-on-chronic COPD context and clinician assessment remain part of the text. [R16]</a:t>
            </a:r>
          </a:p>
          <a:p/>
          <a:p>
            <a:r>
              <a:t>REFERENCES</a:t>
            </a:r>
          </a:p>
          <a:p>
            <a:r>
              <a:t>R16: CMS. NCD 240.9: Noninvasive Positive Pressure Ventilation in the Home for Chronic Respiratory Failure Consequent to COPD. Version effective June 9, 2025.</a:t>
            </a:r>
          </a:p>
          <a:p>
            <a:r>
              <a:t>https://www.cms.gov/medicare-coverage-database/view/ncd.aspx?ncdid=380&amp;ncdver=1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S22 | NCD 240.9: HMV pathways</a:t>
            </a:r>
          </a:p>
          <a:p>
            <a:r>
              <a:t>IV · Current landscape</a:t>
            </a:r>
          </a:p>
          <a:p/>
          <a:p>
            <a:r>
              <a:t>Standard initial HMV coverage</a:t>
            </a:r>
          </a:p>
          <a:p/>
          <a:p>
            <a:r>
              <a:t>The COPD NCD specifies an HMV used in a volume-targeted mode. Standard initial coverage requires awake arterial PaCO₂ at least 52 mmHg on prescribed inspired oxygen and a finding that sleep apnea is not the predominant cause of hypercapnia. At least one additional qualifying characteristic is required. [R16]</a:t>
            </a:r>
          </a:p>
          <a:p/>
          <a:p>
            <a:r>
              <a:t>Those characteristics are oxygen therapy at an inspired oxygen fraction of at least 36% or at least 4 L nasally; ventilatory support for more than eight hours per 24 hours; a specified need for HMV alarms and internal battery because independent breathing is ineffective beyond a few hours and unrecognized interruption could be life-threatening; or clinician-supported expected inadequacy of a backup-rate RAD because the patient's needs exceed its capabilities. [R16]</a:t>
            </a:r>
          </a:p>
          <a:p/>
          <a:p>
            <a:r>
              <a:t>The oxygen thresholds are policy criteria. A nasal oxygen flow rate does not deliver an identical measured inspired oxygen fraction under all physiologic or equipment conditions. The slide does not present the two alternatives as a universal physiologic conversion. [R16]</a:t>
            </a:r>
          </a:p>
          <a:p/>
          <a:p>
            <a:r>
              <a:t>Expected RAD inadequacy</a:t>
            </a:r>
          </a:p>
          <a:p/>
          <a:p>
            <a:r>
              <a:t>The final branch concerns an expectation that none of the listed clinical outcomes would be achievable with consistent backup-rate RAD use because of needs beyond the RAD's capabilities. The outcomes include PaCO₂ normalization, stabilization of a rising PaCO₂, a 20% PaCO₂ reduction, or improvement in specified symptoms. It is not a categorical requirement for a failed rental trial in every patient. [R16]</a:t>
            </a:r>
          </a:p>
          <a:p/>
          <a:p>
            <a:r>
              <a:t>The condition concerns capability and medical need rather than the brand name or price of the platform. A mode label such as VAPS alone is not proof of HMV necessity because relevant support strategies may exist on more than one class of equipment. [R16] [R14]</a:t>
            </a:r>
          </a:p>
          <a:p/>
          <a:p>
            <a:r>
              <a:t>Hospital-discharge HMV route</a:t>
            </a:r>
          </a:p>
          <a:p/>
          <a:p>
            <a:r>
              <a:t>Immediate coverage after discharge applies to acute-on-chronic respiratory failure due to COPD when needs exceeded RAD capabilities, a ventilator was required during the preceding 24 hours, and the clinician identifies risk of rapid symptom exacerbation or increased PaCO₂. A volume-targeted mode remains specified. Initial coverage is six months. [R16]</a:t>
            </a:r>
          </a:p>
          <a:p/>
          <a:p>
            <a:r>
              <a:t>Interface provision and scope</a:t>
            </a:r>
          </a:p>
          <a:p/>
          <a:p>
            <a:r>
              <a:t>For volume-targeted HMV used more than eight hours per day with an oronasal mask at night, the NCD provides a different daytime interface, such as a mouthpiece or nasal mask. The exact equipment and supplies remain subject to the applicable payment and coding rules. These COPD-specific thresholds are not being restated as universal HMV requirements for NMD or chest-wall disorders. [R16]</a:t>
            </a:r>
          </a:p>
          <a:p/>
          <a:p>
            <a:r>
              <a:t>REFERENCES</a:t>
            </a:r>
          </a:p>
          <a:p>
            <a:r>
              <a:t>R14: Gay PC, Owens RL, on behalf of the ONMAP Technical Expert Panel. Optimal NIV Medicare Access Promotion: Executive Summary. Chest. 2021;160(5):1808–1821.</a:t>
            </a:r>
          </a:p>
          <a:p>
            <a:r>
              <a:t>https://doi.org/10.1016/j.chest.2021.05.074</a:t>
            </a:r>
          </a:p>
          <a:p/>
          <a:p>
            <a:r>
              <a:t>R16: CMS. NCD 240.9: Noninvasive Positive Pressure Ventilation in the Home for Chronic Respiratory Failure Consequent to COPD. Version effective June 9, 2025.</a:t>
            </a:r>
          </a:p>
          <a:p>
            <a:r>
              <a:t>https://www.cms.gov/medicare-coverage-database/view/ncd.aspx?ncdid=380&amp;ncdver=1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S23 | Continued coverage and documentation</a:t>
            </a:r>
          </a:p>
          <a:p>
            <a:r>
              <a:t>IV · Current landscape</a:t>
            </a:r>
          </a:p>
          <a:p/>
          <a:p>
            <a:r>
              <a:t>First year after initiation</a:t>
            </a:r>
          </a:p>
          <a:p/>
          <a:p>
            <a:r>
              <a:t>NCD 240.9 requires at least two treating-clinician evaluations during the first year: one by the end of the initial six-month coverage period and another during months seven through twelve. At the first evaluation, the usage threshold is at least four hours per 24-hour period on at least 70% of days in a 30-day period. [R16]</a:t>
            </a:r>
          </a:p>
          <a:p/>
          <a:p>
            <a:r>
              <a:t>For RADs, the initial evaluation also documents at least one listed outcome: PaCO₂ below 46 mmHg, stabilization of a rising PaCO₂, a reduction of at least 20% from baseline, or improvement in headache, fatigue, breathlessness, confusion, or sleep quality. For HMVs, the continuing-coverage subsection specifies usage without this additional outcome list. That administrative difference does not imply that patient benefit is unimportant in clinical monitoring. [R16]</a:t>
            </a:r>
          </a:p>
          <a:p/>
          <a:p>
            <a:r>
              <a:t>At the second evaluation, use is established for each paid rental month. Afterward, the RAD provisions extend to each remaining paid rental month and any month in which accessories or supplies are dispensed. HMV language continues the usage requirement for paid rental months. These rules differ from the first-three-month PAP and non-COPD RAD schedules. [R16] [R17] [R18]</a:t>
            </a:r>
          </a:p>
          <a:p/>
          <a:p>
            <a:r>
              <a:t>Evidence of use</a:t>
            </a:r>
          </a:p>
          <a:p/>
          <a:p>
            <a:r>
              <a:t>CMS's NCD 240.9 FAQ states that the national policy does not require a machine readout as the sole documentation source. Clinician documentation of reported use can support the requirement. This differs from the OSA PAP LCD's explicit objective-adherence wording. It does not prevent use of downloads to characterize adherence or technical performance. [R46] [R18]</a:t>
            </a:r>
          </a:p>
          <a:p/>
          <a:p>
            <a:r>
              <a:t>Forthcoming equipment-documentation change</a:t>
            </a:r>
          </a:p>
          <a:p/>
          <a:p>
            <a:r>
              <a:t>A September 10, 2026 contractor announcement identifies E0466, E0467, and E0468 among codes added to the face-to-face encounter and written-order-prior-to-delivery list effective October 28, 2026. The treating-practitioner encounter is within six months before the order. As of this package's September 19 evidence cutoff, the change is forthcoming. [R22]</a:t>
            </a:r>
          </a:p>
          <a:p/>
          <a:p>
            <a:r>
              <a:t>Face-to-face documentation, a written order before delivery, prior authorization, and satisfaction of clinical NCD criteria are different requirements. The addition to one list does not automatically mean the item was added to a prior-authorization list. [R21] [R22]</a:t>
            </a:r>
          </a:p>
          <a:p/>
          <a:p>
            <a:r>
              <a:t>REFERENCES</a:t>
            </a:r>
          </a:p>
          <a:p>
            <a:r>
              <a:t>R16: CMS. NCD 240.9: Noninvasive Positive Pressure Ventilation in the Home for Chronic Respiratory Failure Consequent to COPD. Version effective June 9, 2025.</a:t>
            </a:r>
          </a:p>
          <a:p>
            <a:r>
              <a:t>https://www.cms.gov/medicare-coverage-database/view/ncd.aspx?ncdid=380&amp;ncdver=1</a:t>
            </a:r>
          </a:p>
          <a:p/>
          <a:p>
            <a:r>
              <a:t>R17: DME MACs. LCD L33800: Respiratory Assist Devices.</a:t>
            </a:r>
          </a:p>
          <a:p>
            <a:r>
              <a:t>https://www.cms.gov/medicare-coverage-database/view/lcd.aspx?lcdid=33800</a:t>
            </a:r>
          </a:p>
          <a:p/>
          <a:p>
            <a:r>
              <a:t>R18: DME MACs. LCD L33718: Positive Airway Pressure Devices for the Treatment of Obstructive Sleep Apnea.</a:t>
            </a:r>
          </a:p>
          <a:p>
            <a:r>
              <a:t>https://www.cms.gov/medicare-coverage-database/view/lcd.aspx?lcdid=33718</a:t>
            </a:r>
          </a:p>
          <a:p/>
          <a:p>
            <a:r>
              <a:t>R21: CMS. DMEPOS Written Order, Face-to-Face Encounter, and Written Order Prior to Delivery Requirements.</a:t>
            </a:r>
          </a:p>
          <a:p>
            <a:r>
              <a:t>https://www.cms.gov/data-research/monitoring-programs/medicare-fee-service-compliance-programs/medical-review-and-education/dmepos-order-requirements</a:t>
            </a:r>
          </a:p>
          <a:p/>
          <a:p>
            <a:r>
              <a:t>R22: CGS. New Codes Added to Required Face-to-Face and Written Order Prior To Delivery List – Effective October 28, 2026. September 10, 2026.</a:t>
            </a:r>
          </a:p>
          <a:p>
            <a:r>
              <a:t>https://www.cgsmedicare.com/jc/pubs/news/2026/09/news-210620.html</a:t>
            </a:r>
          </a:p>
          <a:p/>
          <a:p>
            <a:r>
              <a:t>R46: CMS. NCD 240.9 FAQ.</a:t>
            </a:r>
          </a:p>
          <a:p>
            <a:r>
              <a:t>https://www.cms.gov/data-research/monitoring-programs/medicare-fee-service-compliance-programs/medical-review-education/ncd-240-9-faq</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S24 | Non-COPD coverage remains diagnosis-specific</a:t>
            </a:r>
          </a:p>
          <a:p>
            <a:r>
              <a:t>IV · Current landscape</a:t>
            </a:r>
          </a:p>
          <a:p/>
          <a:p>
            <a:r>
              <a:t>Restrictive thoracic and neuromuscular disorders</a:t>
            </a:r>
          </a:p>
          <a:p/>
          <a:p>
            <a:r>
              <a:t>L33800 permits either E0470 or E0471 for a documented neuromuscular disease or severe thoracic cage abnormality when the remaining criteria are met and COPD does not significantly contribute to the limitation. Qualifying alternatives include awake arterial PaCO₂ at least 45 mmHg; specified nocturnal hypoxemia; or, for NMD only, maximal inspiratory pressure below 60 cm H₂O or FVC below 50% predicted. [R17]</a:t>
            </a:r>
          </a:p>
          <a:p/>
          <a:p>
            <a:r>
              <a:t>Thus, normal daytime PaCO₂ does not exclude the NMD RAD route. The physiologic alternative is not the whole coverage record: diagnosis, applicable symptoms, and other listed requirements still matter. The inspiratory-pressure criterion describes weak inspiratory pressure generation; the sign convention used in reporting MIP can differ from the policy's positive magnitude notation. [R17]</a:t>
            </a:r>
          </a:p>
          <a:p/>
          <a:p>
            <a:r>
              <a:t>Hypoventilation syndrome</a:t>
            </a:r>
          </a:p>
          <a:p/>
          <a:p>
            <a:r>
              <a:t>The E0470 hypoventilation-syndrome route requires awake arterial PaCO₂ at least 45 mmHg and FEV₁/FVC at least 70%, plus either a specified additional sleep/immediate-waking PaCO₂ rise or qualifying nonobstructive nocturnal desaturation. E0471 uses a separate step-up rule that requires an already-covered E0470 and additional findings. These conditions are not identical to clinical OHS definitions or to the standard COPD national route. [R17]</a:t>
            </a:r>
          </a:p>
          <a:p/>
          <a:p>
            <a:r>
              <a:t>Central and complex sleep apnea</a:t>
            </a:r>
          </a:p>
          <a:p/>
          <a:p>
            <a:r>
              <a:t>A complete attended facility PSG is specified before E0470 or E0471 initiation under the CSA/complex-apnea branch, with the diagnosis and improvement on the proposed home settings documented. Either code can be covered under the branch. Therefore, NMD is not the only branch where E0470 versus E0471 can be selected. [R17]</a:t>
            </a:r>
          </a:p>
          <a:p/>
          <a:p>
            <a:r>
              <a:t>The LCD's CSA definition includes no daytime or nocturnal hypoventilation. The later coverage paragraph nevertheless uses the phrase sleep-associated hypoventilation when describing improvement. This terminology is internally awkward and is retained as a policy-text limitation, not resolved by assigning a new clinical definition to CSA. [R17]</a:t>
            </a:r>
          </a:p>
          <a:p/>
          <a:p>
            <a:r>
              <a:t>Ventilator coverage and payer scope</a:t>
            </a:r>
          </a:p>
          <a:p/>
          <a:p>
            <a:r>
              <a:t>NCD 280.1 and related coding guidance address ventilator coverage in neuromuscular and thoracic restrictive disorders. The clinical justification for a ventilator is not established merely because a RAD route is inconvenient or incomplete. Device capability and medical necessity remain material. This national Medicare framework is distinct from any state Medicaid authorization process. [R41] [R20] [R23]</a:t>
            </a:r>
          </a:p>
          <a:p/>
          <a:p>
            <a:r>
              <a:t>REFERENCES</a:t>
            </a:r>
          </a:p>
          <a:p>
            <a:r>
              <a:t>R17: DME MACs. LCD L33800: Respiratory Assist Devices.</a:t>
            </a:r>
          </a:p>
          <a:p>
            <a:r>
              <a:t>https://www.cms.gov/medicare-coverage-database/view/lcd.aspx?lcdid=33800</a:t>
            </a:r>
          </a:p>
          <a:p/>
          <a:p>
            <a:r>
              <a:t>R18: DME MACs. LCD L33718: Positive Airway Pressure Devices for the Treatment of Obstructive Sleep Apnea.</a:t>
            </a:r>
          </a:p>
          <a:p>
            <a:r>
              <a:t>https://www.cms.gov/medicare-coverage-database/view/lcd.aspx?lcdid=33718</a:t>
            </a:r>
          </a:p>
          <a:p/>
          <a:p>
            <a:r>
              <a:t>R20: Noridian. Correct Billing and Coding of Ventilators, revised.</a:t>
            </a:r>
          </a:p>
          <a:p>
            <a:r>
              <a:t>https://med.noridianmedicare.com/web/jadme/policies/dmd-articles/2025/correct-billing-and-coding-of-ventilators-revised-b</a:t>
            </a:r>
          </a:p>
          <a:p/>
          <a:p>
            <a:r>
              <a:t>R23: Utah Medicaid. Utah Medicaid Criteria.</a:t>
            </a:r>
          </a:p>
          <a:p>
            <a:r>
              <a:t>https://medicaid.utah.gov/utah-medicaid-criteria/</a:t>
            </a:r>
          </a:p>
          <a:p/>
          <a:p>
            <a:r>
              <a:t>R41: CMS. NCD 280.1: Durable Medical Equipment Reference List.</a:t>
            </a:r>
          </a:p>
          <a:p>
            <a:r>
              <a:t>https://www.cms.gov/medicare-coverage-database/view/ncd.aspx?ncdid=190</a:t>
            </a:r>
          </a:p>
          <a:p/>
          <a:p>
            <a:r>
              <a:t>R44: CMS. NCD 240.4: Continuous Positive Airway Pressure Therapy for Obstructive Sleep Apnea. Version 3, effective March 13, 2008.</a:t>
            </a:r>
          </a:p>
          <a:p>
            <a:r>
              <a:t>https://www.cms.gov/medicare-coverage-database/view/ncd.aspx?ncdid=226&amp;ncdver=3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S25 | DME supply and clinical follow-up</a:t>
            </a:r>
          </a:p>
          <a:p>
            <a:r>
              <a:t>IV · Current landscape</a:t>
            </a:r>
          </a:p>
          <a:p/>
          <a:p>
            <a:r>
              <a:t>Records and supply</a:t>
            </a:r>
          </a:p>
          <a:p/>
          <a:p>
            <a:r>
              <a:t>The standard DME documentation framework distinguishes a written order, medical records supporting need, correct coding, and proof of delivery. A supplier-generated template can organize information but does not replace the underlying medical record. Coverage of the equipment depends on the full set of applicable requirements, not on the presence of an isolated phrase. [R19]</a:t>
            </a:r>
          </a:p>
          <a:p/>
          <a:p>
            <a:r>
              <a:t>The clinical team establishes the diagnosis, treatment parameters, goals, and ongoing medical need. The supplier furnishes the system and manages equipment-related processes, including documentation intake, setup and instruction, maintenance arrangements, claims, and eligible supplies. The payer or Medicare contractor adjudicates coverage and payment. Local staffing and service intensity vary. [R19] [R20]</a:t>
            </a:r>
          </a:p>
          <a:p/>
          <a:p>
            <a:r>
              <a:t>The operational sequence</a:t>
            </a:r>
          </a:p>
          <a:p/>
          <a:p>
            <a:r>
              <a:t>A typical process includes transmission of the order and relevant records, supplier review of coverage and documentation, resolution of missing information, authorization where required, equipment setup and patient or caregiver instruction, delivery documentation, and subsequent clinical follow-up. The diagram describes process components rather than a uniform nationwide staffing model. [R19] [R21]</a:t>
            </a:r>
          </a:p>
          <a:p/>
          <a:p>
            <a:r>
              <a:t>Different failures can occur at different points: an incomplete order, lack of a qualifying test, supplier inability to furnish the requested platform, an authorization issue, unsuccessful interface fitting, or absence of follow-up data. These do not all represent denial of clinical necessity, and a paid claim does not prove an effective treatment has been established. [R19] [R02]</a:t>
            </a:r>
          </a:p>
          <a:p/>
          <a:p>
            <a:r>
              <a:t>Clinical monitoring</a:t>
            </a:r>
          </a:p>
          <a:p/>
          <a:p>
            <a:r>
              <a:t>Use describes exposure to the treatment. Effective support includes control of obstruction, adequate ventilation, acceptable leaks, and appropriate timing. Benefit concerns symptoms, sleep, function, gas exchange, and other relevant outcomes. Downloads can contain information on both use and technical performance, although the variables and their validity differ among devices. [R02] [R34]</a:t>
            </a:r>
          </a:p>
          <a:p/>
          <a:p>
            <a:r>
              <a:t>An equipment-servicing payment model does not itself prescribe the frequency or professional content of clinical reassessment. The evidence on optimal follow-up intensity and organization across heterogeneous home-NIV populations remains limited. [R13] [R14] [R02]</a:t>
            </a:r>
          </a:p>
          <a:p/>
          <a:p>
            <a:r>
              <a:t>Local applicability</a:t>
            </a:r>
          </a:p>
          <a:p/>
          <a:p>
            <a:r>
              <a:t>The package contains no verified Intermountain supplier directory, local order set, or code-specific Utah Medicaid checklist. The workflow is a factual description of general roles and documentation components. It does not claim that a particular local supplier provides a specified service or guarantees a particular response time. [R23]</a:t>
            </a:r>
          </a:p>
          <a:p/>
          <a:p>
            <a:r>
              <a:t>REFERENCES</a:t>
            </a:r>
          </a:p>
          <a:p>
            <a:r>
              <a:t>R02: Locke BW, Brown J. What Are We Aiming for in Chronic Hypercapnic Respiratory Failure? Respir Care. 2023;68(12):1775–1778.</a:t>
            </a:r>
          </a:p>
          <a:p>
            <a:r>
              <a:t>https://doi.org/10.4187/respcare.11573</a:t>
            </a:r>
          </a:p>
          <a:p/>
          <a:p>
            <a:r>
              <a:t>R13: CMS. Medicare Program; Payment for Respiratory Assist Devices With Bi-Level Capability and a Backup Rate. Final rule. 71 FR 4518–4525. January 27, 2006. Effective April 1, 2006.</a:t>
            </a:r>
          </a:p>
          <a:p>
            <a:r>
              <a:t>https://www.govinfo.gov/content/pkg/FR-2006-01-27/html/06-798.htm</a:t>
            </a:r>
          </a:p>
          <a:p/>
          <a:p>
            <a:r>
              <a:t>R14: Gay PC, Owens RL, on behalf of the ONMAP Technical Expert Panel. Optimal NIV Medicare Access Promotion: Executive Summary. Chest. 2021;160(5):1808–1821.</a:t>
            </a:r>
          </a:p>
          <a:p>
            <a:r>
              <a:t>https://doi.org/10.1016/j.chest.2021.05.074</a:t>
            </a:r>
          </a:p>
          <a:p/>
          <a:p>
            <a:r>
              <a:t>R19: DME MACs. Article A55426: Standard Documentation Requirements for All Claims Submitted to DME MACs.</a:t>
            </a:r>
          </a:p>
          <a:p>
            <a:r>
              <a:t>https://www.cms.gov/medicare-coverage-database/view/article.aspx?articleid=55426</a:t>
            </a:r>
          </a:p>
          <a:p/>
          <a:p>
            <a:r>
              <a:t>R20: Noridian. Correct Billing and Coding of Ventilators, revised.</a:t>
            </a:r>
          </a:p>
          <a:p>
            <a:r>
              <a:t>https://med.noridianmedicare.com/web/jadme/policies/dmd-articles/2025/correct-billing-and-coding-of-ventilators-revised-b</a:t>
            </a:r>
          </a:p>
          <a:p/>
          <a:p>
            <a:r>
              <a:t>R21: CMS. DMEPOS Written Order, Face-to-Face Encounter, and Written Order Prior to Delivery Requirements.</a:t>
            </a:r>
          </a:p>
          <a:p>
            <a:r>
              <a:t>https://www.cms.gov/data-research/monitoring-programs/medicare-fee-service-compliance-programs/medical-review-and-education/dmepos-order-requirements</a:t>
            </a:r>
          </a:p>
          <a:p/>
          <a:p>
            <a:r>
              <a:t>R23: Utah Medicaid. Utah Medicaid Criteria.</a:t>
            </a:r>
          </a:p>
          <a:p>
            <a:r>
              <a:t>https://medicaid.utah.gov/utah-medicaid-criteria/</a:t>
            </a:r>
          </a:p>
          <a:p/>
          <a:p>
            <a:r>
              <a:t>R34: Restrepo RD, Hirst KR, Wittnebel L, Wettstein R. AARC Clinical Practice Guideline: Transcutaneous Monitoring of Carbon Dioxide and Oxygen: 2012. Respir Care. 2012;57:1955–1962.</a:t>
            </a:r>
          </a:p>
          <a:p>
            <a:r>
              <a:t>https://doi.org/10.4187/respcare.02011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S26 | The contemporary landscape</a:t>
            </a:r>
          </a:p>
          <a:p>
            <a:r>
              <a:t>IV · Current landscape</a:t>
            </a:r>
          </a:p>
          <a:p/>
          <a:p>
            <a:r>
              <a:t>Integrated description</a:t>
            </a:r>
          </a:p>
          <a:p/>
          <a:p>
            <a:r>
              <a:t>The HMV pathway began around prolonged respiratory support and the infrastructure needed outside hospital. The sleep-apnea pathway developed around recurrent upper-airway obstruction and practical nightly PAP treatment. Bilevel technology then provided greater pressure flexibility and ventilatory assistance, while statutory and coding decisions established the separate RAD equipment-payment category. [R05] [R11] [R12] [R13]</a:t>
            </a:r>
          </a:p>
          <a:p/>
          <a:p>
            <a:r>
              <a:t>These are linked histories. They are not three independent discoveries and do not imply three mutually exclusive patient populations. Contemporary patients can have both upper-airway obstruction and inadequate ventilatory reserve, and a clinically useful mode may be available on more than one equipment platform. [R01] [R16]</a:t>
            </a:r>
          </a:p>
          <a:p/>
          <a:p>
            <a:r>
              <a:t>Current policy landscape</a:t>
            </a:r>
          </a:p>
          <a:p/>
          <a:p>
            <a:r>
              <a:t>OSA follows the national PAP policy and related local coverage. Non-COPD RAD indications remain diagnosis-specific. COPD-related chronic respiratory failure now has explicit RAD and HMV pathways in NCD 240.9. Ventilator coverage for neuromuscular and thoracic restrictive disease retains the NCD 280.1 framework and relevant coding guidance. [R44] [R18] [R17] [R16] [R41]</a:t>
            </a:r>
          </a:p>
          <a:p/>
          <a:p>
            <a:r>
              <a:t>Evidence boundaries</a:t>
            </a:r>
          </a:p>
          <a:p/>
          <a:p>
            <a:r>
              <a:t>Positive trials establish benefits for selected treatment strategies and populations. They do not establish a universal equipment hierarchy or a fully validated intervention threshold for every form of isolated nocturnal or multifactorial hypoventilation. Access, technical delivery, clinical effect, and administrative payment remain different dimensions of care. [R28] [R29] [R30] [R32] [R02]</a:t>
            </a:r>
          </a:p>
          <a:p/>
          <a:p>
            <a:r>
              <a:t>The historical claims increase and OIG billing findings describe an important period of potential inappropriate utilization. They do not negate the clinical evidence for home NIV or quantify the effect of the newer coverage rules on clinical outcomes. Those effects require separate evaluation. [R47] [R16]</a:t>
            </a:r>
          </a:p>
          <a:p/>
          <a:p>
            <a:r>
              <a:t>REFERENCES</a:t>
            </a:r>
          </a:p>
          <a:p>
            <a:r>
              <a:t>R01: Locke BW, Brown JP, Sundar KM. The Role of Obstructive Sleep Apnea in Hypercapnic Respiratory Failure Identified in Critical Care, Emergency, Inpatient, and Outpatient Settings. Sleep Med Clin. 2024;19(2):339–356.</a:t>
            </a:r>
          </a:p>
          <a:p>
            <a:r>
              <a:t>https://doi.org/10.1016/j.jsmc.2024.02.012</a:t>
            </a:r>
          </a:p>
          <a:p/>
          <a:p>
            <a:r>
              <a:t>R02: Locke BW, Brown J. What Are We Aiming for in Chronic Hypercapnic Respiratory Failure? Respir Care. 2023;68(12):1775–1778.</a:t>
            </a:r>
          </a:p>
          <a:p>
            <a:r>
              <a:t>https://doi.org/10.4187/respcare.11573</a:t>
            </a:r>
          </a:p>
          <a:p/>
          <a:p>
            <a:r>
              <a:t>R05: Hind M, Polkey MI, Simonds AK. Homeward Bound: A Centenary of Home Mechanical Ventilation. Am J Respir Crit Care Med. 2017;195(9):1140–1149.</a:t>
            </a:r>
          </a:p>
          <a:p>
            <a:r>
              <a:t>https://doi.org/10.1164/rccm.201702-0285CI</a:t>
            </a:r>
          </a:p>
          <a:p/>
          <a:p>
            <a:r>
              <a:t>R11: Sullivan CE, Issa FG, Berthon-Jones M, Eves L. Reversal of obstructive sleep apnoea by continuous positive airway pressure applied through the nares. Lancet. 1981;1:862–865.</a:t>
            </a:r>
          </a:p>
          <a:p>
            <a:r>
              <a:t>https://doi.org/10.1016/S0140-6736(81)92140-1</a:t>
            </a:r>
          </a:p>
          <a:p/>
          <a:p>
            <a:r>
              <a:t>R12: Sanders MH, Kern N. Obstructive sleep apnea treated by independently adjusted inspiratory and expiratory positive airway pressures via nasal mask. Chest. 1990;98:317–324.</a:t>
            </a:r>
          </a:p>
          <a:p>
            <a:r>
              <a:t>https://doi.org/10.1378/chest.98.2.317</a:t>
            </a:r>
          </a:p>
          <a:p/>
          <a:p>
            <a:r>
              <a:t>R13: CMS. Medicare Program; Payment for Respiratory Assist Devices With Bi-Level Capability and a Backup Rate. Final rule. 71 FR 4518–4525. January 27, 2006. Effective April 1, 2006.</a:t>
            </a:r>
          </a:p>
          <a:p>
            <a:r>
              <a:t>https://www.govinfo.gov/content/pkg/FR-2006-01-27/html/06-798.htm</a:t>
            </a:r>
          </a:p>
          <a:p/>
          <a:p>
            <a:r>
              <a:t>R16: CMS. NCD 240.9: Noninvasive Positive Pressure Ventilation in the Home for Chronic Respiratory Failure Consequent to COPD. Version effective June 9, 2025.</a:t>
            </a:r>
          </a:p>
          <a:p>
            <a:r>
              <a:t>https://www.cms.gov/medicare-coverage-database/view/ncd.aspx?ncdid=380&amp;ncdver=1</a:t>
            </a:r>
          </a:p>
          <a:p/>
          <a:p>
            <a:r>
              <a:t>R17: DME MACs. LCD L33800: Respiratory Assist Devices.</a:t>
            </a:r>
          </a:p>
          <a:p>
            <a:r>
              <a:t>https://www.cms.gov/medicare-coverage-database/view/lcd.aspx?lcdid=33800</a:t>
            </a:r>
          </a:p>
          <a:p/>
          <a:p>
            <a:r>
              <a:t>R18: DME MACs. LCD L33718: Positive Airway Pressure Devices for the Treatment of Obstructive Sleep Apnea.</a:t>
            </a:r>
          </a:p>
          <a:p>
            <a:r>
              <a:t>https://www.cms.gov/medicare-coverage-database/view/lcd.aspx?lcdid=33718</a:t>
            </a:r>
          </a:p>
          <a:p/>
          <a:p>
            <a:r>
              <a:t>R28: Ward S, Chatwin M, Heather S, Simonds AK. Randomised controlled trial of NIV for nocturnal hypoventilation in neuromuscular and chest wall disease patients with daytime normocapnia. Thorax. 2005;60:1019–1024.</a:t>
            </a:r>
          </a:p>
          <a:p>
            <a:r>
              <a:t>https://doi.org/10.1136/thx.2004.037424</a:t>
            </a:r>
          </a:p>
          <a:p/>
          <a:p>
            <a:r>
              <a:t>R29: Zheng Y, Yee BJ, Wong K, Grunstein R, Piper A. A pilot randomized trial comparing CPAP vs bilevel PAP spontaneous mode in patients with obesity and obstructive airway disease. J Clin Sleep Med. 2022;18:99–107.</a:t>
            </a:r>
          </a:p>
          <a:p>
            <a:r>
              <a:t>https://doi.org/10.5664/jcsm.9506</a:t>
            </a:r>
          </a:p>
          <a:p/>
          <a:p>
            <a:r>
              <a:t>R30: Köhnlein T, et al. Non-invasive positive pressure ventilation for the treatment of severe stable COPD: a prospective, multicentre, randomised, controlled clinical trial. Lancet Respir Med. 2014;2:698–705.</a:t>
            </a:r>
          </a:p>
          <a:p>
            <a:r>
              <a:t>https://doi.org/10.1016/S2213-2600(14)70153-5</a:t>
            </a:r>
          </a:p>
          <a:p/>
          <a:p>
            <a:r>
              <a:t>R32: Murphy PB, et al. Effect of Home NIV With Oxygen Therapy vs Oxygen Therapy Alone on Hospital Readmission or Death After an Acute COPD Exacerbation. JAMA. 2017;317:2177–2186.</a:t>
            </a:r>
          </a:p>
          <a:p>
            <a:r>
              <a:t>https://doi.org/10.1001/jama.2017.4451</a:t>
            </a:r>
          </a:p>
          <a:p/>
          <a:p>
            <a:r>
              <a:t>R41: CMS. NCD 280.1: Durable Medical Equipment Reference List.</a:t>
            </a:r>
          </a:p>
          <a:p>
            <a:r>
              <a:t>https://www.cms.gov/medicare-coverage-database/view/ncd.aspx?ncdid=190</a:t>
            </a:r>
          </a:p>
          <a:p/>
          <a:p>
            <a:r>
              <a:t>R44: CMS. NCD 240.4: Continuous Positive Airway Pressure Therapy for Obstructive Sleep Apnea. Version 3, effective March 13, 2008.</a:t>
            </a:r>
          </a:p>
          <a:p>
            <a:r>
              <a:t>https://www.cms.gov/medicare-coverage-database/view/ncd.aspx?ncdid=226&amp;ncdver=3</a:t>
            </a:r>
          </a:p>
          <a:p/>
          <a:p>
            <a:r>
              <a:t>R47: HHS OIG. Escalating Medicare Billing for Ventilators Raises Concerns. Full report OEI-12-15-00370. September 2016.</a:t>
            </a:r>
          </a:p>
          <a:p>
            <a:r>
              <a:t>https://oig.hhs.gov/documents/evaluation/3183/OEI-12-15-00370-Complete%20Report.pdf</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 | Historical chronology and source status</a:t>
            </a:r>
          </a:p>
          <a:p>
            <a:r>
              <a:t>Appendix · History</a:t>
            </a:r>
          </a:p>
          <a:p/>
          <a:p>
            <a:r>
              <a:t>Ventilation before modern home systems</a:t>
            </a:r>
          </a:p>
          <a:p/>
          <a:p>
            <a:r>
              <a:t>The history of mechanical ventilation is not a single linear progression from negative to positive pressure. Both approaches preceded the mid-twentieth-century polio epidemics. The epidemics created unusually large and urgent requirements for sustained respiratory support and exposed limitations of the equipment and care systems then available. The Copenhagen experience is particularly well documented, but it is not the first use of positive-pressure ventilation. [R05] [R08]</a:t>
            </a:r>
          </a:p>
          <a:p/>
          <a:p>
            <a:r>
              <a:t>Hind and colleagues describe discharged polio survivors using negative-pressure cuirasses and jackets, followed by expanding positive-pressure noninvasive support. Early home ventilation and hospital ventilation developed in parallel and influenced each other. The review explicitly identifies community teams, recipients' preferences, and economic arrangements as part of that history. [R05]</a:t>
            </a:r>
          </a:p>
          <a:p/>
          <a:p>
            <a:r>
              <a:t>Portable support and home-care access</a:t>
            </a:r>
          </a:p>
          <a:p/>
          <a:p>
            <a:r>
              <a:t>King dates the portable LP3 volume ventilator's availability for out-of-hospital use to 1977. The review's account of an early pediatric home program and the role of Allen Goldberg relies in part on personal communication. It has a different evidentiary status from the published equipment history. No assertion of priority for a particular national home-ventilation program is required by the current slides. [R06]</a:t>
            </a:r>
          </a:p>
          <a:p/>
          <a:p>
            <a:r>
              <a:t>The 1981 Katie Beckett intervention and the 1982 TEFRA option concern Medicaid eligibility for home care. They are distinct from Medicare's later classification of bilevel equipment. The TEFRA option permits participating states to disregard parental income for specified children who require an institutional level of care but live at home and meet additional conditions. [R06] [R49]</a:t>
            </a:r>
          </a:p>
          <a:p/>
          <a:p>
            <a:r>
              <a:t>PAP and RAD milestones</a:t>
            </a:r>
          </a:p>
          <a:p/>
          <a:p>
            <a:r>
              <a:t>Sullivan's 1981 report described reversal of obstructive sleep apnea with positive pressure applied through the nares. The later home series documented feasibility beyond a monitored laboratory night. Sanders and Kern's 1990 report described independently adjustable inspiratory and expiratory pressures. These are primary clinical publications, not descriptions of later reimbursement categories. [R11] [R45] [R12]</a:t>
            </a:r>
          </a:p>
          <a:p/>
          <a:p>
            <a:r>
              <a:t>Medicare's CPAP coverage history includes an initial 1987 policy, changes effective in 2002, and acceptance of specified home sleep tests in the 2008 policy. RAD naming, code changes, the statutory equipment-servicing exclusion, and the 2006 payment rule form a separate administrative chronology. [R44] [R13]</a:t>
            </a:r>
          </a:p>
          <a:p/>
          <a:p>
            <a:r>
              <a:t>Uncertainty about early coverage intent</a:t>
            </a:r>
          </a:p>
          <a:p/>
          <a:p>
            <a:r>
              <a:t>The account that early ventilator coverage was intentionally broad because it was expected to apply mainly to a declining polio population comes from Gusman and Wolfe. The relevant passage in that review does not cite a contemporaneous policy memorandum. The statement is therefore a retrospective account, not established archival evidence of a universal intent among policymakers. The current version does not use it to infer the causes of all subsequent coverage decisions. [R10]</a:t>
            </a:r>
          </a:p>
          <a:p/>
          <a:p>
            <a:r>
              <a:t>The documented differences between equipment categories and payment arrangements do not depend on accepting that motive attribution. They are supported separately by the final rule, national coverage documents, and contractor guidance. [R13] [R16] [R20]</a:t>
            </a:r>
          </a:p>
          <a:p/>
          <a:p>
            <a:r>
              <a:t>REFERENCES</a:t>
            </a:r>
          </a:p>
          <a:p>
            <a:r>
              <a:t>R05: Hind M, Polkey MI, Simonds AK. Homeward Bound: A Centenary of Home Mechanical Ventilation. Am J Respir Crit Care Med. 2017;195(9):1140–1149.</a:t>
            </a:r>
          </a:p>
          <a:p>
            <a:r>
              <a:t>https://doi.org/10.1164/rccm.201702-0285CI</a:t>
            </a:r>
          </a:p>
          <a:p/>
          <a:p>
            <a:r>
              <a:t>R06: King AC. Long-Term Home Mechanical Ventilation in the United States. Respir Care. 2012;57(6):921–930.</a:t>
            </a:r>
          </a:p>
          <a:p>
            <a:r>
              <a:t>https://doi.org/10.4187/respcare.01741</a:t>
            </a:r>
          </a:p>
          <a:p/>
          <a:p>
            <a:r>
              <a:t>R08: Lassen HCA. A preliminary report on the 1952 epidemic of poliomyelitis in Copenhagen with special reference to the treatment of acute respiratory insufficiency. Lancet. 1953;1:37–41.</a:t>
            </a:r>
          </a:p>
          <a:p>
            <a:r>
              <a:t>https://doi.org/10.1016/S0140-6736(53)92530-6</a:t>
            </a:r>
          </a:p>
          <a:p/>
          <a:p>
            <a:r>
              <a:t>R10: Gusman E, Wolfe LF. Billing and Coding Guidance: Device and Discharge Planning. Sleep Med Clin. 2025.</a:t>
            </a:r>
          </a:p>
          <a:p>
            <a:r>
              <a:t>https://doi.org/10.1016/j.jsmc.2025.07.014</a:t>
            </a:r>
          </a:p>
          <a:p/>
          <a:p>
            <a:r>
              <a:t>R11: Sullivan CE, Issa FG, Berthon-Jones M, Eves L. Reversal of obstructive sleep apnoea by continuous positive airway pressure applied through the nares. Lancet. 1981;1:862–865.</a:t>
            </a:r>
          </a:p>
          <a:p>
            <a:r>
              <a:t>https://doi.org/10.1016/S0140-6736(81)92140-1</a:t>
            </a:r>
          </a:p>
          <a:p/>
          <a:p>
            <a:r>
              <a:t>R12: Sanders MH, Kern N. Obstructive sleep apnea treated by independently adjusted inspiratory and expiratory positive airway pressures via nasal mask. Chest. 1990;98:317–324.</a:t>
            </a:r>
          </a:p>
          <a:p>
            <a:r>
              <a:t>https://doi.org/10.1378/chest.98.2.317</a:t>
            </a:r>
          </a:p>
          <a:p/>
          <a:p>
            <a:r>
              <a:t>R13: CMS. Medicare Program; Payment for Respiratory Assist Devices With Bi-Level Capability and a Backup Rate. Final rule. 71 FR 4518–4525. January 27, 2006. Effective April 1, 2006.</a:t>
            </a:r>
          </a:p>
          <a:p>
            <a:r>
              <a:t>https://www.govinfo.gov/content/pkg/FR-2006-01-27/html/06-798.htm</a:t>
            </a:r>
          </a:p>
          <a:p/>
          <a:p>
            <a:r>
              <a:t>R16: CMS. NCD 240.9: Noninvasive Positive Pressure Ventilation in the Home for Chronic Respiratory Failure Consequent to COPD. Version effective June 9, 2025.</a:t>
            </a:r>
          </a:p>
          <a:p>
            <a:r>
              <a:t>https://www.cms.gov/medicare-coverage-database/view/ncd.aspx?ncdid=380&amp;ncdver=1</a:t>
            </a:r>
          </a:p>
          <a:p/>
          <a:p>
            <a:r>
              <a:t>R20: Noridian. Correct Billing and Coding of Ventilators, revised.</a:t>
            </a:r>
          </a:p>
          <a:p>
            <a:r>
              <a:t>https://med.noridianmedicare.com/web/jadme/policies/dmd-articles/2025/correct-billing-and-coding-of-ventilators-revised-b</a:t>
            </a:r>
          </a:p>
          <a:p/>
          <a:p>
            <a:r>
              <a:t>R44: CMS. NCD 240.4: Continuous Positive Airway Pressure Therapy for Obstructive Sleep Apnea. Version 3, effective March 13, 2008.</a:t>
            </a:r>
          </a:p>
          <a:p>
            <a:r>
              <a:t>https://www.cms.gov/medicare-coverage-database/view/ncd.aspx?ncdid=226&amp;ncdver=3</a:t>
            </a:r>
          </a:p>
          <a:p/>
          <a:p>
            <a:r>
              <a:t>R45: Sullivan CE, Issa FG, Berthon-Jones M, McCauley VB, Costas LJ. Home treatment of obstructive sleep apnoea with continuous positive airway pressure applied through a nose-mask. Bull Eur Physiopathol Respir. 1984;20(1):49–54.</a:t>
            </a:r>
          </a:p>
          <a:p>
            <a:r>
              <a:t>https://pubmed.ncbi.nlm.nih.gov/6367865/</a:t>
            </a:r>
          </a:p>
          <a:p/>
          <a:p>
            <a:r>
              <a:t>R49: Georgia Medicaid. TEFRA/Katie Beckett: statutory history and program description.</a:t>
            </a:r>
          </a:p>
          <a:p>
            <a:r>
              <a:t>https://medicaid.georgia.gov/programs/all-programs/tefrakatie-beckett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A02 | Modes and control strategies</a:t>
            </a:r>
          </a:p>
          <a:p>
            <a:r>
              <a:t>Appendix · Technology</a:t>
            </a:r>
          </a:p>
          <a:p/>
          <a:p>
            <a:r>
              <a:t>Pressure levels and triggering</a:t>
            </a:r>
          </a:p>
          <a:p/>
          <a:p>
            <a:r>
              <a:t>CPAP maintains a positive airway pressure through the respiratory cycle. APAP adjusts the CPAP level in response to detected events or other algorithm inputs. The lack of a separately set inspiratory–expiratory pressure difference distinguishes this from conventional bilevel pressure support; minor pressure-relief features do not by themselves make all CPAP devices equivalent to bilevel devices. [R01] [R24]</a:t>
            </a:r>
          </a:p>
          <a:p/>
          <a:p>
            <a:r>
              <a:t>In spontaneous bilevel ventilation, patient effort initiates supported breaths. Inspiratory pressure exceeds expiratory pressure, and the difference is pressure support. In spontaneous/timed ventilation, a backup rate enables a timed breath when spontaneous triggering is insufficient. The actual breath sequence depends on the patient's rate, timing, trigger sensitivity, cycling, leaks, and the device's algorithm. [R16]</a:t>
            </a:r>
          </a:p>
          <a:p/>
          <a:p>
            <a:r>
              <a:t>Volume-assured strategies</a:t>
            </a:r>
          </a:p>
          <a:p/>
          <a:p>
            <a:r>
              <a:t>Volume-assured pressure-support algorithms adjust inspiratory assistance within selected limits toward a target tidal volume, minute ventilation, or estimated alveolar ventilation, depending on the platform. The existence of a target does not establish that the target will always be delivered; leak, pressure limits, mechanics, and patient tolerance may constrain performance. Brand-specific algorithms and their target definitions are not identical. [R01] [R14]</a:t>
            </a:r>
          </a:p>
          <a:p/>
          <a:p>
            <a:r>
              <a:t>Auto-adjusting expiratory pressure is a separate capability from adjustment of inspiratory pressure support. This version avoids a universal claim that every particular combination is confined to a single reimbursement class. Product features, clearance, market availability, and coding require device-specific documentation rather than inference from an acronym. [R16]</a:t>
            </a:r>
          </a:p>
          <a:p/>
          <a:p>
            <a:r>
              <a:t>Adaptive servo-ventilation</a:t>
            </a:r>
          </a:p>
          <a:p/>
          <a:p>
            <a:r>
              <a:t>ASV supplies dynamically varying support for selected forms of central sleep-disordered breathing. It is not a synonym for volume-assured ventilation used to treat chronic hypoventilation. The 2025 AASM guideline addresses ASV, CPAP, backup-rate bilevel, oxygen, and other treatments within specific central-apnea etiologies and acknowledges uncertainty in the evidence. [R33]</a:t>
            </a:r>
          </a:p>
          <a:p/>
          <a:p>
            <a:r>
              <a:t>For HFrEF, the guideline describes experienced-center use with close monitoring and shared decision-making. The guideline's conditional recommendation does not erase device-specific labeling or make all ASV systems interchangeable. This lecture contains no manufacturer-specific authorization or contraindication table. [R33]</a:t>
            </a:r>
          </a:p>
          <a:p/>
          <a:p>
            <a:r>
              <a:t>Platform and classification</a:t>
            </a:r>
          </a:p>
          <a:p/>
          <a:p>
            <a:r>
              <a:t>A coarse mode taxonomy is a description of control variables, breath sequences, and targeting strategy. Sharing such a label does not establish clinical equivalence. The same mode may exist on a RAD and an HMV, while platforms differ in circuit options, power arrangements, alarms, monitoring, and available settings. [R16]</a:t>
            </a:r>
          </a:p>
          <a:p/>
          <a:p>
            <a:r>
              <a:t>The current deck therefore separates the waveform-level description from the equipment platform and the claim code. No trial in this package demonstrates that a taxonomy label alone selects the appropriate device or guarantees a patient outcome.</a:t>
            </a:r>
          </a:p>
          <a:p/>
          <a:p>
            <a:r>
              <a:t>REFERENCES</a:t>
            </a:r>
          </a:p>
          <a:p>
            <a:r>
              <a:t>R01: Locke BW, Brown JP, Sundar KM. The Role of Obstructive Sleep Apnea in Hypercapnic Respiratory Failure Identified in Critical Care, Emergency, Inpatient, and Outpatient Settings. Sleep Med Clin. 2024;19(2):339–356.</a:t>
            </a:r>
          </a:p>
          <a:p>
            <a:r>
              <a:t>https://doi.org/10.1016/j.jsmc.2024.02.012</a:t>
            </a:r>
          </a:p>
          <a:p/>
          <a:p>
            <a:r>
              <a:t>R14: Gay PC, Owens RL, on behalf of the ONMAP Technical Expert Panel. Optimal NIV Medicare Access Promotion: Executive Summary. Chest. 2021;160(5):1808–1821.</a:t>
            </a:r>
          </a:p>
          <a:p>
            <a:r>
              <a:t>https://doi.org/10.1016/j.chest.2021.05.074</a:t>
            </a:r>
          </a:p>
          <a:p/>
          <a:p>
            <a:r>
              <a:t>R16: CMS. NCD 240.9: Noninvasive Positive Pressure Ventilation in the Home for Chronic Respiratory Failure Consequent to COPD. Version effective June 9, 2025.</a:t>
            </a:r>
          </a:p>
          <a:p>
            <a:r>
              <a:t>https://www.cms.gov/medicare-coverage-database/view/ncd.aspx?ncdid=380&amp;ncdver=1</a:t>
            </a:r>
          </a:p>
          <a:p/>
          <a:p>
            <a:r>
              <a:t>R24: Patil SP, et al. Treatment of Adult Obstructive Sleep Apnea with Positive Airway Pressure: An AASM Clinical Practice Guideline. J Clin Sleep Med. 2019;15:335–343.</a:t>
            </a:r>
          </a:p>
          <a:p>
            <a:r>
              <a:t>https://doi.org/10.5664/jcsm.7640</a:t>
            </a:r>
          </a:p>
          <a:p/>
          <a:p>
            <a:r>
              <a:t>R33: Badr MS, et al. Treatment of Central Sleep Apnea in Adults: An AASM Clinical Practice Guideline. J Clin Sleep Med. 2025;21:2181–2191.</a:t>
            </a:r>
          </a:p>
          <a:p>
            <a:r>
              <a:t>https://doi.org/10.5664/jcsm.11858</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A03 | COPD RAD: initial coverage detail</a:t>
            </a:r>
          </a:p>
          <a:p>
            <a:r>
              <a:t>Appendix · NCD 240.9</a:t>
            </a:r>
          </a:p>
          <a:p/>
          <a:p>
            <a:r>
              <a:t>RAD with a backup rate</a:t>
            </a:r>
          </a:p>
          <a:p/>
          <a:p>
            <a:r>
              <a:t>The standard initial pathway covers a RAD with a backup rate for six months when persistent hypercapnia is demonstrated by awake arterial PaCO₂ of at least 52 mmHg while breathing the prescribed FiO₂, sleep apnea is not the predominant cause, and either the stability or post-exacerbation persistence criterion is met. The policy does not require formal sleep testing when the treating clinician does not identify sleep apnea as the predominant cause. [R16]</a:t>
            </a:r>
          </a:p>
          <a:p/>
          <a:p>
            <a:r>
              <a:t>The stability criterion is specific: no increase in or new onset of more than one listed respiratory symptom lasting two or more days, and no pharmacologic treatment change during the two-week period before NIV initiation. The listed symptoms are cough, sputum production, sputum purulence, wheezing, and dyspnea. The alternative is hypercapnia persisting for at least two weeks after hospitalization following resolution of an exacerbation that required acute NIV. [R16]</a:t>
            </a:r>
          </a:p>
          <a:p/>
          <a:p>
            <a:r>
              <a:t>The distinction between “more than one” and “any” symptom is material. A paraphrase stating that no symptom can change would be more restrictive than the policy. Similarly, the post-exacerbation pathway has an acute-NIV condition; a generic two-week interval without that context is incomplete. [R16]</a:t>
            </a:r>
          </a:p>
          <a:p/>
          <a:p>
            <a:r>
              <a:t>By the end of the initial six months, a backup-rate RAD must be used as high-intensity therapy, defined in the NCD as a minimum IPAP of 15 cm H₂O and backup rate of 14 breaths/min. These are administrative minimums and do not establish an adequate physiologic prescription for every patient. The clinical trials used individualized settings and selected populations. [R16] [R30] [R32]</a:t>
            </a:r>
          </a:p>
          <a:p/>
          <a:p>
            <a:r>
              <a:t>RAD without a backup rate</a:t>
            </a:r>
          </a:p>
          <a:p/>
          <a:p>
            <a:r>
              <a:t>A separate pathway covers a RAD without a backup rate for a patient who cannot tolerate high-intensity NIV or for whom a backup rate is otherwise medically inappropriate. Awake arterial PaCO₂ of at least 52 mmHg on prescribed FiO₂ and the sleep-apnea-predominance assessment remain required. The policy does not repeat the same stability/persistence clause within this no-backup subsection. [R16]</a:t>
            </a:r>
          </a:p>
          <a:p/>
          <a:p>
            <a:r>
              <a:t>Discharge pathway</a:t>
            </a:r>
          </a:p>
          <a:p/>
          <a:p>
            <a:r>
              <a:t>The discharge subsection covers a RAD with or without backup for six months in acute-on-chronic respiratory failure due to COPD when a RAD or ventilator was needed within the preceding 24 hours and the clinician determines risk of rapid symptom exacerbation or rising PaCO₂ after discharge. This subsection does not repeat the standard awake PaCO₂ cutoff. [R16]</a:t>
            </a:r>
          </a:p>
          <a:p/>
          <a:p>
            <a:r>
              <a:t>That omission is not a statement that blood-gas assessment is clinically unnecessary. It also does not generalize the pathway to every inpatient with obesity, COPD coding, or an episode of transient hypercapnia. The diagnosis, recent support requirement, and risk assessment remain part of the stated route. [R16]</a:t>
            </a:r>
          </a:p>
          <a:p/>
          <a:p>
            <a:r>
              <a:t>Other provisions</a:t>
            </a:r>
          </a:p>
          <a:p/>
          <a:p>
            <a:r>
              <a:t>Section D allows MAC reasonable-and-necessary determinations for initial or continuing COPD-related RAD/HMV coverage. The nationally covered pathways are therefore not accurately summarized as a document containing only rigid numerical thresholds and no other authority. The exact scope of an individual determination remains administrative rather than a guarantee made by this lecture. [R16]</a:t>
            </a:r>
          </a:p>
          <a:p/>
          <a:p>
            <a:r>
              <a:t>REFERENCES</a:t>
            </a:r>
          </a:p>
          <a:p>
            <a:r>
              <a:t>R16: CMS. NCD 240.9: Noninvasive Positive Pressure Ventilation in the Home for Chronic Respiratory Failure Consequent to COPD. Version effective June 9, 2025.</a:t>
            </a:r>
          </a:p>
          <a:p>
            <a:r>
              <a:t>https://www.cms.gov/medicare-coverage-database/view/ncd.aspx?ncdid=380&amp;ncdver=1</a:t>
            </a:r>
          </a:p>
          <a:p/>
          <a:p>
            <a:r>
              <a:t>R30: Köhnlein T, et al. Non-invasive positive pressure ventilation for the treatment of severe stable COPD: a prospective, multicentre, randomised, controlled clinical trial. Lancet Respir Med. 2014;2:698–705.</a:t>
            </a:r>
          </a:p>
          <a:p>
            <a:r>
              <a:t>https://doi.org/10.1016/S2213-2600(14)70153-5</a:t>
            </a:r>
          </a:p>
          <a:p/>
          <a:p>
            <a:r>
              <a:t>R32: Murphy PB, et al. Effect of Home NIV With Oxygen Therapy vs Oxygen Therapy Alone on Hospital Readmission or Death After an Acute COPD Exacerbation. JAMA. 2017;317:2177–2186.</a:t>
            </a:r>
          </a:p>
          <a:p>
            <a:r>
              <a:t>https://doi.org/10.1001/jama.2017.4451</a:t>
            </a:r>
          </a:p>
          <a:p/>
          <a:p>
            <a:r>
              <a:t>R46: CMS. NCD 240.9 FAQ.</a:t>
            </a:r>
          </a:p>
          <a:p>
            <a:r>
              <a:t>https://www.cms.gov/data-research/monitoring-programs/medicare-fee-service-compliance-programs/medical-review-education/ncd-240-9-faq</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A04 | COPD HMV: initial coverage detail</a:t>
            </a:r>
          </a:p>
          <a:p>
            <a:r>
              <a:t>Appendix · NCD 240.9</a:t>
            </a:r>
          </a:p>
          <a:p/>
          <a:p>
            <a:r>
              <a:t>Required treatment and gas-exchange features</a:t>
            </a:r>
          </a:p>
          <a:p/>
          <a:p>
            <a:r>
              <a:t>The standard HMV pathway specifies use in a volume-targeted mode, awake arterial PaCO₂ of at least 52 mmHg on prescribed FiO₂, and sleep apnea not being the predominant cause of hypercapnia. A six-month initial period is described. In addition, at least one of four sets of clinical characteristics must be present. [R16]</a:t>
            </a:r>
          </a:p>
          <a:p/>
          <a:p>
            <a:r>
              <a:t>Additional qualifying characteristics</a:t>
            </a:r>
          </a:p>
          <a:p/>
          <a:p>
            <a:r>
              <a:t>The first is oxygen therapy at FiO₂ of at least 36% or at least 4 L/min nasally. These are the policy's alternatives; the statement does not establish a universal conversion between nasal oxygen flow and delivered FiO₂. Delivered oxygen concentration depends on the interface, circuit, ventilation, and oxygen entrainment. [R16]</a:t>
            </a:r>
          </a:p>
          <a:p/>
          <a:p>
            <a:r>
              <a:t>The second is ventilatory support for more than eight hours in a 24-hour period. It is a duration-of-support criterion within this COPD policy, not a universal definition of an HMV or a clinical threshold that applies identically to every neuromuscular disorder. [R16]</a:t>
            </a:r>
          </a:p>
          <a:p/>
          <a:p>
            <a:r>
              <a:t>The third concerns alarms and an internal battery because effective independent breathing cannot be sustained for more than a few hours and an unrecognized interruption would likely cause a life-threatening condition without another effective alert, as determined by the treating clinician. A general preference for battery operation or a travel convenience is not equivalent to this dependence-and-safety criterion. [R16]</a:t>
            </a:r>
          </a:p>
          <a:p/>
          <a:p>
            <a:r>
              <a:t>The fourth concerns needs exceeding a RAD's capabilities such that the specified CO₂ or symptom outcomes are not expected to be achieved despite consistent backup-rate RAD use of at least four hours per day on at least 70% of days. It requires clinical justification, not merely a label stating “RAD failure.” The wording is prospective and does not universally require a completed unsuccessful equipment trial before the clinician can justify that anticipated inadequacy. [R16]</a:t>
            </a:r>
          </a:p>
          <a:p/>
          <a:p>
            <a:r>
              <a:t>Discharge and interface provisions</a:t>
            </a:r>
          </a:p>
          <a:p/>
          <a:p>
            <a:r>
              <a:t>The discharge pathway covers volume-targeted HMV for acute-on-chronic COPD respiratory failure when needs exceeded RAD capability, a ventilator was required within the prior 24 hours, and the clinician identifies risk of rapid exacerbation or PaCO₂ rise after discharge. It does not repeat every standard-entry numerical criterion. [R16]</a:t>
            </a:r>
          </a:p>
          <a:p/>
          <a:p>
            <a:r>
              <a:t>For patients using volume-targeted HMV for more than eight hours per day with an oronasal interface at night, the policy also covers a different daytime interface such as a mouthpiece or nasal mask. This is an interface provision, not a blanket entitlement to a second ventilator. [R16]</a:t>
            </a:r>
          </a:p>
          <a:p/>
          <a:p>
            <a:r>
              <a:t>Mode and billing distinctions</a:t>
            </a:r>
          </a:p>
          <a:p/>
          <a:p>
            <a:r>
              <a:t>The April 2026 claims-processing revision removed “high intensity” language from the HMV instruction because that defined term applies to RADs in this policy. The HMV requirement is volume-targeted use. The January revision removed E0465 from the relevant claims-processing instructions; E0465 describes an invasive interface and does not become a noninvasive COPD code merely because the platform can also deliver NIV. [R16]</a:t>
            </a:r>
          </a:p>
          <a:p/>
          <a:p>
            <a:r>
              <a:t>REFERENCES</a:t>
            </a:r>
          </a:p>
          <a:p>
            <a:r>
              <a:t>R16: CMS. NCD 240.9: Noninvasive Positive Pressure Ventilation in the Home for Chronic Respiratory Failure Consequent to COPD. Version effective June 9, 2025.</a:t>
            </a:r>
          </a:p>
          <a:p>
            <a:r>
              <a:t>https://www.cms.gov/medicare-coverage-database/view/ncd.aspx?ncdid=380&amp;ncdver=1</a:t>
            </a:r>
          </a:p>
          <a:p/>
          <a:p>
            <a:r>
              <a:t>R20: Noridian. Correct Billing and Coding of Ventilators, revised.</a:t>
            </a:r>
          </a:p>
          <a:p>
            <a:r>
              <a:t>https://med.noridianmedicare.com/web/jadme/policies/dmd-articles/2025/correct-billing-and-coding-of-ventilators-revised-b</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A05 | Continuing coverage: three different clocks</a:t>
            </a:r>
          </a:p>
          <a:p>
            <a:r>
              <a:t>Appendix · Coverage</a:t>
            </a:r>
          </a:p>
          <a:p/>
          <a:p>
            <a:r>
              <a:t>COPD RAD</a:t>
            </a:r>
          </a:p>
          <a:p/>
          <a:p>
            <a:r>
              <a:t>The first evaluation occurs by the end of the initial six-month period. The clinician establishes use of at least four hours in a 24-hour period on at least 70% of days in a 30-day period and at least one listed outcome. The outcome alternatives are PaCO₂ below 46 mmHg, stabilization of a rising PaCO₂, at least a 20% PaCO₂ reduction, or improvement in headache, fatigue, shortness of breath, confusion, or sleep quality associated with chronic hypercapnia. [R16]</a:t>
            </a:r>
          </a:p>
          <a:p/>
          <a:p>
            <a:r>
              <a:t>A second evaluation occurs during months seven through twelve. It establishes the same daily-hour and proportion-of-days threshold in each paid rental month. The subsequent provision continues that threshold in remaining paid rental months and any month in which accessories or supplies are dispensed. [R16]</a:t>
            </a:r>
          </a:p>
          <a:p/>
          <a:p>
            <a:r>
              <a:t>COPD HMV</a:t>
            </a:r>
          </a:p>
          <a:p/>
          <a:p>
            <a:r>
              <a:t>The first HMV evaluation has the same four-hour/70%-of-days threshold within a 30-day period but no parallel list of required CO₂ or symptom outcomes. Months seven through twelve and later paid rental months have continuing monthly-use requirements. Absence of an outcome list in that coverage subsection is not evidence that clinical outcomes are unimportant or that use alone proves effective ventilation. [R16]</a:t>
            </a:r>
          </a:p>
          <a:p/>
          <a:p>
            <a:r>
              <a:t>The CMS FAQ states that clinician documentation may establish device use and that the NCD does not mandate a machine readout as the only means of showing use. This is a policy-specific distinction from wording used in some other coverage pathways. [R46]</a:t>
            </a:r>
          </a:p>
          <a:p/>
          <a:p>
            <a:r>
              <a:t>Non-COPD RAD</a:t>
            </a:r>
          </a:p>
          <a:p/>
          <a:p>
            <a:r>
              <a:t>L33800 describes reassessment no sooner than the 61st day after initiation for continued coverage beyond the initial period, with improvement of relevant symptoms and average use of at least four hours per 24 hours. It also specifies the treating practitioner's signed and dated statement concerning benefit and use. This wording is not identical to the 70%-of-nights OSA rule. [R17]</a:t>
            </a:r>
          </a:p>
          <a:p/>
          <a:p>
            <a:r>
              <a:t>OSA PAP</a:t>
            </a:r>
          </a:p>
          <a:p/>
          <a:p>
            <a:r>
              <a:t>For OSA, L33718 places the reassessment between days 31 and 91 after initiation, with documented clinical benefit and objective evidence of adherence. Adherence is at least four hours per night on 70% of nights during a consecutive 30-day period within the first three months. Device-switching and requalification provisions add detail beyond this abbreviated summary. [R18]</a:t>
            </a:r>
          </a:p>
          <a:p/>
          <a:p>
            <a:r>
              <a:t>Distinct outcomes</a:t>
            </a:r>
          </a:p>
          <a:p/>
          <a:p>
            <a:r>
              <a:t>Coverage continuation, recorded use, correction of sleep-disordered breathing, correction of hypoventilation, and patient benefit are separate constructs. An individual may use equipment for enough hours while retaining leak, residual obstruction, asynchrony, or nocturnal hypercapnia. Conversely, an individual may derive benefit without satisfying a particular administrative usage window. The documents define coverage rules, not complete measures of treatment effectiveness. [R02] [R16] [R18]</a:t>
            </a:r>
          </a:p>
          <a:p/>
          <a:p>
            <a:r>
              <a:t>REFERENCES</a:t>
            </a:r>
          </a:p>
          <a:p>
            <a:r>
              <a:t>R02: Locke BW, Brown J. What Are We Aiming for in Chronic Hypercapnic Respiratory Failure? Respir Care. 2023;68(12):1775–1778.</a:t>
            </a:r>
          </a:p>
          <a:p>
            <a:r>
              <a:t>https://doi.org/10.4187/respcare.11573</a:t>
            </a:r>
          </a:p>
          <a:p/>
          <a:p>
            <a:r>
              <a:t>R16: CMS. NCD 240.9: Noninvasive Positive Pressure Ventilation in the Home for Chronic Respiratory Failure Consequent to COPD. Version effective June 9, 2025.</a:t>
            </a:r>
          </a:p>
          <a:p>
            <a:r>
              <a:t>https://www.cms.gov/medicare-coverage-database/view/ncd.aspx?ncdid=380&amp;ncdver=1</a:t>
            </a:r>
          </a:p>
          <a:p/>
          <a:p>
            <a:r>
              <a:t>R17: DME MACs. LCD L33800: Respiratory Assist Devices.</a:t>
            </a:r>
          </a:p>
          <a:p>
            <a:r>
              <a:t>https://www.cms.gov/medicare-coverage-database/view/lcd.aspx?lcdid=33800</a:t>
            </a:r>
          </a:p>
          <a:p/>
          <a:p>
            <a:r>
              <a:t>R18: DME MACs. LCD L33718: Positive Airway Pressure Devices for the Treatment of Obstructive Sleep Apnea.</a:t>
            </a:r>
          </a:p>
          <a:p>
            <a:r>
              <a:t>https://www.cms.gov/medicare-coverage-database/view/lcd.aspx?lcdid=33718</a:t>
            </a:r>
          </a:p>
          <a:p/>
          <a:p>
            <a:r>
              <a:t>R46: CMS. NCD 240.9 FAQ.</a:t>
            </a:r>
          </a:p>
          <a:p>
            <a:r>
              <a:t>https://www.cms.gov/data-research/monitoring-programs/medicare-fee-service-compliance-programs/medical-review-education/ncd-240-9-faq</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A06 | OSA PAP: diagnostic and coverage details</a:t>
            </a:r>
          </a:p>
          <a:p>
            <a:r>
              <a:t>Appendix · NCD 240.4 / LCD L33718</a:t>
            </a:r>
          </a:p>
          <a:p/>
          <a:p>
            <a:r>
              <a:t>Diagnostic eligibility</a:t>
            </a:r>
          </a:p>
          <a:p/>
          <a:p>
            <a:r>
              <a:t>NCD 240.4 covers an initial 12-week PAP period when an appropriate clinical evaluation and a qualifying sleep test establish an AHI or RDI of at least 15 events/hour, or 5–14 events/hour with specified symptoms or conditions. These include excessive daytime sleepiness, impaired cognition, mood disorder or insomnia, or documented hypertension, ischemic heart disease, or a history of stroke. [R44]</a:t>
            </a:r>
          </a:p>
          <a:p/>
          <a:p>
            <a:r>
              <a:t>The policy accepts specified attended and unattended sleep-test configurations. It defines hypopneas using at least a 30% reduction in airflow or thoracoabdominal movement for at least ten seconds with at least 4% oxygen desaturation. This is a coverage definition and is not identical to every clinically used AASM hypopnea-scoring option. [R44]</a:t>
            </a:r>
          </a:p>
          <a:p/>
          <a:p>
            <a:r>
              <a:t>Equipment</a:t>
            </a:r>
          </a:p>
          <a:p/>
          <a:p>
            <a:r>
              <a:t>E0601 covers CPAP, including the relevant auto-adjusting single-level devices. E0470 describes bilevel equipment without a backup rate and is included within L33718's PAP framework when E0601 has been tried and proven ineffective despite optimal therapy, including appropriate mask fitting and pressure settings. The policy does not make E0470 the first-line treatment for uncomplicated OSA. [R18]</a:t>
            </a:r>
          </a:p>
          <a:p/>
          <a:p>
            <a:r>
              <a:t>E0471 is not covered when the primary diagnosis is OSA under this pathway. This does not imply that every patient who also has OSA is categorically ineligible for a backup-rate device under another properly supported diagnosis. Coexistence, primary indication, and dominant mechanism are different concepts. [R18] [R17] [R16]</a:t>
            </a:r>
          </a:p>
          <a:p/>
          <a:p>
            <a:r>
              <a:t>Clinical evidence</a:t>
            </a:r>
          </a:p>
          <a:p/>
          <a:p>
            <a:r>
              <a:t>The 2019 AASM guideline recommends PAP for adults with OSA and excessive sleepiness and provides other recommendations for sleep-related quality of life and comorbid hypertension. For routine OSA, it suggests CPAP or APAP rather than bilevel PAP. Treatment response, tolerance, and diagnostic context still matter within clinical care. These are clinical recommendations and not replacements for the payer's test definitions and continuation rules. [R24]</a:t>
            </a:r>
          </a:p>
          <a:p/>
          <a:p>
            <a:r>
              <a:t>Continued use</a:t>
            </a:r>
          </a:p>
          <a:p/>
          <a:p>
            <a:r>
              <a:t>The LCD specifies a treating-practitioner reassessment from day 31 through day 91 documenting benefit, with objective use of at least four hours per night on at least 70% of nights during a consecutive 30-day period within the first three months. Timing rules for switching from E0601 to E0470 and requalification after an unsuccessful trial are more detailed than the main deck. [R18]</a:t>
            </a:r>
          </a:p>
          <a:p/>
          <a:p>
            <a:r>
              <a:t>The national 12-week initial coverage statement and the local first-three-month adherence wording are reproduced as their respective formulations. Neither establishes the optimal biological dose of PAP for all outcomes. [R44] [R18]</a:t>
            </a:r>
          </a:p>
          <a:p/>
          <a:p>
            <a:r>
              <a:t>REFERENCES</a:t>
            </a:r>
          </a:p>
          <a:p>
            <a:r>
              <a:t>R16: CMS. NCD 240.9: Noninvasive Positive Pressure Ventilation in the Home for Chronic Respiratory Failure Consequent to COPD. Version effective June 9, 2025.</a:t>
            </a:r>
          </a:p>
          <a:p>
            <a:r>
              <a:t>https://www.cms.gov/medicare-coverage-database/view/ncd.aspx?ncdid=380&amp;ncdver=1</a:t>
            </a:r>
          </a:p>
          <a:p/>
          <a:p>
            <a:r>
              <a:t>R17: DME MACs. LCD L33800: Respiratory Assist Devices.</a:t>
            </a:r>
          </a:p>
          <a:p>
            <a:r>
              <a:t>https://www.cms.gov/medicare-coverage-database/view/lcd.aspx?lcdid=33800</a:t>
            </a:r>
          </a:p>
          <a:p/>
          <a:p>
            <a:r>
              <a:t>R18: DME MACs. LCD L33718: Positive Airway Pressure Devices for the Treatment of Obstructive Sleep Apnea.</a:t>
            </a:r>
          </a:p>
          <a:p>
            <a:r>
              <a:t>https://www.cms.gov/medicare-coverage-database/view/lcd.aspx?lcdid=33718</a:t>
            </a:r>
          </a:p>
          <a:p/>
          <a:p>
            <a:r>
              <a:t>R24: Patil SP, et al. Treatment of Adult Obstructive Sleep Apnea with Positive Airway Pressure: An AASM Clinical Practice Guideline. J Clin Sleep Med. 2019;15:335–343.</a:t>
            </a:r>
          </a:p>
          <a:p>
            <a:r>
              <a:t>https://doi.org/10.5664/jcsm.7640</a:t>
            </a:r>
          </a:p>
          <a:p/>
          <a:p>
            <a:r>
              <a:t>R44: CMS. NCD 240.4: Continuous Positive Airway Pressure Therapy for Obstructive Sleep Apnea. Version 3, effective March 13, 2008.</a:t>
            </a:r>
          </a:p>
          <a:p>
            <a:r>
              <a:t>https://www.cms.gov/medicare-coverage-database/view/ncd.aspx?ncdid=226&amp;ncdver=3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A07 | Non-COPD RAD: restrictive and hypoventilation routes</a:t>
            </a:r>
          </a:p>
          <a:p>
            <a:r>
              <a:t>Appendix · LCD L33800</a:t>
            </a:r>
          </a:p>
          <a:p/>
          <a:p>
            <a:r>
              <a:t>Restrictive thoracic disorders</a:t>
            </a:r>
          </a:p>
          <a:p/>
          <a:p>
            <a:r>
              <a:t>The LCD requires a documented neuromuscular disorder or severe thoracic cage abnormality, COPD not contributing significantly, and at least one specified objective finding. The general alternatives are awake PaCO₂ of at least 45 mmHg on prescribed FiO₂ or oxygen saturation of 88% or less for at least five minutes during nocturnal recording of at least two hours while breathing prescribed FiO₂. For neuromuscular disease, additional alternatives are maximal inspiratory pressure below 60 cm H₂O or FVC below 50% predicted. [R17]</a:t>
            </a:r>
          </a:p>
          <a:p/>
          <a:p>
            <a:r>
              <a:t>MIP is commonly reported as a negative pressure; the clinical interpretation concerns inspiratory strength or magnitude. A value less negative than −60 cm H₂O indicates less strength, whereas simply reading an algebraic negative value as “less than 60” would be misleading. The main slide uses the policy shorthand; the physiological meaning requires attention to the laboratory's sign convention. [R17] [R27]</a:t>
            </a:r>
          </a:p>
          <a:p/>
          <a:p>
            <a:r>
              <a:t>Either E0470 or E0471 may be covered according to the treating practitioner's judgment within this pathway. The presence of the MIP/FVC alternatives does not remove the diagnosis and documentation requirements. “FVC alone” is therefore an incomplete description of the whole coverage logic. [R17]</a:t>
            </a:r>
          </a:p>
          <a:p/>
          <a:p>
            <a:r>
              <a:t>Hypoventilation syndrome: E0470</a:t>
            </a:r>
          </a:p>
          <a:p/>
          <a:p>
            <a:r>
              <a:t>The entry criteria include awake PaCO₂ of at least 45 mmHg and FEV₁/FVC of at least 70%. An additional finding is required: PaCO₂ during sleep or immediately on awakening that is at least 7 mmHg above the initial qualifying awake value, or a qualifying oxygen desaturation measurement not caused by obstructive upper-airway events. The latter branch includes an AHI below 5 events/hour and the specified duration/recording requirements. [R17]</a:t>
            </a:r>
          </a:p>
          <a:p/>
          <a:p>
            <a:r>
              <a:t>Hypoventilation syndrome: E0471</a:t>
            </a:r>
          </a:p>
          <a:p/>
          <a:p>
            <a:r>
              <a:t>This branch requires use of a covered E0470 device, an FEV₁/FVC of at least 70%, and specified worsening of awake PaCO₂ by at least 7 mmHg compared with the qualifying value, or qualifying nonobstructive desaturation while using E0470. The sequence is different from the restrictive-thoracic branch and different from the newer COPD NCD. [R17]</a:t>
            </a:r>
          </a:p>
          <a:p/>
          <a:p>
            <a:r>
              <a:t>Relationship to practice guidelines</a:t>
            </a:r>
          </a:p>
          <a:p/>
          <a:p>
            <a:r>
              <a:t>The CHEST NMD guideline addresses symptoms, respiratory function, chronic respiratory failure, ventilation goals, and airway clearance. A coverage cutoff is not automatically the earliest clinically appropriate intervention point, and a disease-specific guideline is not itself a guarantee of coverage for any selected equipment. [R27]</a:t>
            </a:r>
          </a:p>
          <a:p/>
          <a:p>
            <a:r>
              <a:t>The hypoventilation policy's spirometric partition illustrates why mixed disease can be difficult administratively. A patient with obesity, airflow obstruction, and sleep-disordered breathing may not align neatly with one trial phenotype or one older pathway. This is a mismatch between the categories and the clinical state, not proof that every patient requires an HMV. [R01] [R17]</a:t>
            </a:r>
          </a:p>
          <a:p/>
          <a:p>
            <a:r>
              <a:t>REFERENCES</a:t>
            </a:r>
          </a:p>
          <a:p>
            <a:r>
              <a:t>R01: Locke BW, Brown JP, Sundar KM. The Role of Obstructive Sleep Apnea in Hypercapnic Respiratory Failure Identified in Critical Care, Emergency, Inpatient, and Outpatient Settings. Sleep Med Clin. 2024;19(2):339–356.</a:t>
            </a:r>
          </a:p>
          <a:p>
            <a:r>
              <a:t>https://doi.org/10.1016/j.jsmc.2024.02.012</a:t>
            </a:r>
          </a:p>
          <a:p/>
          <a:p>
            <a:r>
              <a:t>R17: DME MACs. LCD L33800: Respiratory Assist Devices.</a:t>
            </a:r>
          </a:p>
          <a:p>
            <a:r>
              <a:t>https://www.cms.gov/medicare-coverage-database/view/lcd.aspx?lcdid=33800</a:t>
            </a:r>
          </a:p>
          <a:p/>
          <a:p>
            <a:r>
              <a:t>R27: Khan A, et al. Respiratory Management of Patients With Neuromuscular Weakness: CHEST Clinical Practice Guideline and Expert Panel Report. Chest. 2023;164:394–413.</a:t>
            </a:r>
          </a:p>
          <a:p>
            <a:r>
              <a:t>https://doi.org/10.1016/j.chest.2023.03.011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A08 | Central apnea: coverage and clinical guidance</a:t>
            </a:r>
          </a:p>
          <a:p>
            <a:r>
              <a:t>Appendix · CSA</a:t>
            </a:r>
          </a:p>
          <a:p/>
          <a:p>
            <a:r>
              <a:t>Coverage definitions</a:t>
            </a:r>
          </a:p>
          <a:p/>
          <a:p>
            <a:r>
              <a:t>L33800 requires a complete attended facility polysomnogram before device initiation for the central/complex sleep-apnea pathway. Its CSA definition includes AHI of at least 5 events/hour, central apnea–central hypopnea index of at least 5, central events constituting more than 50% of the total, at least one specified symptom, and no evidence of daytime or nocturnal hypoventilation. Complex sleep apnea has additional criteria involving persistence or emergence of central events during PAP treatment after obstructive events are controlled. [R17]</a:t>
            </a:r>
          </a:p>
          <a:p/>
          <a:p>
            <a:r>
              <a:t>The LCD permits either E0470 or E0471 at the treating practitioner's discretion after its conditions are met. Both the restrictive-thoracic and CSA pathways can therefore permit either code, and a daytime hypercapnia requirement is not universal. [R17]</a:t>
            </a:r>
          </a:p>
          <a:p/>
          <a:p>
            <a:r>
              <a:t>Wording inconsistency in the source</a:t>
            </a:r>
          </a:p>
          <a:p/>
          <a:p>
            <a:r>
              <a:t>The LCD's coverage section also refers to significant improvement of sleep-associated hypoventilation with the selected device, while its CSA definition excludes daytime or nocturnal hypoventilation. Both phrases are present in the source. This package identifies the inconsistency rather than silently rewriting the policy into a different definition. The main slide abbreviates the requirement as a qualifying response on the prescribed settings. [R17]</a:t>
            </a:r>
          </a:p>
          <a:p/>
          <a:p>
            <a:r>
              <a:t>Clinical guideline</a:t>
            </a:r>
          </a:p>
          <a:p/>
          <a:p>
            <a:r>
              <a:t>The 2025 AASM guideline gives conditional, etiology-specific recommendations. CPAP is supported for several CSA etiologies. Bilevel with a backup rate is suggested for primary CSA, medication/substance-associated CSA, treatment-emergent CSA, and CSA due to another medical condition or disorder. The guideline does not make that particular backup-bilevel recommendation universal for every heart-failure phenotype. [R33]</a:t>
            </a:r>
          </a:p>
          <a:p/>
          <a:p>
            <a:r>
              <a:t>Bilevel without a backup rate is suggested against for the listed CSA etiologies. A code permitted by a coverage document therefore does not establish the clinical appropriateness of spontaneous bilevel therapy for central apnea. [R33]</a:t>
            </a:r>
          </a:p>
          <a:p/>
          <a:p>
            <a:r>
              <a:t>ASV is conditionally supported for selected etiologies, including heart failure, with shared decision-making and experienced-center management with close monitoring in HFrEF. This sits alongside a complex trial history and device-specific labeling. The current package does not replace the current labeling of a particular ASV product with a broad assertion of safety. [R33]</a:t>
            </a:r>
          </a:p>
          <a:p/>
          <a:p>
            <a:r>
              <a:t>Scope of this lecture</a:t>
            </a:r>
          </a:p>
          <a:p/>
          <a:p>
            <a:r>
              <a:t>The main sequence includes CSA to distinguish instability of breathing control from sustained ventilatory insufficiency and to show that apparently overlapping code categories can contain different therapies. Detailed ASV algorithms, heart-failure trial comparisons, and prescribing protocols are outside the timed main sequence. The relevant factual distinctions remain in the companion rather than becoming an unqualified equipment hierarchy.</a:t>
            </a:r>
          </a:p>
          <a:p/>
          <a:p>
            <a:r>
              <a:t>REFERENCES</a:t>
            </a:r>
          </a:p>
          <a:p>
            <a:r>
              <a:t>R17: DME MACs. LCD L33800: Respiratory Assist Devices.</a:t>
            </a:r>
          </a:p>
          <a:p>
            <a:r>
              <a:t>https://www.cms.gov/medicare-coverage-database/view/lcd.aspx?lcdid=33800</a:t>
            </a:r>
          </a:p>
          <a:p/>
          <a:p>
            <a:r>
              <a:t>R33: Badr MS, et al. Treatment of Central Sleep Apnea in Adults: An AASM Clinical Practice Guideline. J Clin Sleep Med. 2025;21:2181–2191.</a:t>
            </a:r>
          </a:p>
          <a:p>
            <a:r>
              <a:t>https://doi.org/10.5664/jcsm.11858</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A09 | COPD trial comparison</a:t>
            </a:r>
          </a:p>
          <a:p>
            <a:r>
              <a:t>Appendix · Clinical evidence</a:t>
            </a:r>
          </a:p>
          <a:p/>
          <a:p>
            <a:r>
              <a:t>Köhnlein trial</a:t>
            </a:r>
          </a:p>
          <a:p/>
          <a:p>
            <a:r>
              <a:t>Köhnlein and colleagues studied stable, severe hypercapnic COPD with NIV targeted toward a substantial reduction in PaCO₂. Reported one-year mortality was approximately 12% with NIV and 33% with standard care. The rounded absolute difference is about 21 percentage points; the corresponding approximate number needed to treat is five for that population and follow-up interval. [R30]</a:t>
            </a:r>
          </a:p>
          <a:p/>
          <a:p>
            <a:r>
              <a:t>That absolute benefit is not a general population forecast for everyone discharged with an elevated CO₂. The selected disease severity, stability, treatment strategy, follow-up, and comparator are part of the result. An administrative minimum IPAP does not recreate the whole intervention. [R30] [R26]</a:t>
            </a:r>
          </a:p>
          <a:p/>
          <a:p>
            <a:r>
              <a:t>RESCUE</a:t>
            </a:r>
          </a:p>
          <a:p/>
          <a:p>
            <a:r>
              <a:t>The RESCUE trial enrolled patients whose hypercapnia persisted for more than 48 hours after acute ventilatory support was stopped. NIV improved CO₂ but did not improve the primary outcome of respiratory readmission or death. This separates physiological change from demonstrated clinical benefit in that population and timing window. [R31]</a:t>
            </a:r>
          </a:p>
          <a:p/>
          <a:p>
            <a:r>
              <a:t>HOT-HMV</a:t>
            </a:r>
          </a:p>
          <a:p/>
          <a:p>
            <a:r>
              <a:t>HOT-HMV enrolled patients with persistent hypercapnia two to four weeks after resolution of respiratory acidosis from a COPD exacerbation. Home oxygen plus NIV prolonged time to readmission or death compared with oxygen alone: median time 4.3 versus 1.4 months and adjusted hazard ratio 0.49, with 95% CI 0.31–0.77. Important exclusions included obesity above the trial threshold and obstructive sleep apnea; the population is not identical to a typical multifactorial hypercapnic inpatient cohort. [R32]</a:t>
            </a:r>
          </a:p>
          <a:p/>
          <a:p>
            <a:r>
              <a:t>The intervention's name contains “home mechanical ventilation,” but that terminology does not constitute randomization between E0466 and E0471. It evaluates a home ventilation strategy, not a US reimbursement comparison. [R32]</a:t>
            </a:r>
          </a:p>
          <a:p/>
          <a:p>
            <a:r>
              <a:t>Interpretation across trials</a:t>
            </a:r>
          </a:p>
          <a:p/>
          <a:p>
            <a:r>
              <a:t>The results support attention to persistent hypercapnia, clinical state, and adequate ventilation. They do not isolate timing as the single explanation for differences between trials because other design and population features changed. Cross-trial contrasts are not randomized head-to-head comparisons of initiation times. [R30] [R31] [R32]</a:t>
            </a:r>
          </a:p>
          <a:p/>
          <a:p>
            <a:r>
              <a:t>The ATS COPD guideline suggests nocturnal NIV for chronic stable hypercapnic COPD, assessment for OSA, and a strategy targeting normalization of PaCO₂. It generally favors reassessment two to four weeks after acute resolution instead of routine long-term initiation during the admission. The guideline notes that patients who cannot be weaned from NIV are a different clinical situation. [R26]</a:t>
            </a:r>
          </a:p>
          <a:p/>
          <a:p>
            <a:r>
              <a:t>Relation to the new NCD</a:t>
            </a:r>
          </a:p>
          <a:p/>
          <a:p>
            <a:r>
              <a:t>NCD 240.9 contains both stable/persistent routes and an immediate-discharge route. The existence of a discharge coverage route does not resolve all scientific uncertainty about the optimal timing of treatment for every phenotype. Clinical evidence and administrative coverage address related but nonidentical questions. [R16] [R26]</a:t>
            </a:r>
          </a:p>
          <a:p/>
          <a:p>
            <a:r>
              <a:t>REFERENCES</a:t>
            </a:r>
          </a:p>
          <a:p>
            <a:r>
              <a:t>R16: CMS. NCD 240.9: Noninvasive Positive Pressure Ventilation in the Home for Chronic Respiratory Failure Consequent to COPD. Version effective June 9, 2025.</a:t>
            </a:r>
          </a:p>
          <a:p>
            <a:r>
              <a:t>https://www.cms.gov/medicare-coverage-database/view/ncd.aspx?ncdid=380&amp;ncdver=1</a:t>
            </a:r>
          </a:p>
          <a:p/>
          <a:p>
            <a:r>
              <a:t>R26: Macrea M, et al. Long-Term Noninvasive Ventilation in Chronic Stable Hypercapnic COPD: An Official ATS Clinical Practice Guideline. Am J Respir Crit Care Med. 2020;202:e74–e87.</a:t>
            </a:r>
          </a:p>
          <a:p>
            <a:r>
              <a:t>https://doi.org/10.1164/rccm.202006-2382ST</a:t>
            </a:r>
          </a:p>
          <a:p/>
          <a:p>
            <a:r>
              <a:t>R30: Köhnlein T, et al. Non-invasive positive pressure ventilation for the treatment of severe stable COPD: a prospective, multicentre, randomised, controlled clinical trial. Lancet Respir Med. 2014;2:698–705.</a:t>
            </a:r>
          </a:p>
          <a:p>
            <a:r>
              <a:t>https://doi.org/10.1016/S2213-2600(14)70153-5</a:t>
            </a:r>
          </a:p>
          <a:p/>
          <a:p>
            <a:r>
              <a:t>R31: Struik FM, et al. Nocturnal NIV in COPD patients with prolonged hypercapnia after ventilatory support for acute respiratory failure: a randomised, controlled, parallel-group study. Thorax. 2014;69:826–834.</a:t>
            </a:r>
          </a:p>
          <a:p>
            <a:r>
              <a:t>https://doi.org/10.1136/thoraxjnl-2014-205126</a:t>
            </a:r>
          </a:p>
          <a:p/>
          <a:p>
            <a:r>
              <a:t>R32: Murphy PB, et al. Effect of Home NIV With Oxygen Therapy vs Oxygen Therapy Alone on Hospital Readmission or Death After an Acute COPD Exacerbation. JAMA. 2017;317:2177–2186.</a:t>
            </a:r>
          </a:p>
          <a:p>
            <a:r>
              <a:t>https://doi.org/10.1001/jama.2017.4451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A10 | Nocturnal and overlap populations</a:t>
            </a:r>
          </a:p>
          <a:p>
            <a:r>
              <a:t>Appendix · Clinical evidence</a:t>
            </a:r>
          </a:p>
          <a:p/>
          <a:p>
            <a:r>
              <a:t>Ward: nocturnal hypoventilation before daytime hypercapnia</a:t>
            </a:r>
          </a:p>
          <a:p/>
          <a:p>
            <a:r>
              <a:t>Ward and colleagues randomized 26 patients with congenital neuromuscular or chest-wall disease, vital capacity below 50% predicted, daytime normocapnia, and nocturnal hypercapnia. NIV improved nocturnal gas exchange, and many control patients subsequently met criteria for support. The study directly addresses a selected group whose impairment was apparent during sleep before daytime hypercapnia developed. [R28]</a:t>
            </a:r>
          </a:p>
          <a:p/>
          <a:p>
            <a:r>
              <a:t>Its limitations include small size, a mixed-age population, selected respiratory disorders, and the clinical circumstances of crossover. It does not establish that every nocturnal CO₂ increase in COPD, obesity, medication exposure, or mixed disease has the same prognosis or treatment response. [R28]</a:t>
            </a:r>
          </a:p>
          <a:p/>
          <a:p>
            <a:r>
              <a:t>Zheng: obesity plus airway obstruction</a:t>
            </a:r>
          </a:p>
          <a:p/>
          <a:p>
            <a:r>
              <a:t>Zheng and colleagues studied 32 patients with obesity, obstructive airway disease, and chronic hypercapnia. Spontaneous bilevel therapy produced a greater reduction in PaCO₂ than CPAP over three months, with a between-group difference of 9.4 mmHg and 95% CI 4.3–15.0. [R29]</a:t>
            </a:r>
          </a:p>
          <a:p/>
          <a:p>
            <a:r>
              <a:t>The result concerns a physiological endpoint in an overlap phenotype. It is not a mortality trial, not a comparison of HMV and RAD platforms, and not an isolated nocturnal-hypoventilation study. It also does not demonstrate that a backup rate is unnecessary in other groups merely because spontaneous mode was used in this selected trial. [R29]</a:t>
            </a:r>
          </a:p>
          <a:p/>
          <a:p>
            <a:r>
              <a:t>Scoring and clinical significance</a:t>
            </a:r>
          </a:p>
          <a:p/>
          <a:p>
            <a:r>
              <a:t>An adult sleep-hypoventilation scoring definition uses PaCO₂ or an accepted surrogate above 55 mmHg for at least ten minutes, or a rise of at least 10 mmHg from awake supine baseline to above 50 mmHg for at least ten minutes. These are scoring criteria, not a trial-derived universal threshold at which an intervention has proven outcome benefit across all etiologies. [R38]</a:t>
            </a:r>
          </a:p>
          <a:p/>
          <a:p>
            <a:r>
              <a:t>The temporal burden, starting CO₂, disease trajectory, daytime function, obstructive-event contribution, and available ventilatory reserve may all differ among people meeting the same scoring definition. The review literature describes this heterogeneity, but it does not supply a fully validated decision rule spanning every combination. [R01] [R03] [R04]</a:t>
            </a:r>
          </a:p>
          <a:p/>
          <a:p>
            <a:r>
              <a:t>Multiple contributors</a:t>
            </a:r>
          </a:p>
          <a:p/>
          <a:p>
            <a:r>
              <a:t>A diagnosis-specific study asks how an intervention behaves in a defined group. A patient identified by hypercapnia alone presents an inverse problem: the contributing disorders are incompletely known and may coexist. The prevalence of OSA among tested hypercapnic patients does not by itself establish how much hypercapnia is attributable to OSA or how much an individual would improve if obstruction alone were treated. [R01]</a:t>
            </a:r>
          </a:p>
          <a:p/>
          <a:p>
            <a:r>
              <a:t>Current data therefore support some specific indications while leaving important gaps in disease attribution, modality comparisons, treatment targets, and follow-up strategies for mixed disease. This is more precise than a statement that home ventilation has no evidence or that nocturnal hypoventilation is never treatable before daytime hypercapnia. [R02] [R28] [R29]</a:t>
            </a:r>
          </a:p>
          <a:p/>
          <a:p>
            <a:r>
              <a:t>REFERENCES</a:t>
            </a:r>
          </a:p>
          <a:p>
            <a:r>
              <a:t>R01: Locke BW, Brown JP, Sundar KM. The Role of Obstructive Sleep Apnea in Hypercapnic Respiratory Failure Identified in Critical Care, Emergency, Inpatient, and Outpatient Settings. Sleep Med Clin. 2024;19(2):339–356.</a:t>
            </a:r>
          </a:p>
          <a:p>
            <a:r>
              <a:t>https://doi.org/10.1016/j.jsmc.2024.02.012</a:t>
            </a:r>
          </a:p>
          <a:p/>
          <a:p>
            <a:r>
              <a:t>R02: Locke BW, Brown J. What Are We Aiming for in Chronic Hypercapnic Respiratory Failure? Respir Care. 2023;68(12):1775–1778.</a:t>
            </a:r>
          </a:p>
          <a:p>
            <a:r>
              <a:t>https://doi.org/10.4187/respcare.11573</a:t>
            </a:r>
          </a:p>
          <a:p/>
          <a:p>
            <a:r>
              <a:t>R03: Piper AJ, Yee BJ. Hypoventilation Syndromes. Compr Physiol. 2014;4:1639–1676.</a:t>
            </a:r>
          </a:p>
          <a:p>
            <a:r>
              <a:t>https://doi.org/10.1002/cphy.c140008</a:t>
            </a:r>
          </a:p>
          <a:p/>
          <a:p>
            <a:r>
              <a:t>R04: Shah NM, Steier J, Hart N, Kaltsakas G. Effects of non-invasive ventilation on sleep in chronic hypercapnic respiratory failure. Thorax. Published online November 18, 2023.</a:t>
            </a:r>
          </a:p>
          <a:p>
            <a:r>
              <a:t>https://doi.org/10.1136/thorax-2023-220035</a:t>
            </a:r>
          </a:p>
          <a:p/>
          <a:p>
            <a:r>
              <a:t>R28: Ward S, Chatwin M, Heather S, Simonds AK. Randomised controlled trial of NIV for nocturnal hypoventilation in neuromuscular and chest wall disease patients with daytime normocapnia. Thorax. 2005;60:1019–1024.</a:t>
            </a:r>
          </a:p>
          <a:p>
            <a:r>
              <a:t>https://doi.org/10.1136/thx.2004.037424</a:t>
            </a:r>
          </a:p>
          <a:p/>
          <a:p>
            <a:r>
              <a:t>R29: Zheng Y, Yee BJ, Wong K, Grunstein R, Piper A. A pilot randomized trial comparing CPAP vs bilevel PAP spontaneous mode in patients with obesity and obstructive airway disease. J Clin Sleep Med. 2022;18:99–107.</a:t>
            </a:r>
          </a:p>
          <a:p>
            <a:r>
              <a:t>https://doi.org/10.5664/jcsm.9506</a:t>
            </a:r>
          </a:p>
          <a:p/>
          <a:p>
            <a:r>
              <a:t>R38: Berry RB, et al. Rules for Scoring Respiratory Events in Sleep: Update of the 2007 AASM Manual. J Clin Sleep Med. 2012;8:597–619.</a:t>
            </a:r>
          </a:p>
          <a:p>
            <a:r>
              <a:t>https://doi.org/10.5664/jcsm.2172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A11 | Measures of home-treatment performance</a:t>
            </a:r>
          </a:p>
          <a:p>
            <a:r>
              <a:t>Appendix · Physiology and follow-up</a:t>
            </a:r>
          </a:p>
          <a:p/>
          <a:p>
            <a:r>
              <a:t>Use and technical data</a:t>
            </a:r>
          </a:p>
          <a:p/>
          <a:p>
            <a:r>
              <a:t>Device downloads may contain duration of use, leak estimates, residual event counts, breath timing, pressure, and estimates of ventilation. The variables available and their measurement properties differ by device, circuit, and interface. Downloads are therefore not limited to adherence alone, but they do not provide direct measurement of every physiological or patient-centered outcome. [R02]</a:t>
            </a:r>
          </a:p>
          <a:p/>
          <a:p>
            <a:r>
              <a:t>A device event index does not exactly reproduce polysomnographic scoring, and estimated delivered volume can be affected by leaks and circuit assumptions. The factual distinction is between device-derived technical data, independently measured physiology, and outcomes experienced by the patient. [R02] [R04]</a:t>
            </a:r>
          </a:p>
          <a:p/>
          <a:p>
            <a:r>
              <a:t>Carbon dioxide and oxygenation</a:t>
            </a:r>
          </a:p>
          <a:p/>
          <a:p>
            <a:r>
              <a:t>Arterial blood gas is a direct reference for PaCO₂ at the sampling time. Transcutaneous CO₂ can describe a time course during sleep without repeated arterial sampling, but the sensor has a response time and potential drift, calibration, perfusion, and skin-contact limitations. The AARC guideline recommends comparison with arterial measurements when appropriate and continued attention to the clinical context. [R34]</a:t>
            </a:r>
          </a:p>
          <a:p/>
          <a:p>
            <a:r>
              <a:t>Oximetry is a measure of oxygenation, not a direct measurement of alveolar ventilation. Supplemental oxygen can change the relationship between hypoventilation and desaturation, so absence of major desaturation does not establish absence of CO₂ retention. Nocturnal CO₂ assessment and oxygenation monitoring provide different information. [R01] [R34]</a:t>
            </a:r>
          </a:p>
          <a:p/>
          <a:p>
            <a:r>
              <a:t>Treatment targets</a:t>
            </a:r>
          </a:p>
          <a:p/>
          <a:p>
            <a:r>
              <a:t>Jimenez and colleagues studied 337 patients in a home-ventilation clinic and found an association between reductions in transcutaneous CO₂ and improved survival after adjustment for measured covariates. This was an observational cohort, not randomization to distinct CO₂ targets. Lower CO₂ can mark treatment response, underlying reserve, adherence, disease course, and other factors. [R35]</a:t>
            </a:r>
          </a:p>
          <a:p/>
          <a:p>
            <a:r>
              <a:t>The editorial accompanying that work highlights sparse empirical evidence for many care-delivery and monitoring recommendations. A reasonable physiological target and an observed association do not establish the optimal target, monitoring schedule, or professional-service package for all home-NIV populations. [R02]</a:t>
            </a:r>
          </a:p>
          <a:p/>
          <a:p>
            <a:r>
              <a:t>Clinical versus coverage outcomes</a:t>
            </a:r>
          </a:p>
          <a:p/>
          <a:p>
            <a:r>
              <a:t>The continuing-use thresholds in coverage policies are administrative measures of exposure and benefit. They do not cover all relevant treatment endpoints. Conversely, an improvement in comfort or sleep is not automatically sufficient documentation for every payer pathway. The relationship between these domains is many-to-many rather than a single checklist that proves clinical success. [R16] [R17] [R18]</a:t>
            </a:r>
          </a:p>
          <a:p/>
          <a:p>
            <a:r>
              <a:t>REFERENCES</a:t>
            </a:r>
          </a:p>
          <a:p>
            <a:r>
              <a:t>R01: Locke BW, Brown JP, Sundar KM. The Role of Obstructive Sleep Apnea in Hypercapnic Respiratory Failure Identified in Critical Care, Emergency, Inpatient, and Outpatient Settings. Sleep Med Clin. 2024;19(2):339–356.</a:t>
            </a:r>
          </a:p>
          <a:p>
            <a:r>
              <a:t>https://doi.org/10.1016/j.jsmc.2024.02.012</a:t>
            </a:r>
          </a:p>
          <a:p/>
          <a:p>
            <a:r>
              <a:t>R02: Locke BW, Brown J. What Are We Aiming for in Chronic Hypercapnic Respiratory Failure? Respir Care. 2023;68(12):1775–1778.</a:t>
            </a:r>
          </a:p>
          <a:p>
            <a:r>
              <a:t>https://doi.org/10.4187/respcare.11573</a:t>
            </a:r>
          </a:p>
          <a:p/>
          <a:p>
            <a:r>
              <a:t>R04: Shah NM, Steier J, Hart N, Kaltsakas G. Effects of non-invasive ventilation on sleep in chronic hypercapnic respiratory failure. Thorax. Published online November 18, 2023.</a:t>
            </a:r>
          </a:p>
          <a:p>
            <a:r>
              <a:t>https://doi.org/10.1136/thorax-2023-220035</a:t>
            </a:r>
          </a:p>
          <a:p/>
          <a:p>
            <a:r>
              <a:t>R16: CMS. NCD 240.9: Noninvasive Positive Pressure Ventilation in the Home for Chronic Respiratory Failure Consequent to COPD. Version effective June 9, 2025.</a:t>
            </a:r>
          </a:p>
          <a:p>
            <a:r>
              <a:t>https://www.cms.gov/medicare-coverage-database/view/ncd.aspx?ncdid=380&amp;ncdver=1</a:t>
            </a:r>
          </a:p>
          <a:p/>
          <a:p>
            <a:r>
              <a:t>R17: DME MACs. LCD L33800: Respiratory Assist Devices.</a:t>
            </a:r>
          </a:p>
          <a:p>
            <a:r>
              <a:t>https://www.cms.gov/medicare-coverage-database/view/lcd.aspx?lcdid=33800</a:t>
            </a:r>
          </a:p>
          <a:p/>
          <a:p>
            <a:r>
              <a:t>R18: DME MACs. LCD L33718: Positive Airway Pressure Devices for the Treatment of Obstructive Sleep Apnea.</a:t>
            </a:r>
          </a:p>
          <a:p>
            <a:r>
              <a:t>https://www.cms.gov/medicare-coverage-database/view/lcd.aspx?lcdid=33718</a:t>
            </a:r>
          </a:p>
          <a:p/>
          <a:p>
            <a:r>
              <a:t>R34: Restrepo RD, Hirst KR, Wittnebel L, Wettstein R. AARC Clinical Practice Guideline: Transcutaneous Monitoring of Carbon Dioxide and Oxygen: 2012. Respir Care. 2012;57:1955–1962.</a:t>
            </a:r>
          </a:p>
          <a:p>
            <a:r>
              <a:t>https://doi.org/10.4187/respcare.02011</a:t>
            </a:r>
          </a:p>
          <a:p/>
          <a:p>
            <a:r>
              <a:t>R35: Jimenez JV, et al. Lowering PCO2 With Noninvasive Ventilation Is Associated With Improved Survival in Chronic Hypercapnic Respiratory Failure. Respir Care. 2023.</a:t>
            </a:r>
          </a:p>
          <a:p>
            <a:r>
              <a:t>https://doi.org/10.4187/respcare.10813</a:t>
            </a:r>
          </a:p>
          <a:p/>
          <a:p>
            <a:r>
              <a:t>R38: Berry RB, et al. Rules for Scoring Respiratory Events in Sleep: Update of the 2007 AASM Manual. J Clin Sleep Med. 2012;8:597–619.</a:t>
            </a:r>
          </a:p>
          <a:p>
            <a:r>
              <a:t>https://doi.org/10.5664/jcsm.2172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A12 | Documentation and source index</a:t>
            </a:r>
          </a:p>
          <a:p>
            <a:r>
              <a:t>Appendix · Current policy</a:t>
            </a:r>
          </a:p>
          <a:p/>
          <a:p>
            <a:r>
              <a:t>Documentation components</a:t>
            </a:r>
          </a:p>
          <a:p/>
          <a:p>
            <a:r>
              <a:t>A written order, supporting medical records, correct coding, and proof of delivery serve different functions in the DME payment process. A supplier-generated form alone does not replace clinical documentation sufficient to establish the item's reasonable-and-necessary use. Signed stock phrases are not equivalent to a documented history, examination, test result, and clinical rationale. [R19]</a:t>
            </a:r>
          </a:p>
          <a:p/>
          <a:p>
            <a:r>
              <a:t>The clinical record can also contain important functional or safety needs that are not individually sufficient to establish a particular reimbursement category. For example, portability, power availability, and caregiver capacity may be clinically relevant even when a specific coverage provision requires additional dependence or capability criteria. [R16] [R19]</a:t>
            </a:r>
          </a:p>
          <a:p/>
          <a:p>
            <a:r>
              <a:t>Face-to-face encounter and written order prior to delivery</a:t>
            </a:r>
          </a:p>
          <a:p/>
          <a:p>
            <a:r>
              <a:t>The expansion effective October 28, 2026 adds E0466, E0467, and E0468 to the required face-to-face encounter and written-order-prior-to-delivery list. These codes describe noninvasive and specified multifunction/dual-function ventilator categories. The announcement is prospective at this package's September 19, 2026 reference date. [R22]</a:t>
            </a:r>
          </a:p>
          <a:p/>
          <a:p>
            <a:r>
              <a:t>The general rule includes the required encounter during the applicable period before the order and the supplier's receipt of a qualifying written order before delivery. This is distinct from a payer prior-authorization requirement. An item being on one list does not itself establish that it is on the other. [R21] [R22]</a:t>
            </a:r>
          </a:p>
          <a:p/>
          <a:p>
            <a:r>
              <a:t>Local and plan variation</a:t>
            </a:r>
          </a:p>
          <a:p/>
          <a:p>
            <a:r>
              <a:t>Original Medicare, Medicare Advantage, Medicaid, and commercial plans are not interchangeable administrative pathways. Utah Medicaid describes use of applicable state policy and medical-necessity criteria, including InterQual or state-developed criteria in relevant circumstances. A national Medicare threshold table is not a verified Utah Medicaid authorization checklist. [R23]</a:t>
            </a:r>
          </a:p>
          <a:p/>
          <a:p>
            <a:r>
              <a:t>This package contains no verified current local supplier formulary, Intermountain order set, or contractual respiratory-therapist schedule. Its DME workflow is a general description of roles, not a claim about services supplied by a named company. [R19] [R23]</a:t>
            </a:r>
          </a:p>
          <a:p/>
          <a:p>
            <a:r>
              <a:t>Reference maintenance and evidence date</a:t>
            </a:r>
          </a:p>
          <a:p/>
          <a:p>
            <a:r>
              <a:t>The national COPD document was reread with its current revision history. Its effective date remains June 9, 2025, with subsequent technical and claims-processing changes described in 2026. The distinction between policy effective date, implementation date, and a new documentation requirement's start date is maintained throughout the materials. [R16] [R22]</a:t>
            </a:r>
          </a:p>
          <a:p/>
          <a:p>
            <a:r>
              <a:t>The reference list records whether the underlying material was a supplied full article, official policy, primary abstract, institutional history, or published book excerpt. Historical summaries and professional-society recommendations are not presented as if they were the operative coverage policy. The current web documents can change after the dated snapshot represented by this package.</a:t>
            </a:r>
          </a:p>
          <a:p/>
          <a:p>
            <a:r>
              <a:t>REFERENCES</a:t>
            </a:r>
          </a:p>
          <a:p>
            <a:r>
              <a:t>R16: CMS. NCD 240.9: Noninvasive Positive Pressure Ventilation in the Home for Chronic Respiratory Failure Consequent to COPD. Version effective June 9, 2025.</a:t>
            </a:r>
          </a:p>
          <a:p>
            <a:r>
              <a:t>https://www.cms.gov/medicare-coverage-database/view/ncd.aspx?ncdid=380&amp;ncdver=1</a:t>
            </a:r>
          </a:p>
          <a:p/>
          <a:p>
            <a:r>
              <a:t>R19: DME MACs. Article A55426: Standard Documentation Requirements for All Claims Submitted to DME MACs.</a:t>
            </a:r>
          </a:p>
          <a:p>
            <a:r>
              <a:t>https://www.cms.gov/medicare-coverage-database/view/article.aspx?articleid=55426</a:t>
            </a:r>
          </a:p>
          <a:p/>
          <a:p>
            <a:r>
              <a:t>R21: CMS. DMEPOS Written Order, Face-to-Face Encounter, and Written Order Prior to Delivery Requirements.</a:t>
            </a:r>
          </a:p>
          <a:p>
            <a:r>
              <a:t>https://www.cms.gov/data-research/monitoring-programs/medicare-fee-service-compliance-programs/medical-review-and-education/dmepos-order-requirements</a:t>
            </a:r>
          </a:p>
          <a:p/>
          <a:p>
            <a:r>
              <a:t>R22: CGS. New Codes Added to Required Face-to-Face and Written Order Prior To Delivery List – Effective October 28, 2026. September 10, 2026.</a:t>
            </a:r>
          </a:p>
          <a:p>
            <a:r>
              <a:t>https://www.cgsmedicare.com/jc/pubs/news/2026/09/news-210620.html</a:t>
            </a:r>
          </a:p>
          <a:p/>
          <a:p>
            <a:r>
              <a:t>R23: Utah Medicaid. Utah Medicaid Criteria.</a:t>
            </a:r>
          </a:p>
          <a:p>
            <a:r>
              <a:t>https://medicaid.utah.gov/utah-medicaid-criteria/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3" name="TextBox 2"/>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Hind et al. 2017 [R05] · 71 FR 4518–4525 (2006) [R13] · R16</a:t>
            </a:r>
          </a:p>
        </p:txBody>
      </p:sp>
      <p:sp>
        <p:nvSpPr>
          <p:cNvPr id="4" name="TextBox 3"/>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S01</a:t>
            </a:r>
          </a:p>
        </p:txBody>
      </p:sp>
      <p:sp>
        <p:nvSpPr>
          <p:cNvPr id="5" name="TextBox 4"/>
          <p:cNvSpPr txBox="1"/>
          <p:nvPr/>
        </p:nvSpPr>
        <p:spPr>
          <a:xfrm>
            <a:off x="585216" y="512064"/>
            <a:ext cx="9144000" cy="256032"/>
          </a:xfrm>
          <a:prstGeom prst="rect">
            <a:avLst/>
          </a:prstGeom>
          <a:noFill/>
        </p:spPr>
        <p:txBody>
          <a:bodyPr wrap="square" lIns="0" rIns="0" tIns="0" bIns="0" anchor="t">
            <a:spAutoFit/>
          </a:bodyPr>
          <a:lstStyle/>
          <a:p>
            <a:pPr algn="l">
              <a:lnSpc>
                <a:spcPct val="106000"/>
              </a:lnSpc>
              <a:spcBef>
                <a:spcPts val="0"/>
              </a:spcBef>
              <a:spcAft>
                <a:spcPts val="0"/>
              </a:spcAft>
              <a:defRPr sz="1300" b="1" i="0">
                <a:solidFill>
                  <a:srgbClr val="1C6970"/>
                </a:solidFill>
                <a:latin typeface="Calibri"/>
              </a:defRPr>
            </a:pPr>
            <a:r>
              <a:t>PULMONARY &amp; CRITICAL CARE FELLOWS</a:t>
            </a:r>
          </a:p>
        </p:txBody>
      </p:sp>
      <p:sp>
        <p:nvSpPr>
          <p:cNvPr id="6" name="TextBox 5"/>
          <p:cNvSpPr txBox="1"/>
          <p:nvPr/>
        </p:nvSpPr>
        <p:spPr>
          <a:xfrm>
            <a:off x="585216" y="1307592"/>
            <a:ext cx="11021567" cy="960120"/>
          </a:xfrm>
          <a:prstGeom prst="rect">
            <a:avLst/>
          </a:prstGeom>
          <a:noFill/>
        </p:spPr>
        <p:txBody>
          <a:bodyPr wrap="square" lIns="0" rIns="0" tIns="0" bIns="0" anchor="t">
            <a:spAutoFit/>
          </a:bodyPr>
          <a:lstStyle/>
          <a:p>
            <a:pPr algn="l">
              <a:lnSpc>
                <a:spcPct val="106000"/>
              </a:lnSpc>
              <a:spcBef>
                <a:spcPts val="0"/>
              </a:spcBef>
              <a:spcAft>
                <a:spcPts val="0"/>
              </a:spcAft>
              <a:defRPr sz="5300" b="1" i="0">
                <a:solidFill>
                  <a:srgbClr val="172326"/>
                </a:solidFill>
                <a:latin typeface="Calibri"/>
              </a:defRPr>
            </a:pPr>
            <a:r>
              <a:t>PAP, RADs, HMVs</a:t>
            </a:r>
          </a:p>
        </p:txBody>
      </p:sp>
      <p:sp>
        <p:nvSpPr>
          <p:cNvPr id="7" name="TextBox 6"/>
          <p:cNvSpPr txBox="1"/>
          <p:nvPr/>
        </p:nvSpPr>
        <p:spPr>
          <a:xfrm>
            <a:off x="585216" y="2404872"/>
            <a:ext cx="9326880" cy="777240"/>
          </a:xfrm>
          <a:prstGeom prst="rect">
            <a:avLst/>
          </a:prstGeom>
          <a:noFill/>
        </p:spPr>
        <p:txBody>
          <a:bodyPr wrap="square" lIns="0" rIns="0" tIns="0" bIns="0" anchor="t">
            <a:spAutoFit/>
          </a:bodyPr>
          <a:lstStyle/>
          <a:p>
            <a:pPr algn="l">
              <a:lnSpc>
                <a:spcPct val="106000"/>
              </a:lnSpc>
              <a:spcBef>
                <a:spcPts val="0"/>
              </a:spcBef>
              <a:spcAft>
                <a:spcPts val="0"/>
              </a:spcAft>
              <a:defRPr sz="2900" b="0" i="0">
                <a:solidFill>
                  <a:srgbClr val="253438"/>
                </a:solidFill>
                <a:latin typeface="Calibri"/>
              </a:defRPr>
            </a:pPr>
            <a:r>
              <a:t>Three development pathways and the current landscape</a:t>
            </a:r>
          </a:p>
        </p:txBody>
      </p:sp>
      <p:cxnSp>
        <p:nvCxnSpPr>
          <p:cNvPr id="8" name="Connector 7"/>
          <p:cNvCxnSpPr/>
          <p:nvPr/>
        </p:nvCxnSpPr>
        <p:spPr>
          <a:xfrm>
            <a:off x="585216" y="3337560"/>
            <a:ext cx="3346704" cy="0"/>
          </a:xfrm>
          <a:prstGeom prst="line">
            <a:avLst/>
          </a:prstGeom>
          <a:ln w="38100">
            <a:solidFill>
              <a:srgbClr val="1C6970"/>
            </a:solidFill>
          </a:ln>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85216" y="3657600"/>
            <a:ext cx="5486400" cy="475488"/>
          </a:xfrm>
          <a:prstGeom prst="rect">
            <a:avLst/>
          </a:prstGeom>
          <a:noFill/>
        </p:spPr>
        <p:txBody>
          <a:bodyPr wrap="square" lIns="0" rIns="0" tIns="0" bIns="0" anchor="t">
            <a:spAutoFit/>
          </a:bodyPr>
          <a:lstStyle/>
          <a:p>
            <a:pPr algn="l">
              <a:lnSpc>
                <a:spcPct val="106000"/>
              </a:lnSpc>
              <a:spcBef>
                <a:spcPts val="0"/>
              </a:spcBef>
              <a:spcAft>
                <a:spcPts val="0"/>
              </a:spcAft>
              <a:defRPr sz="2500" b="1" i="0">
                <a:solidFill>
                  <a:srgbClr val="253438"/>
                </a:solidFill>
                <a:latin typeface="Calibri"/>
              </a:defRPr>
            </a:pPr>
            <a:r>
              <a:t>Brian W. Locke</a:t>
            </a:r>
          </a:p>
        </p:txBody>
      </p:sp>
      <p:sp>
        <p:nvSpPr>
          <p:cNvPr id="10" name="TextBox 9"/>
          <p:cNvSpPr txBox="1"/>
          <p:nvPr/>
        </p:nvSpPr>
        <p:spPr>
          <a:xfrm>
            <a:off x="585216" y="4489704"/>
            <a:ext cx="2618231" cy="329184"/>
          </a:xfrm>
          <a:prstGeom prst="rect">
            <a:avLst/>
          </a:prstGeom>
          <a:noFill/>
        </p:spPr>
        <p:txBody>
          <a:bodyPr wrap="square" lIns="0" rIns="0" tIns="0" bIns="0" anchor="t">
            <a:spAutoFit/>
          </a:bodyPr>
          <a:lstStyle/>
          <a:p>
            <a:pPr algn="l">
              <a:lnSpc>
                <a:spcPct val="106000"/>
              </a:lnSpc>
              <a:spcBef>
                <a:spcPts val="0"/>
              </a:spcBef>
              <a:spcAft>
                <a:spcPts val="0"/>
              </a:spcAft>
              <a:defRPr sz="1600" b="1" i="0">
                <a:solidFill>
                  <a:srgbClr val="1C6970"/>
                </a:solidFill>
                <a:latin typeface="Calibri"/>
              </a:defRPr>
            </a:pPr>
            <a:r>
              <a:t>01</a:t>
            </a:r>
          </a:p>
        </p:txBody>
      </p:sp>
      <p:sp>
        <p:nvSpPr>
          <p:cNvPr id="11" name="TextBox 10"/>
          <p:cNvSpPr txBox="1"/>
          <p:nvPr/>
        </p:nvSpPr>
        <p:spPr>
          <a:xfrm>
            <a:off x="585216" y="4882896"/>
            <a:ext cx="2618231" cy="914400"/>
          </a:xfrm>
          <a:prstGeom prst="rect">
            <a:avLst/>
          </a:prstGeom>
          <a:noFill/>
        </p:spPr>
        <p:txBody>
          <a:bodyPr wrap="square" lIns="0" rIns="0" tIns="0" bIns="0" anchor="t">
            <a:spAutoFit/>
          </a:bodyPr>
          <a:lstStyle/>
          <a:p>
            <a:pPr algn="l">
              <a:lnSpc>
                <a:spcPct val="106000"/>
              </a:lnSpc>
              <a:spcBef>
                <a:spcPts val="0"/>
              </a:spcBef>
              <a:spcAft>
                <a:spcPts val="0"/>
              </a:spcAft>
              <a:defRPr sz="2300" b="1" i="0">
                <a:solidFill>
                  <a:srgbClr val="172326"/>
                </a:solidFill>
                <a:latin typeface="Calibri"/>
              </a:defRPr>
            </a:pPr>
            <a:r>
              <a:t>Home mechanical</a:t>
            </a:r>
          </a:p>
          <a:p>
            <a:pPr algn="l">
              <a:lnSpc>
                <a:spcPct val="106000"/>
              </a:lnSpc>
              <a:spcBef>
                <a:spcPts val="0"/>
              </a:spcBef>
              <a:spcAft>
                <a:spcPts val="0"/>
              </a:spcAft>
              <a:defRPr sz="2300" b="1" i="0">
                <a:solidFill>
                  <a:srgbClr val="172326"/>
                </a:solidFill>
                <a:latin typeface="Calibri"/>
              </a:defRPr>
            </a:pPr>
            <a:r>
              <a:t>ventilation</a:t>
            </a:r>
          </a:p>
        </p:txBody>
      </p:sp>
      <p:sp>
        <p:nvSpPr>
          <p:cNvPr id="12" name="TextBox 11"/>
          <p:cNvSpPr txBox="1"/>
          <p:nvPr/>
        </p:nvSpPr>
        <p:spPr>
          <a:xfrm>
            <a:off x="3386327" y="4489704"/>
            <a:ext cx="2618231" cy="329184"/>
          </a:xfrm>
          <a:prstGeom prst="rect">
            <a:avLst/>
          </a:prstGeom>
          <a:noFill/>
        </p:spPr>
        <p:txBody>
          <a:bodyPr wrap="square" lIns="0" rIns="0" tIns="0" bIns="0" anchor="t">
            <a:spAutoFit/>
          </a:bodyPr>
          <a:lstStyle/>
          <a:p>
            <a:pPr algn="l">
              <a:lnSpc>
                <a:spcPct val="106000"/>
              </a:lnSpc>
              <a:spcBef>
                <a:spcPts val="0"/>
              </a:spcBef>
              <a:spcAft>
                <a:spcPts val="0"/>
              </a:spcAft>
              <a:defRPr sz="1600" b="1" i="0">
                <a:solidFill>
                  <a:srgbClr val="1C6970"/>
                </a:solidFill>
                <a:latin typeface="Calibri"/>
              </a:defRPr>
            </a:pPr>
            <a:r>
              <a:t>02</a:t>
            </a:r>
          </a:p>
        </p:txBody>
      </p:sp>
      <p:sp>
        <p:nvSpPr>
          <p:cNvPr id="13" name="TextBox 12"/>
          <p:cNvSpPr txBox="1"/>
          <p:nvPr/>
        </p:nvSpPr>
        <p:spPr>
          <a:xfrm>
            <a:off x="3386327" y="4882896"/>
            <a:ext cx="2618231" cy="914400"/>
          </a:xfrm>
          <a:prstGeom prst="rect">
            <a:avLst/>
          </a:prstGeom>
          <a:noFill/>
        </p:spPr>
        <p:txBody>
          <a:bodyPr wrap="square" lIns="0" rIns="0" tIns="0" bIns="0" anchor="t">
            <a:spAutoFit/>
          </a:bodyPr>
          <a:lstStyle/>
          <a:p>
            <a:pPr algn="l">
              <a:lnSpc>
                <a:spcPct val="106000"/>
              </a:lnSpc>
              <a:spcBef>
                <a:spcPts val="0"/>
              </a:spcBef>
              <a:spcAft>
                <a:spcPts val="0"/>
              </a:spcAft>
              <a:defRPr sz="2300" b="1" i="0">
                <a:solidFill>
                  <a:srgbClr val="172326"/>
                </a:solidFill>
                <a:latin typeface="Calibri"/>
              </a:defRPr>
            </a:pPr>
            <a:r>
              <a:t>Sleep apnea and</a:t>
            </a:r>
          </a:p>
          <a:p>
            <a:pPr algn="l">
              <a:lnSpc>
                <a:spcPct val="106000"/>
              </a:lnSpc>
              <a:spcBef>
                <a:spcPts val="0"/>
              </a:spcBef>
              <a:spcAft>
                <a:spcPts val="0"/>
              </a:spcAft>
              <a:defRPr sz="2300" b="1" i="0">
                <a:solidFill>
                  <a:srgbClr val="172326"/>
                </a:solidFill>
                <a:latin typeface="Calibri"/>
              </a:defRPr>
            </a:pPr>
            <a:r>
              <a:t>PAP</a:t>
            </a:r>
          </a:p>
        </p:txBody>
      </p:sp>
      <p:sp>
        <p:nvSpPr>
          <p:cNvPr id="14" name="TextBox 13"/>
          <p:cNvSpPr txBox="1"/>
          <p:nvPr/>
        </p:nvSpPr>
        <p:spPr>
          <a:xfrm>
            <a:off x="6187439" y="4489704"/>
            <a:ext cx="2618231" cy="329184"/>
          </a:xfrm>
          <a:prstGeom prst="rect">
            <a:avLst/>
          </a:prstGeom>
          <a:noFill/>
        </p:spPr>
        <p:txBody>
          <a:bodyPr wrap="square" lIns="0" rIns="0" tIns="0" bIns="0" anchor="t">
            <a:spAutoFit/>
          </a:bodyPr>
          <a:lstStyle/>
          <a:p>
            <a:pPr algn="l">
              <a:lnSpc>
                <a:spcPct val="106000"/>
              </a:lnSpc>
              <a:spcBef>
                <a:spcPts val="0"/>
              </a:spcBef>
              <a:spcAft>
                <a:spcPts val="0"/>
              </a:spcAft>
              <a:defRPr sz="1600" b="1" i="0">
                <a:solidFill>
                  <a:srgbClr val="1C6970"/>
                </a:solidFill>
                <a:latin typeface="Calibri"/>
              </a:defRPr>
            </a:pPr>
            <a:r>
              <a:t>03</a:t>
            </a:r>
          </a:p>
        </p:txBody>
      </p:sp>
      <p:sp>
        <p:nvSpPr>
          <p:cNvPr id="15" name="TextBox 14"/>
          <p:cNvSpPr txBox="1"/>
          <p:nvPr/>
        </p:nvSpPr>
        <p:spPr>
          <a:xfrm>
            <a:off x="6187439" y="4882896"/>
            <a:ext cx="2618231" cy="914400"/>
          </a:xfrm>
          <a:prstGeom prst="rect">
            <a:avLst/>
          </a:prstGeom>
          <a:noFill/>
        </p:spPr>
        <p:txBody>
          <a:bodyPr wrap="square" lIns="0" rIns="0" tIns="0" bIns="0" anchor="t">
            <a:spAutoFit/>
          </a:bodyPr>
          <a:lstStyle/>
          <a:p>
            <a:pPr algn="l">
              <a:lnSpc>
                <a:spcPct val="106000"/>
              </a:lnSpc>
              <a:spcBef>
                <a:spcPts val="0"/>
              </a:spcBef>
              <a:spcAft>
                <a:spcPts val="0"/>
              </a:spcAft>
              <a:defRPr sz="2300" b="1" i="0">
                <a:solidFill>
                  <a:srgbClr val="172326"/>
                </a:solidFill>
                <a:latin typeface="Calibri"/>
              </a:defRPr>
            </a:pPr>
            <a:r>
              <a:t>Respiratory assist</a:t>
            </a:r>
          </a:p>
          <a:p>
            <a:pPr algn="l">
              <a:lnSpc>
                <a:spcPct val="106000"/>
              </a:lnSpc>
              <a:spcBef>
                <a:spcPts val="0"/>
              </a:spcBef>
              <a:spcAft>
                <a:spcPts val="0"/>
              </a:spcAft>
              <a:defRPr sz="2300" b="1" i="0">
                <a:solidFill>
                  <a:srgbClr val="172326"/>
                </a:solidFill>
                <a:latin typeface="Calibri"/>
              </a:defRPr>
            </a:pPr>
            <a:r>
              <a:t>devices</a:t>
            </a:r>
          </a:p>
        </p:txBody>
      </p:sp>
      <p:sp>
        <p:nvSpPr>
          <p:cNvPr id="16" name="TextBox 15"/>
          <p:cNvSpPr txBox="1"/>
          <p:nvPr/>
        </p:nvSpPr>
        <p:spPr>
          <a:xfrm>
            <a:off x="8988551" y="4489704"/>
            <a:ext cx="2618231" cy="329184"/>
          </a:xfrm>
          <a:prstGeom prst="rect">
            <a:avLst/>
          </a:prstGeom>
          <a:noFill/>
        </p:spPr>
        <p:txBody>
          <a:bodyPr wrap="square" lIns="0" rIns="0" tIns="0" bIns="0" anchor="t">
            <a:spAutoFit/>
          </a:bodyPr>
          <a:lstStyle/>
          <a:p>
            <a:pPr algn="l">
              <a:lnSpc>
                <a:spcPct val="106000"/>
              </a:lnSpc>
              <a:spcBef>
                <a:spcPts val="0"/>
              </a:spcBef>
              <a:spcAft>
                <a:spcPts val="0"/>
              </a:spcAft>
              <a:defRPr sz="1600" b="1" i="0">
                <a:solidFill>
                  <a:srgbClr val="1C6970"/>
                </a:solidFill>
                <a:latin typeface="Calibri"/>
              </a:defRPr>
            </a:pPr>
            <a:r>
              <a:t>04</a:t>
            </a:r>
          </a:p>
        </p:txBody>
      </p:sp>
      <p:sp>
        <p:nvSpPr>
          <p:cNvPr id="17" name="TextBox 16"/>
          <p:cNvSpPr txBox="1"/>
          <p:nvPr/>
        </p:nvSpPr>
        <p:spPr>
          <a:xfrm>
            <a:off x="8988551" y="4882896"/>
            <a:ext cx="2618231" cy="914400"/>
          </a:xfrm>
          <a:prstGeom prst="rect">
            <a:avLst/>
          </a:prstGeom>
          <a:noFill/>
        </p:spPr>
        <p:txBody>
          <a:bodyPr wrap="square" lIns="0" rIns="0" tIns="0" bIns="0" anchor="t">
            <a:spAutoFit/>
          </a:bodyPr>
          <a:lstStyle/>
          <a:p>
            <a:pPr algn="l">
              <a:lnSpc>
                <a:spcPct val="106000"/>
              </a:lnSpc>
              <a:spcBef>
                <a:spcPts val="0"/>
              </a:spcBef>
              <a:spcAft>
                <a:spcPts val="0"/>
              </a:spcAft>
              <a:defRPr sz="2300" b="1" i="0">
                <a:solidFill>
                  <a:srgbClr val="172326"/>
                </a:solidFill>
                <a:latin typeface="Calibri"/>
              </a:defRPr>
            </a:pPr>
            <a:r>
              <a:t>Current uses and</a:t>
            </a:r>
          </a:p>
          <a:p>
            <a:pPr algn="l">
              <a:lnSpc>
                <a:spcPct val="106000"/>
              </a:lnSpc>
              <a:spcBef>
                <a:spcPts val="0"/>
              </a:spcBef>
              <a:spcAft>
                <a:spcPts val="0"/>
              </a:spcAft>
              <a:defRPr sz="2300" b="1" i="0">
                <a:solidFill>
                  <a:srgbClr val="172326"/>
                </a:solidFill>
                <a:latin typeface="Calibri"/>
              </a:defRPr>
            </a:pPr>
            <a:r>
              <a:t>coverage</a:t>
            </a:r>
          </a:p>
        </p:txBody>
      </p:sp>
      <p:sp>
        <p:nvSpPr>
          <p:cNvPr id="18" name="TextBox 17"/>
          <p:cNvSpPr txBox="1"/>
          <p:nvPr/>
        </p:nvSpPr>
        <p:spPr>
          <a:xfrm>
            <a:off x="585216" y="6044184"/>
            <a:ext cx="9144000" cy="201168"/>
          </a:xfrm>
          <a:prstGeom prst="rect">
            <a:avLst/>
          </a:prstGeom>
          <a:noFill/>
        </p:spPr>
        <p:txBody>
          <a:bodyPr wrap="square" lIns="0" rIns="0" tIns="0" bIns="0" anchor="t">
            <a:spAutoFit/>
          </a:bodyPr>
          <a:lstStyle/>
          <a:p>
            <a:pPr algn="l">
              <a:lnSpc>
                <a:spcPct val="106000"/>
              </a:lnSpc>
              <a:spcBef>
                <a:spcPts val="0"/>
              </a:spcBef>
              <a:spcAft>
                <a:spcPts val="0"/>
              </a:spcAft>
              <a:defRPr sz="1200" b="0" i="0">
                <a:solidFill>
                  <a:srgbClr val="596A70"/>
                </a:solidFill>
                <a:latin typeface="Calibri"/>
              </a:defRPr>
            </a:pPr>
            <a:r>
              <a:t>History-first revision · September 19,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 · HOME MECHANICAL VENTILATION</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Poliomyelitis and respiratory paralysis</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Hind et al. 2017 [R05] · Wunsch 2023, excerpt [R07] · R08</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S02</a:t>
            </a:r>
          </a:p>
        </p:txBody>
      </p:sp>
      <p:sp>
        <p:nvSpPr>
          <p:cNvPr id="12" name="TextBox 11"/>
          <p:cNvSpPr txBox="1"/>
          <p:nvPr/>
        </p:nvSpPr>
        <p:spPr>
          <a:xfrm>
            <a:off x="585216" y="1764792"/>
            <a:ext cx="4572000" cy="256032"/>
          </a:xfrm>
          <a:prstGeom prst="rect">
            <a:avLst/>
          </a:prstGeom>
          <a:noFill/>
        </p:spPr>
        <p:txBody>
          <a:bodyPr wrap="square" lIns="0" rIns="0" tIns="0" bIns="0" anchor="t">
            <a:spAutoFit/>
          </a:bodyPr>
          <a:lstStyle/>
          <a:p>
            <a:pPr algn="l">
              <a:lnSpc>
                <a:spcPct val="106000"/>
              </a:lnSpc>
              <a:spcBef>
                <a:spcPts val="0"/>
              </a:spcBef>
              <a:spcAft>
                <a:spcPts val="0"/>
              </a:spcAft>
              <a:defRPr sz="1600" b="1" i="0">
                <a:solidFill>
                  <a:srgbClr val="1C6970"/>
                </a:solidFill>
                <a:latin typeface="Calibri"/>
              </a:defRPr>
            </a:pPr>
            <a:r>
              <a:t>1920S–1950S</a:t>
            </a:r>
          </a:p>
        </p:txBody>
      </p:sp>
      <p:cxnSp>
        <p:nvCxnSpPr>
          <p:cNvPr id="13" name="Connector 12"/>
          <p:cNvCxnSpPr/>
          <p:nvPr/>
        </p:nvCxnSpPr>
        <p:spPr>
          <a:xfrm>
            <a:off x="585216" y="2395728"/>
            <a:ext cx="182880" cy="0"/>
          </a:xfrm>
          <a:prstGeom prst="line">
            <a:avLst/>
          </a:prstGeom>
          <a:ln w="25400">
            <a:solidFill>
              <a:srgbClr val="1C6970"/>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932688" y="2304288"/>
            <a:ext cx="4453128" cy="1033271"/>
          </a:xfrm>
          <a:prstGeom prst="rect">
            <a:avLst/>
          </a:prstGeom>
          <a:noFill/>
        </p:spPr>
        <p:txBody>
          <a:bodyPr wrap="square" lIns="0" rIns="0" tIns="0" bIns="0" anchor="t">
            <a:spAutoFit/>
          </a:bodyPr>
          <a:lstStyle/>
          <a:p>
            <a:pPr algn="l">
              <a:lnSpc>
                <a:spcPct val="106000"/>
              </a:lnSpc>
              <a:spcBef>
                <a:spcPts val="0"/>
              </a:spcBef>
              <a:spcAft>
                <a:spcPts val="0"/>
              </a:spcAft>
              <a:defRPr sz="2400" b="0" i="0">
                <a:solidFill>
                  <a:srgbClr val="253438"/>
                </a:solidFill>
                <a:latin typeface="Calibri"/>
              </a:defRPr>
            </a:pPr>
            <a:r>
              <a:t>Respiratory muscle paralysis</a:t>
            </a:r>
          </a:p>
        </p:txBody>
      </p:sp>
      <p:cxnSp>
        <p:nvCxnSpPr>
          <p:cNvPr id="15" name="Connector 14"/>
          <p:cNvCxnSpPr/>
          <p:nvPr/>
        </p:nvCxnSpPr>
        <p:spPr>
          <a:xfrm>
            <a:off x="585216" y="3465576"/>
            <a:ext cx="182880" cy="0"/>
          </a:xfrm>
          <a:prstGeom prst="line">
            <a:avLst/>
          </a:prstGeom>
          <a:ln w="25400">
            <a:solidFill>
              <a:srgbClr val="1C6970"/>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932688" y="3374136"/>
            <a:ext cx="4453128" cy="1033271"/>
          </a:xfrm>
          <a:prstGeom prst="rect">
            <a:avLst/>
          </a:prstGeom>
          <a:noFill/>
        </p:spPr>
        <p:txBody>
          <a:bodyPr wrap="square" lIns="0" rIns="0" tIns="0" bIns="0" anchor="t">
            <a:spAutoFit/>
          </a:bodyPr>
          <a:lstStyle/>
          <a:p>
            <a:pPr algn="l">
              <a:lnSpc>
                <a:spcPct val="106000"/>
              </a:lnSpc>
              <a:spcBef>
                <a:spcPts val="0"/>
              </a:spcBef>
              <a:spcAft>
                <a:spcPts val="0"/>
              </a:spcAft>
              <a:defRPr sz="2400" b="0" i="0">
                <a:solidFill>
                  <a:srgbClr val="253438"/>
                </a:solidFill>
                <a:latin typeface="Calibri"/>
              </a:defRPr>
            </a:pPr>
            <a:r>
              <a:t>Negative-pressure tank ventilation</a:t>
            </a:r>
          </a:p>
        </p:txBody>
      </p:sp>
      <p:cxnSp>
        <p:nvCxnSpPr>
          <p:cNvPr id="17" name="Connector 16"/>
          <p:cNvCxnSpPr/>
          <p:nvPr/>
        </p:nvCxnSpPr>
        <p:spPr>
          <a:xfrm>
            <a:off x="585216" y="4535424"/>
            <a:ext cx="182880" cy="0"/>
          </a:xfrm>
          <a:prstGeom prst="line">
            <a:avLst/>
          </a:prstGeom>
          <a:ln w="25400">
            <a:solidFill>
              <a:srgbClr val="1C6970"/>
            </a:solidFill>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932688" y="4443983"/>
            <a:ext cx="4453128" cy="1033271"/>
          </a:xfrm>
          <a:prstGeom prst="rect">
            <a:avLst/>
          </a:prstGeom>
          <a:noFill/>
        </p:spPr>
        <p:txBody>
          <a:bodyPr wrap="square" lIns="0" rIns="0" tIns="0" bIns="0" anchor="t">
            <a:spAutoFit/>
          </a:bodyPr>
          <a:lstStyle/>
          <a:p>
            <a:pPr algn="l">
              <a:lnSpc>
                <a:spcPct val="106000"/>
              </a:lnSpc>
              <a:spcBef>
                <a:spcPts val="0"/>
              </a:spcBef>
              <a:spcAft>
                <a:spcPts val="0"/>
              </a:spcAft>
              <a:defRPr sz="2400" b="0" i="0">
                <a:solidFill>
                  <a:srgbClr val="253438"/>
                </a:solidFill>
                <a:latin typeface="Calibri"/>
              </a:defRPr>
            </a:pPr>
            <a:r>
              <a:t>1952 Copenhagen: tracheotomy</a:t>
            </a:r>
          </a:p>
          <a:p>
            <a:pPr algn="l">
              <a:lnSpc>
                <a:spcPct val="106000"/>
              </a:lnSpc>
              <a:spcBef>
                <a:spcPts val="0"/>
              </a:spcBef>
              <a:spcAft>
                <a:spcPts val="0"/>
              </a:spcAft>
              <a:defRPr sz="2400" b="0" i="0">
                <a:solidFill>
                  <a:srgbClr val="253438"/>
                </a:solidFill>
                <a:latin typeface="Calibri"/>
              </a:defRPr>
            </a:pPr>
            <a:r>
              <a:t>and prolonged positive-pressure</a:t>
            </a:r>
          </a:p>
          <a:p>
            <a:pPr algn="l">
              <a:lnSpc>
                <a:spcPct val="106000"/>
              </a:lnSpc>
              <a:spcBef>
                <a:spcPts val="0"/>
              </a:spcBef>
              <a:spcAft>
                <a:spcPts val="0"/>
              </a:spcAft>
              <a:defRPr sz="2400" b="0" i="0">
                <a:solidFill>
                  <a:srgbClr val="253438"/>
                </a:solidFill>
                <a:latin typeface="Calibri"/>
              </a:defRPr>
            </a:pPr>
            <a:r>
              <a:t>support</a:t>
            </a:r>
          </a:p>
        </p:txBody>
      </p:sp>
      <p:pic>
        <p:nvPicPr>
          <p:cNvPr id="19" name="Picture 18" descr="iron_lung_hind2017.jpeg"/>
          <p:cNvPicPr>
            <a:picLocks noChangeAspect="1"/>
          </p:cNvPicPr>
          <p:nvPr/>
        </p:nvPicPr>
        <p:blipFill>
          <a:blip r:embed="rId3"/>
          <a:stretch>
            <a:fillRect/>
          </a:stretch>
        </p:blipFill>
        <p:spPr>
          <a:xfrm>
            <a:off x="5669280" y="1792224"/>
            <a:ext cx="5907024" cy="4186359"/>
          </a:xfrm>
          <a:prstGeom prst="rect">
            <a:avLst/>
          </a:prstGeom>
        </p:spPr>
      </p:pic>
      <p:sp>
        <p:nvSpPr>
          <p:cNvPr id="20" name="TextBox 19"/>
          <p:cNvSpPr txBox="1"/>
          <p:nvPr/>
        </p:nvSpPr>
        <p:spPr>
          <a:xfrm>
            <a:off x="5669280" y="6016752"/>
            <a:ext cx="5897880" cy="219456"/>
          </a:xfrm>
          <a:prstGeom prst="rect">
            <a:avLst/>
          </a:prstGeom>
          <a:noFill/>
        </p:spPr>
        <p:txBody>
          <a:bodyPr wrap="square" lIns="0" rIns="0" tIns="0" bIns="0" anchor="t">
            <a:spAutoFit/>
          </a:bodyPr>
          <a:lstStyle/>
          <a:p>
            <a:pPr algn="l">
              <a:lnSpc>
                <a:spcPct val="106000"/>
              </a:lnSpc>
              <a:spcBef>
                <a:spcPts val="0"/>
              </a:spcBef>
              <a:spcAft>
                <a:spcPts val="0"/>
              </a:spcAft>
              <a:defRPr sz="1000" b="0" i="0">
                <a:solidFill>
                  <a:srgbClr val="596A70"/>
                </a:solidFill>
                <a:latin typeface="Calibri"/>
              </a:defRPr>
            </a:pPr>
            <a:r>
              <a:t>Illustrative iron lung. Date and location unspecified. Hind et al., 2017, Fig. 1.</a:t>
            </a:r>
          </a:p>
        </p:txBody>
      </p:sp>
      <p:sp>
        <p:nvSpPr>
          <p:cNvPr id="21" name="TextBox 20"/>
          <p:cNvSpPr txBox="1"/>
          <p:nvPr/>
        </p:nvSpPr>
        <p:spPr>
          <a:xfrm>
            <a:off x="585216" y="5696712"/>
            <a:ext cx="4983480" cy="320040"/>
          </a:xfrm>
          <a:prstGeom prst="rect">
            <a:avLst/>
          </a:prstGeom>
          <a:noFill/>
        </p:spPr>
        <p:txBody>
          <a:bodyPr wrap="square" lIns="0" rIns="0" tIns="0" bIns="0" anchor="t">
            <a:spAutoFit/>
          </a:bodyPr>
          <a:lstStyle/>
          <a:p>
            <a:pPr algn="l">
              <a:lnSpc>
                <a:spcPct val="106000"/>
              </a:lnSpc>
              <a:spcBef>
                <a:spcPts val="0"/>
              </a:spcBef>
              <a:spcAft>
                <a:spcPts val="0"/>
              </a:spcAft>
              <a:defRPr sz="1600" b="0" i="0">
                <a:solidFill>
                  <a:srgbClr val="596A70"/>
                </a:solidFill>
                <a:latin typeface="Calibri"/>
              </a:defRPr>
            </a:pPr>
            <a:r>
              <a:t>The Autumn Ghost · Hannah Wunsch, 2023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 · HOME MECHANICAL VENTILATION</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Long-term ventilation outside hospital</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King 2012 [R06] · March of Dimes [R09] · R05, R49</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S03</a:t>
            </a:r>
          </a:p>
        </p:txBody>
      </p:sp>
      <p:sp>
        <p:nvSpPr>
          <p:cNvPr id="12" name="TextBox 11"/>
          <p:cNvSpPr txBox="1"/>
          <p:nvPr/>
        </p:nvSpPr>
        <p:spPr>
          <a:xfrm>
            <a:off x="585216" y="1636776"/>
            <a:ext cx="11021567" cy="201168"/>
          </a:xfrm>
          <a:prstGeom prst="rect">
            <a:avLst/>
          </a:prstGeom>
          <a:noFill/>
        </p:spPr>
        <p:txBody>
          <a:bodyPr wrap="square" lIns="0" rIns="0" tIns="0" bIns="0" anchor="t">
            <a:spAutoFit/>
          </a:bodyPr>
          <a:lstStyle/>
          <a:p>
            <a:pPr algn="l">
              <a:lnSpc>
                <a:spcPct val="106000"/>
              </a:lnSpc>
              <a:spcBef>
                <a:spcPts val="0"/>
              </a:spcBef>
              <a:spcAft>
                <a:spcPts val="0"/>
              </a:spcAft>
              <a:defRPr sz="1100" b="0" i="0">
                <a:solidFill>
                  <a:srgbClr val="596A70"/>
                </a:solidFill>
                <a:latin typeface="Calibri"/>
              </a:defRPr>
            </a:pPr>
            <a:r>
              <a:t>Selected milestones · not to scale</a:t>
            </a:r>
          </a:p>
        </p:txBody>
      </p:sp>
      <p:cxnSp>
        <p:nvCxnSpPr>
          <p:cNvPr id="13" name="Connector 12"/>
          <p:cNvCxnSpPr/>
          <p:nvPr/>
        </p:nvCxnSpPr>
        <p:spPr>
          <a:xfrm>
            <a:off x="813816" y="2587752"/>
            <a:ext cx="10564367" cy="0"/>
          </a:xfrm>
          <a:prstGeom prst="line">
            <a:avLst/>
          </a:prstGeom>
          <a:ln w="22860">
            <a:solidFill>
              <a:srgbClr val="CBD5D8"/>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85216" y="1929384"/>
            <a:ext cx="2604515" cy="502920"/>
          </a:xfrm>
          <a:prstGeom prst="rect">
            <a:avLst/>
          </a:prstGeom>
          <a:noFill/>
        </p:spPr>
        <p:txBody>
          <a:bodyPr wrap="square" lIns="0" rIns="0" tIns="0" bIns="0" anchor="t">
            <a:spAutoFit/>
          </a:bodyPr>
          <a:lstStyle/>
          <a:p>
            <a:pPr algn="l">
              <a:lnSpc>
                <a:spcPct val="106000"/>
              </a:lnSpc>
              <a:spcBef>
                <a:spcPts val="0"/>
              </a:spcBef>
              <a:spcAft>
                <a:spcPts val="0"/>
              </a:spcAft>
              <a:defRPr sz="2500" b="1" i="0">
                <a:solidFill>
                  <a:srgbClr val="1C6970"/>
                </a:solidFill>
                <a:latin typeface="Calibri"/>
              </a:defRPr>
            </a:pPr>
            <a:r>
              <a:t>1946</a:t>
            </a:r>
          </a:p>
        </p:txBody>
      </p:sp>
      <p:sp>
        <p:nvSpPr>
          <p:cNvPr id="15" name="Oval 14"/>
          <p:cNvSpPr/>
          <p:nvPr/>
        </p:nvSpPr>
        <p:spPr>
          <a:xfrm>
            <a:off x="617220" y="2528316"/>
            <a:ext cx="118872" cy="118872"/>
          </a:xfrm>
          <a:prstGeom prst="ellipse">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85216" y="2953512"/>
            <a:ext cx="2558795" cy="950976"/>
          </a:xfrm>
          <a:prstGeom prst="rect">
            <a:avLst/>
          </a:prstGeom>
          <a:noFill/>
        </p:spPr>
        <p:txBody>
          <a:bodyPr wrap="square" lIns="0" rIns="0" tIns="0" bIns="0" anchor="t">
            <a:spAutoFit/>
          </a:bodyPr>
          <a:lstStyle/>
          <a:p>
            <a:pPr algn="l">
              <a:lnSpc>
                <a:spcPct val="106000"/>
              </a:lnSpc>
              <a:spcBef>
                <a:spcPts val="0"/>
              </a:spcBef>
              <a:spcAft>
                <a:spcPts val="0"/>
              </a:spcAft>
              <a:defRPr sz="2400" b="1" i="0">
                <a:solidFill>
                  <a:srgbClr val="172326"/>
                </a:solidFill>
                <a:latin typeface="Calibri"/>
              </a:defRPr>
            </a:pPr>
            <a:r>
              <a:t>March of Dimes</a:t>
            </a:r>
          </a:p>
        </p:txBody>
      </p:sp>
      <p:sp>
        <p:nvSpPr>
          <p:cNvPr id="17" name="TextBox 16"/>
          <p:cNvSpPr txBox="1"/>
          <p:nvPr/>
        </p:nvSpPr>
        <p:spPr>
          <a:xfrm>
            <a:off x="585216" y="4041648"/>
            <a:ext cx="2531363" cy="1261872"/>
          </a:xfrm>
          <a:prstGeom prst="rect">
            <a:avLst/>
          </a:prstGeom>
          <a:noFill/>
        </p:spPr>
        <p:txBody>
          <a:bodyPr wrap="square" lIns="0" rIns="0" tIns="0" bIns="0" anchor="t">
            <a:spAutoFit/>
          </a:bodyPr>
          <a:lstStyle/>
          <a:p>
            <a:pPr algn="l">
              <a:lnSpc>
                <a:spcPct val="106000"/>
              </a:lnSpc>
              <a:spcBef>
                <a:spcPts val="0"/>
              </a:spcBef>
              <a:spcAft>
                <a:spcPts val="0"/>
              </a:spcAft>
              <a:defRPr sz="2250" b="0" i="0">
                <a:solidFill>
                  <a:srgbClr val="253438"/>
                </a:solidFill>
                <a:latin typeface="Calibri"/>
              </a:defRPr>
            </a:pPr>
            <a:r>
              <a:t>Thousands of iron</a:t>
            </a:r>
          </a:p>
          <a:p>
            <a:pPr algn="l">
              <a:lnSpc>
                <a:spcPct val="106000"/>
              </a:lnSpc>
              <a:spcBef>
                <a:spcPts val="0"/>
              </a:spcBef>
              <a:spcAft>
                <a:spcPts val="0"/>
              </a:spcAft>
              <a:defRPr sz="2250" b="0" i="0">
                <a:solidFill>
                  <a:srgbClr val="253438"/>
                </a:solidFill>
                <a:latin typeface="Calibri"/>
              </a:defRPr>
            </a:pPr>
            <a:r>
              <a:t>lungs funded and</a:t>
            </a:r>
          </a:p>
          <a:p>
            <a:pPr algn="l">
              <a:lnSpc>
                <a:spcPct val="106000"/>
              </a:lnSpc>
              <a:spcBef>
                <a:spcPts val="0"/>
              </a:spcBef>
              <a:spcAft>
                <a:spcPts val="0"/>
              </a:spcAft>
              <a:defRPr sz="2250" b="0" i="0">
                <a:solidFill>
                  <a:srgbClr val="253438"/>
                </a:solidFill>
                <a:latin typeface="Calibri"/>
              </a:defRPr>
            </a:pPr>
            <a:r>
              <a:t>transported</a:t>
            </a:r>
          </a:p>
        </p:txBody>
      </p:sp>
      <p:sp>
        <p:nvSpPr>
          <p:cNvPr id="18" name="TextBox 17"/>
          <p:cNvSpPr txBox="1"/>
          <p:nvPr/>
        </p:nvSpPr>
        <p:spPr>
          <a:xfrm>
            <a:off x="3390899" y="1929384"/>
            <a:ext cx="2604515" cy="502920"/>
          </a:xfrm>
          <a:prstGeom prst="rect">
            <a:avLst/>
          </a:prstGeom>
          <a:noFill/>
        </p:spPr>
        <p:txBody>
          <a:bodyPr wrap="square" lIns="0" rIns="0" tIns="0" bIns="0" anchor="t">
            <a:spAutoFit/>
          </a:bodyPr>
          <a:lstStyle/>
          <a:p>
            <a:pPr algn="l">
              <a:lnSpc>
                <a:spcPct val="106000"/>
              </a:lnSpc>
              <a:spcBef>
                <a:spcPts val="0"/>
              </a:spcBef>
              <a:spcAft>
                <a:spcPts val="0"/>
              </a:spcAft>
              <a:defRPr sz="2500" b="1" i="0">
                <a:solidFill>
                  <a:srgbClr val="1C6970"/>
                </a:solidFill>
                <a:latin typeface="Calibri"/>
              </a:defRPr>
            </a:pPr>
            <a:r>
              <a:t>1950s–1970s</a:t>
            </a:r>
          </a:p>
        </p:txBody>
      </p:sp>
      <p:sp>
        <p:nvSpPr>
          <p:cNvPr id="19" name="Oval 18"/>
          <p:cNvSpPr/>
          <p:nvPr/>
        </p:nvSpPr>
        <p:spPr>
          <a:xfrm>
            <a:off x="3422903" y="2528316"/>
            <a:ext cx="118872" cy="118872"/>
          </a:xfrm>
          <a:prstGeom prst="ellipse">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390899" y="2953512"/>
            <a:ext cx="2558795" cy="950976"/>
          </a:xfrm>
          <a:prstGeom prst="rect">
            <a:avLst/>
          </a:prstGeom>
          <a:noFill/>
        </p:spPr>
        <p:txBody>
          <a:bodyPr wrap="square" lIns="0" rIns="0" tIns="0" bIns="0" anchor="t">
            <a:spAutoFit/>
          </a:bodyPr>
          <a:lstStyle/>
          <a:p>
            <a:pPr algn="l">
              <a:lnSpc>
                <a:spcPct val="106000"/>
              </a:lnSpc>
              <a:spcBef>
                <a:spcPts val="0"/>
              </a:spcBef>
              <a:spcAft>
                <a:spcPts val="0"/>
              </a:spcAft>
              <a:defRPr sz="2400" b="1" i="0">
                <a:solidFill>
                  <a:srgbClr val="172326"/>
                </a:solidFill>
                <a:latin typeface="Calibri"/>
              </a:defRPr>
            </a:pPr>
            <a:r>
              <a:t>Home support</a:t>
            </a:r>
          </a:p>
        </p:txBody>
      </p:sp>
      <p:sp>
        <p:nvSpPr>
          <p:cNvPr id="21" name="TextBox 20"/>
          <p:cNvSpPr txBox="1"/>
          <p:nvPr/>
        </p:nvSpPr>
        <p:spPr>
          <a:xfrm>
            <a:off x="3390899" y="4041648"/>
            <a:ext cx="2531363" cy="1261872"/>
          </a:xfrm>
          <a:prstGeom prst="rect">
            <a:avLst/>
          </a:prstGeom>
          <a:noFill/>
        </p:spPr>
        <p:txBody>
          <a:bodyPr wrap="square" lIns="0" rIns="0" tIns="0" bIns="0" anchor="t">
            <a:spAutoFit/>
          </a:bodyPr>
          <a:lstStyle/>
          <a:p>
            <a:pPr algn="l">
              <a:lnSpc>
                <a:spcPct val="106000"/>
              </a:lnSpc>
              <a:spcBef>
                <a:spcPts val="0"/>
              </a:spcBef>
              <a:spcAft>
                <a:spcPts val="0"/>
              </a:spcAft>
              <a:defRPr sz="2250" b="0" i="0">
                <a:solidFill>
                  <a:srgbClr val="253438"/>
                </a:solidFill>
                <a:latin typeface="Calibri"/>
              </a:defRPr>
            </a:pPr>
            <a:r>
              <a:t>Tank, cuirass, and</a:t>
            </a:r>
          </a:p>
          <a:p>
            <a:pPr algn="l">
              <a:lnSpc>
                <a:spcPct val="106000"/>
              </a:lnSpc>
              <a:spcBef>
                <a:spcPts val="0"/>
              </a:spcBef>
              <a:spcAft>
                <a:spcPts val="0"/>
              </a:spcAft>
              <a:defRPr sz="2250" b="0" i="0">
                <a:solidFill>
                  <a:srgbClr val="253438"/>
                </a:solidFill>
                <a:latin typeface="Calibri"/>
              </a:defRPr>
            </a:pPr>
            <a:r>
              <a:t>positive-pressure</a:t>
            </a:r>
          </a:p>
          <a:p>
            <a:pPr algn="l">
              <a:lnSpc>
                <a:spcPct val="106000"/>
              </a:lnSpc>
              <a:spcBef>
                <a:spcPts val="0"/>
              </a:spcBef>
              <a:spcAft>
                <a:spcPts val="0"/>
              </a:spcAft>
              <a:defRPr sz="2250" b="0" i="0">
                <a:solidFill>
                  <a:srgbClr val="253438"/>
                </a:solidFill>
                <a:latin typeface="Calibri"/>
              </a:defRPr>
            </a:pPr>
            <a:r>
              <a:t>systems</a:t>
            </a:r>
          </a:p>
        </p:txBody>
      </p:sp>
      <p:sp>
        <p:nvSpPr>
          <p:cNvPr id="22" name="TextBox 21"/>
          <p:cNvSpPr txBox="1"/>
          <p:nvPr/>
        </p:nvSpPr>
        <p:spPr>
          <a:xfrm>
            <a:off x="6196583" y="1929384"/>
            <a:ext cx="2604515" cy="502920"/>
          </a:xfrm>
          <a:prstGeom prst="rect">
            <a:avLst/>
          </a:prstGeom>
          <a:noFill/>
        </p:spPr>
        <p:txBody>
          <a:bodyPr wrap="square" lIns="0" rIns="0" tIns="0" bIns="0" anchor="t">
            <a:spAutoFit/>
          </a:bodyPr>
          <a:lstStyle/>
          <a:p>
            <a:pPr algn="l">
              <a:lnSpc>
                <a:spcPct val="106000"/>
              </a:lnSpc>
              <a:spcBef>
                <a:spcPts val="0"/>
              </a:spcBef>
              <a:spcAft>
                <a:spcPts val="0"/>
              </a:spcAft>
              <a:defRPr sz="2500" b="1" i="0">
                <a:solidFill>
                  <a:srgbClr val="1C6970"/>
                </a:solidFill>
                <a:latin typeface="Calibri"/>
              </a:defRPr>
            </a:pPr>
            <a:r>
              <a:t>1977</a:t>
            </a:r>
          </a:p>
        </p:txBody>
      </p:sp>
      <p:sp>
        <p:nvSpPr>
          <p:cNvPr id="23" name="Oval 22"/>
          <p:cNvSpPr/>
          <p:nvPr/>
        </p:nvSpPr>
        <p:spPr>
          <a:xfrm>
            <a:off x="6228587" y="2528316"/>
            <a:ext cx="118872" cy="118872"/>
          </a:xfrm>
          <a:prstGeom prst="ellipse">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196583" y="2953512"/>
            <a:ext cx="2558795" cy="950976"/>
          </a:xfrm>
          <a:prstGeom prst="rect">
            <a:avLst/>
          </a:prstGeom>
          <a:noFill/>
        </p:spPr>
        <p:txBody>
          <a:bodyPr wrap="square" lIns="0" rIns="0" tIns="0" bIns="0" anchor="t">
            <a:spAutoFit/>
          </a:bodyPr>
          <a:lstStyle/>
          <a:p>
            <a:pPr algn="l">
              <a:lnSpc>
                <a:spcPct val="106000"/>
              </a:lnSpc>
              <a:spcBef>
                <a:spcPts val="0"/>
              </a:spcBef>
              <a:spcAft>
                <a:spcPts val="0"/>
              </a:spcAft>
              <a:defRPr sz="2400" b="1" i="0">
                <a:solidFill>
                  <a:srgbClr val="172326"/>
                </a:solidFill>
                <a:latin typeface="Calibri"/>
              </a:defRPr>
            </a:pPr>
            <a:r>
              <a:t>Portable volume</a:t>
            </a:r>
          </a:p>
          <a:p>
            <a:pPr algn="l">
              <a:lnSpc>
                <a:spcPct val="106000"/>
              </a:lnSpc>
              <a:spcBef>
                <a:spcPts val="0"/>
              </a:spcBef>
              <a:spcAft>
                <a:spcPts val="0"/>
              </a:spcAft>
              <a:defRPr sz="2400" b="1" i="0">
                <a:solidFill>
                  <a:srgbClr val="172326"/>
                </a:solidFill>
                <a:latin typeface="Calibri"/>
              </a:defRPr>
            </a:pPr>
            <a:r>
              <a:t>ventilator</a:t>
            </a:r>
          </a:p>
        </p:txBody>
      </p:sp>
      <p:sp>
        <p:nvSpPr>
          <p:cNvPr id="25" name="TextBox 24"/>
          <p:cNvSpPr txBox="1"/>
          <p:nvPr/>
        </p:nvSpPr>
        <p:spPr>
          <a:xfrm>
            <a:off x="6196583" y="4041648"/>
            <a:ext cx="2531363" cy="1261872"/>
          </a:xfrm>
          <a:prstGeom prst="rect">
            <a:avLst/>
          </a:prstGeom>
          <a:noFill/>
        </p:spPr>
        <p:txBody>
          <a:bodyPr wrap="square" lIns="0" rIns="0" tIns="0" bIns="0" anchor="t">
            <a:spAutoFit/>
          </a:bodyPr>
          <a:lstStyle/>
          <a:p>
            <a:pPr algn="l">
              <a:lnSpc>
                <a:spcPct val="106000"/>
              </a:lnSpc>
              <a:spcBef>
                <a:spcPts val="0"/>
              </a:spcBef>
              <a:spcAft>
                <a:spcPts val="0"/>
              </a:spcAft>
              <a:defRPr sz="2250" b="0" i="0">
                <a:solidFill>
                  <a:srgbClr val="253438"/>
                </a:solidFill>
                <a:latin typeface="Calibri"/>
              </a:defRPr>
            </a:pPr>
            <a:r>
              <a:t>LP3 approved for use</a:t>
            </a:r>
          </a:p>
          <a:p>
            <a:pPr algn="l">
              <a:lnSpc>
                <a:spcPct val="106000"/>
              </a:lnSpc>
              <a:spcBef>
                <a:spcPts val="0"/>
              </a:spcBef>
              <a:spcAft>
                <a:spcPts val="0"/>
              </a:spcAft>
              <a:defRPr sz="2250" b="0" i="0">
                <a:solidFill>
                  <a:srgbClr val="253438"/>
                </a:solidFill>
                <a:latin typeface="Calibri"/>
              </a:defRPr>
            </a:pPr>
            <a:r>
              <a:t>outside hospital</a:t>
            </a:r>
          </a:p>
        </p:txBody>
      </p:sp>
      <p:sp>
        <p:nvSpPr>
          <p:cNvPr id="26" name="TextBox 25"/>
          <p:cNvSpPr txBox="1"/>
          <p:nvPr/>
        </p:nvSpPr>
        <p:spPr>
          <a:xfrm>
            <a:off x="9002267" y="1929384"/>
            <a:ext cx="2604515" cy="502920"/>
          </a:xfrm>
          <a:prstGeom prst="rect">
            <a:avLst/>
          </a:prstGeom>
          <a:noFill/>
        </p:spPr>
        <p:txBody>
          <a:bodyPr wrap="square" lIns="0" rIns="0" tIns="0" bIns="0" anchor="t">
            <a:spAutoFit/>
          </a:bodyPr>
          <a:lstStyle/>
          <a:p>
            <a:pPr algn="l">
              <a:lnSpc>
                <a:spcPct val="106000"/>
              </a:lnSpc>
              <a:spcBef>
                <a:spcPts val="0"/>
              </a:spcBef>
              <a:spcAft>
                <a:spcPts val="0"/>
              </a:spcAft>
              <a:defRPr sz="2500" b="1" i="0">
                <a:solidFill>
                  <a:srgbClr val="1C6970"/>
                </a:solidFill>
                <a:latin typeface="Calibri"/>
              </a:defRPr>
            </a:pPr>
            <a:r>
              <a:t>1981–1982</a:t>
            </a:r>
          </a:p>
        </p:txBody>
      </p:sp>
      <p:sp>
        <p:nvSpPr>
          <p:cNvPr id="27" name="Oval 26"/>
          <p:cNvSpPr/>
          <p:nvPr/>
        </p:nvSpPr>
        <p:spPr>
          <a:xfrm>
            <a:off x="9034271" y="2528316"/>
            <a:ext cx="118872" cy="118872"/>
          </a:xfrm>
          <a:prstGeom prst="ellipse">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9002267" y="2953512"/>
            <a:ext cx="2558795" cy="950976"/>
          </a:xfrm>
          <a:prstGeom prst="rect">
            <a:avLst/>
          </a:prstGeom>
          <a:noFill/>
        </p:spPr>
        <p:txBody>
          <a:bodyPr wrap="square" lIns="0" rIns="0" tIns="0" bIns="0" anchor="t">
            <a:spAutoFit/>
          </a:bodyPr>
          <a:lstStyle/>
          <a:p>
            <a:pPr algn="l">
              <a:lnSpc>
                <a:spcPct val="106000"/>
              </a:lnSpc>
              <a:spcBef>
                <a:spcPts val="0"/>
              </a:spcBef>
              <a:spcAft>
                <a:spcPts val="0"/>
              </a:spcAft>
              <a:defRPr sz="2400" b="1" i="0">
                <a:solidFill>
                  <a:srgbClr val="172326"/>
                </a:solidFill>
                <a:latin typeface="Calibri"/>
              </a:defRPr>
            </a:pPr>
            <a:r>
              <a:t>Home-care</a:t>
            </a:r>
          </a:p>
          <a:p>
            <a:pPr algn="l">
              <a:lnSpc>
                <a:spcPct val="106000"/>
              </a:lnSpc>
              <a:spcBef>
                <a:spcPts val="0"/>
              </a:spcBef>
              <a:spcAft>
                <a:spcPts val="0"/>
              </a:spcAft>
              <a:defRPr sz="2400" b="1" i="0">
                <a:solidFill>
                  <a:srgbClr val="172326"/>
                </a:solidFill>
                <a:latin typeface="Calibri"/>
              </a:defRPr>
            </a:pPr>
            <a:r>
              <a:t>eligibility</a:t>
            </a:r>
          </a:p>
        </p:txBody>
      </p:sp>
      <p:sp>
        <p:nvSpPr>
          <p:cNvPr id="29" name="TextBox 28"/>
          <p:cNvSpPr txBox="1"/>
          <p:nvPr/>
        </p:nvSpPr>
        <p:spPr>
          <a:xfrm>
            <a:off x="9002267" y="4041648"/>
            <a:ext cx="2531363" cy="1261872"/>
          </a:xfrm>
          <a:prstGeom prst="rect">
            <a:avLst/>
          </a:prstGeom>
          <a:noFill/>
        </p:spPr>
        <p:txBody>
          <a:bodyPr wrap="square" lIns="0" rIns="0" tIns="0" bIns="0" anchor="t">
            <a:spAutoFit/>
          </a:bodyPr>
          <a:lstStyle/>
          <a:p>
            <a:pPr algn="l">
              <a:lnSpc>
                <a:spcPct val="106000"/>
              </a:lnSpc>
              <a:spcBef>
                <a:spcPts val="0"/>
              </a:spcBef>
              <a:spcAft>
                <a:spcPts val="0"/>
              </a:spcAft>
              <a:defRPr sz="2250" b="0" i="0">
                <a:solidFill>
                  <a:srgbClr val="253438"/>
                </a:solidFill>
                <a:latin typeface="Calibri"/>
              </a:defRPr>
            </a:pPr>
            <a:r>
              <a:t>Katie Beckett case</a:t>
            </a:r>
          </a:p>
          <a:p>
            <a:pPr algn="l">
              <a:lnSpc>
                <a:spcPct val="106000"/>
              </a:lnSpc>
              <a:spcBef>
                <a:spcPts val="0"/>
              </a:spcBef>
              <a:spcAft>
                <a:spcPts val="0"/>
              </a:spcAft>
              <a:defRPr sz="2250" b="0" i="0">
                <a:solidFill>
                  <a:srgbClr val="253438"/>
                </a:solidFill>
                <a:latin typeface="Calibri"/>
              </a:defRPr>
            </a:pPr>
            <a:r>
              <a:t>and the subsequent</a:t>
            </a:r>
          </a:p>
          <a:p>
            <a:pPr algn="l">
              <a:lnSpc>
                <a:spcPct val="106000"/>
              </a:lnSpc>
              <a:spcBef>
                <a:spcPts val="0"/>
              </a:spcBef>
              <a:spcAft>
                <a:spcPts val="0"/>
              </a:spcAft>
              <a:defRPr sz="2250" b="0" i="0">
                <a:solidFill>
                  <a:srgbClr val="253438"/>
                </a:solidFill>
                <a:latin typeface="Calibri"/>
              </a:defRPr>
            </a:pPr>
            <a:r>
              <a:t>TEFRA option</a:t>
            </a:r>
          </a:p>
        </p:txBody>
      </p:sp>
      <p:sp>
        <p:nvSpPr>
          <p:cNvPr id="30" name="Rectangle 29"/>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000" b="0" i="0">
                <a:solidFill>
                  <a:srgbClr val="172326"/>
                </a:solidFill>
                <a:latin typeface="Calibri"/>
              </a:defRPr>
            </a:pPr>
            <a:r>
              <a:t>Equipment portability · trained caregivers · continuing support · financing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 · HOME MECHANICAL VENTILATION</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Home ventilators: design and payment context</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King 2012 [R06] · Gusman &amp; Wolfe 2025 [R10] · R13, R20, R41</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S04</a:t>
            </a:r>
          </a:p>
        </p:txBody>
      </p:sp>
      <p:sp>
        <p:nvSpPr>
          <p:cNvPr id="12" name="Rectangle 11"/>
          <p:cNvSpPr/>
          <p:nvPr/>
        </p:nvSpPr>
        <p:spPr>
          <a:xfrm>
            <a:off x="585216" y="1755648"/>
            <a:ext cx="5346191" cy="3639312"/>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86384" y="1938528"/>
            <a:ext cx="4943855" cy="804672"/>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Clinical and engineering context</a:t>
            </a:r>
          </a:p>
        </p:txBody>
      </p:sp>
      <p:sp>
        <p:nvSpPr>
          <p:cNvPr id="14" name="TextBox 13"/>
          <p:cNvSpPr txBox="1"/>
          <p:nvPr/>
        </p:nvSpPr>
        <p:spPr>
          <a:xfrm>
            <a:off x="786384" y="2743200"/>
            <a:ext cx="4943855" cy="835152"/>
          </a:xfrm>
          <a:prstGeom prst="rect">
            <a:avLst/>
          </a:prstGeom>
          <a:noFill/>
        </p:spPr>
        <p:txBody>
          <a:bodyPr wrap="square" lIns="0" rIns="0" tIns="0" bIns="0" anchor="t">
            <a:spAutoFit/>
          </a:bodyPr>
          <a:lstStyle/>
          <a:p>
            <a:pPr algn="l">
              <a:lnSpc>
                <a:spcPct val="106000"/>
              </a:lnSpc>
              <a:spcBef>
                <a:spcPts val="0"/>
              </a:spcBef>
              <a:spcAft>
                <a:spcPts val="0"/>
              </a:spcAft>
              <a:defRPr sz="2400" b="0" i="0">
                <a:solidFill>
                  <a:srgbClr val="253438"/>
                </a:solidFill>
                <a:latin typeface="Calibri"/>
              </a:defRPr>
            </a:pPr>
            <a:r>
              <a:t>Sustained ventilatory assistance</a:t>
            </a:r>
          </a:p>
        </p:txBody>
      </p:sp>
      <p:sp>
        <p:nvSpPr>
          <p:cNvPr id="15" name="TextBox 14"/>
          <p:cNvSpPr txBox="1"/>
          <p:nvPr/>
        </p:nvSpPr>
        <p:spPr>
          <a:xfrm>
            <a:off x="786384" y="3605784"/>
            <a:ext cx="4943855" cy="835152"/>
          </a:xfrm>
          <a:prstGeom prst="rect">
            <a:avLst/>
          </a:prstGeom>
          <a:noFill/>
        </p:spPr>
        <p:txBody>
          <a:bodyPr wrap="square" lIns="0" rIns="0" tIns="0" bIns="0" anchor="t">
            <a:spAutoFit/>
          </a:bodyPr>
          <a:lstStyle/>
          <a:p>
            <a:pPr algn="l">
              <a:lnSpc>
                <a:spcPct val="106000"/>
              </a:lnSpc>
              <a:spcBef>
                <a:spcPts val="0"/>
              </a:spcBef>
              <a:spcAft>
                <a:spcPts val="0"/>
              </a:spcAft>
              <a:defRPr sz="2400" b="0" i="0">
                <a:solidFill>
                  <a:srgbClr val="253438"/>
                </a:solidFill>
                <a:latin typeface="Calibri"/>
              </a:defRPr>
            </a:pPr>
            <a:r>
              <a:t>Some patients dependent on</a:t>
            </a:r>
          </a:p>
          <a:p>
            <a:pPr algn="l">
              <a:lnSpc>
                <a:spcPct val="106000"/>
              </a:lnSpc>
              <a:spcBef>
                <a:spcPts val="0"/>
              </a:spcBef>
              <a:spcAft>
                <a:spcPts val="0"/>
              </a:spcAft>
              <a:defRPr sz="2400" b="0" i="0">
                <a:solidFill>
                  <a:srgbClr val="253438"/>
                </a:solidFill>
                <a:latin typeface="Calibri"/>
              </a:defRPr>
            </a:pPr>
            <a:r>
              <a:t>uninterrupted support</a:t>
            </a:r>
          </a:p>
        </p:txBody>
      </p:sp>
      <p:sp>
        <p:nvSpPr>
          <p:cNvPr id="16" name="TextBox 15"/>
          <p:cNvSpPr txBox="1"/>
          <p:nvPr/>
        </p:nvSpPr>
        <p:spPr>
          <a:xfrm>
            <a:off x="786384" y="4468368"/>
            <a:ext cx="4943855" cy="835152"/>
          </a:xfrm>
          <a:prstGeom prst="rect">
            <a:avLst/>
          </a:prstGeom>
          <a:noFill/>
        </p:spPr>
        <p:txBody>
          <a:bodyPr wrap="square" lIns="0" rIns="0" tIns="0" bIns="0" anchor="t">
            <a:spAutoFit/>
          </a:bodyPr>
          <a:lstStyle/>
          <a:p>
            <a:pPr algn="l">
              <a:lnSpc>
                <a:spcPct val="106000"/>
              </a:lnSpc>
              <a:spcBef>
                <a:spcPts val="0"/>
              </a:spcBef>
              <a:spcAft>
                <a:spcPts val="0"/>
              </a:spcAft>
              <a:defRPr sz="2400" b="0" i="0">
                <a:solidFill>
                  <a:srgbClr val="253438"/>
                </a:solidFill>
                <a:latin typeface="Calibri"/>
              </a:defRPr>
            </a:pPr>
            <a:r>
              <a:t>Power, alarms, circuits, and servicing</a:t>
            </a:r>
          </a:p>
        </p:txBody>
      </p:sp>
      <p:sp>
        <p:nvSpPr>
          <p:cNvPr id="17" name="Rectangle 16"/>
          <p:cNvSpPr/>
          <p:nvPr/>
        </p:nvSpPr>
        <p:spPr>
          <a:xfrm>
            <a:off x="6260591" y="1755648"/>
            <a:ext cx="5346191" cy="3639312"/>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938528"/>
            <a:ext cx="4943855" cy="804672"/>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Medicare equipment category</a:t>
            </a:r>
          </a:p>
        </p:txBody>
      </p:sp>
      <p:sp>
        <p:nvSpPr>
          <p:cNvPr id="19" name="TextBox 18"/>
          <p:cNvSpPr txBox="1"/>
          <p:nvPr/>
        </p:nvSpPr>
        <p:spPr>
          <a:xfrm>
            <a:off x="6461759" y="2743200"/>
            <a:ext cx="4943855" cy="835152"/>
          </a:xfrm>
          <a:prstGeom prst="rect">
            <a:avLst/>
          </a:prstGeom>
          <a:noFill/>
        </p:spPr>
        <p:txBody>
          <a:bodyPr wrap="square" lIns="0" rIns="0" tIns="0" bIns="0" anchor="t">
            <a:spAutoFit/>
          </a:bodyPr>
          <a:lstStyle/>
          <a:p>
            <a:pPr algn="l">
              <a:lnSpc>
                <a:spcPct val="106000"/>
              </a:lnSpc>
              <a:spcBef>
                <a:spcPts val="0"/>
              </a:spcBef>
              <a:spcAft>
                <a:spcPts val="0"/>
              </a:spcAft>
              <a:defRPr sz="2400" b="0" i="0">
                <a:solidFill>
                  <a:srgbClr val="253438"/>
                </a:solidFill>
                <a:latin typeface="Calibri"/>
              </a:defRPr>
            </a:pPr>
            <a:r>
              <a:t>Frequent and substantial servicing</a:t>
            </a:r>
          </a:p>
        </p:txBody>
      </p:sp>
      <p:sp>
        <p:nvSpPr>
          <p:cNvPr id="20" name="TextBox 19"/>
          <p:cNvSpPr txBox="1"/>
          <p:nvPr/>
        </p:nvSpPr>
        <p:spPr>
          <a:xfrm>
            <a:off x="6461759" y="3605784"/>
            <a:ext cx="4943855" cy="835152"/>
          </a:xfrm>
          <a:prstGeom prst="rect">
            <a:avLst/>
          </a:prstGeom>
          <a:noFill/>
        </p:spPr>
        <p:txBody>
          <a:bodyPr wrap="square" lIns="0" rIns="0" tIns="0" bIns="0" anchor="t">
            <a:spAutoFit/>
          </a:bodyPr>
          <a:lstStyle/>
          <a:p>
            <a:pPr algn="l">
              <a:lnSpc>
                <a:spcPct val="106000"/>
              </a:lnSpc>
              <a:spcBef>
                <a:spcPts val="0"/>
              </a:spcBef>
              <a:spcAft>
                <a:spcPts val="0"/>
              </a:spcAft>
              <a:defRPr sz="2400" b="0" i="0">
                <a:solidFill>
                  <a:srgbClr val="253438"/>
                </a:solidFill>
                <a:latin typeface="Calibri"/>
              </a:defRPr>
            </a:pPr>
            <a:r>
              <a:t>Continuing rental while medically</a:t>
            </a:r>
          </a:p>
          <a:p>
            <a:pPr algn="l">
              <a:lnSpc>
                <a:spcPct val="106000"/>
              </a:lnSpc>
              <a:spcBef>
                <a:spcPts val="0"/>
              </a:spcBef>
              <a:spcAft>
                <a:spcPts val="0"/>
              </a:spcAft>
              <a:defRPr sz="2400" b="0" i="0">
                <a:solidFill>
                  <a:srgbClr val="253438"/>
                </a:solidFill>
                <a:latin typeface="Calibri"/>
              </a:defRPr>
            </a:pPr>
            <a:r>
              <a:t>necessary</a:t>
            </a:r>
          </a:p>
        </p:txBody>
      </p:sp>
      <p:sp>
        <p:nvSpPr>
          <p:cNvPr id="21" name="TextBox 20"/>
          <p:cNvSpPr txBox="1"/>
          <p:nvPr/>
        </p:nvSpPr>
        <p:spPr>
          <a:xfrm>
            <a:off x="6461759" y="4468368"/>
            <a:ext cx="4943855" cy="835152"/>
          </a:xfrm>
          <a:prstGeom prst="rect">
            <a:avLst/>
          </a:prstGeom>
          <a:noFill/>
        </p:spPr>
        <p:txBody>
          <a:bodyPr wrap="square" lIns="0" rIns="0" tIns="0" bIns="0" anchor="t">
            <a:spAutoFit/>
          </a:bodyPr>
          <a:lstStyle/>
          <a:p>
            <a:pPr algn="l">
              <a:lnSpc>
                <a:spcPct val="106000"/>
              </a:lnSpc>
              <a:spcBef>
                <a:spcPts val="0"/>
              </a:spcBef>
              <a:spcAft>
                <a:spcPts val="0"/>
              </a:spcAft>
              <a:defRPr sz="2400" b="0" i="0">
                <a:solidFill>
                  <a:srgbClr val="253438"/>
                </a:solidFill>
                <a:latin typeface="Calibri"/>
              </a:defRPr>
            </a:pPr>
            <a:r>
              <a:t>Equipment, supplies, maintenance,</a:t>
            </a:r>
          </a:p>
          <a:p>
            <a:pPr algn="l">
              <a:lnSpc>
                <a:spcPct val="106000"/>
              </a:lnSpc>
              <a:spcBef>
                <a:spcPts val="0"/>
              </a:spcBef>
              <a:spcAft>
                <a:spcPts val="0"/>
              </a:spcAft>
              <a:defRPr sz="2400" b="0" i="0">
                <a:solidFill>
                  <a:srgbClr val="253438"/>
                </a:solidFill>
                <a:latin typeface="Calibri"/>
              </a:defRPr>
            </a:pPr>
            <a:r>
              <a:t>and repairs</a:t>
            </a:r>
          </a:p>
        </p:txBody>
      </p:sp>
      <p:sp>
        <p:nvSpPr>
          <p:cNvPr id="22" name="Rectangle 21"/>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000" b="0" i="0">
                <a:solidFill>
                  <a:srgbClr val="172326"/>
                </a:solidFill>
                <a:latin typeface="Calibri"/>
              </a:defRPr>
            </a:pPr>
            <a:r>
              <a:t>The payment category concerns equipment servicing, not a guaranteed schedule of RT visits.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II · SLEEP APNEA AND PAP</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Sleep apnea: the original clinical problem</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Sullivan et al. 1981 [R11] · Locke et al. 2024 [R01] · R44</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S05</a:t>
            </a:r>
          </a:p>
        </p:txBody>
      </p:sp>
      <p:cxnSp>
        <p:nvCxnSpPr>
          <p:cNvPr id="12" name="Connector 11"/>
          <p:cNvCxnSpPr/>
          <p:nvPr/>
        </p:nvCxnSpPr>
        <p:spPr>
          <a:xfrm>
            <a:off x="585216" y="2029968"/>
            <a:ext cx="182880" cy="0"/>
          </a:xfrm>
          <a:prstGeom prst="line">
            <a:avLst/>
          </a:prstGeom>
          <a:ln w="25400">
            <a:solidFill>
              <a:srgbClr val="1C6970"/>
            </a:solidFill>
          </a:ln>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932688" y="1938528"/>
            <a:ext cx="4453128" cy="996695"/>
          </a:xfrm>
          <a:prstGeom prst="rect">
            <a:avLst/>
          </a:prstGeom>
          <a:noFill/>
        </p:spPr>
        <p:txBody>
          <a:bodyPr wrap="square" lIns="0" rIns="0" tIns="0" bIns="0" anchor="t">
            <a:spAutoFit/>
          </a:bodyPr>
          <a:lstStyle/>
          <a:p>
            <a:pPr algn="l">
              <a:lnSpc>
                <a:spcPct val="106000"/>
              </a:lnSpc>
              <a:spcBef>
                <a:spcPts val="0"/>
              </a:spcBef>
              <a:spcAft>
                <a:spcPts val="0"/>
              </a:spcAft>
              <a:defRPr sz="2500" b="0" i="0">
                <a:solidFill>
                  <a:srgbClr val="253438"/>
                </a:solidFill>
                <a:latin typeface="Calibri"/>
              </a:defRPr>
            </a:pPr>
            <a:r>
              <a:t>Recurrent upper-airway</a:t>
            </a:r>
          </a:p>
          <a:p>
            <a:pPr algn="l">
              <a:lnSpc>
                <a:spcPct val="106000"/>
              </a:lnSpc>
              <a:spcBef>
                <a:spcPts val="0"/>
              </a:spcBef>
              <a:spcAft>
                <a:spcPts val="0"/>
              </a:spcAft>
              <a:defRPr sz="2500" b="0" i="0">
                <a:solidFill>
                  <a:srgbClr val="253438"/>
                </a:solidFill>
                <a:latin typeface="Calibri"/>
              </a:defRPr>
            </a:pPr>
            <a:r>
              <a:t>obstruction during sleep</a:t>
            </a:r>
          </a:p>
        </p:txBody>
      </p:sp>
      <p:cxnSp>
        <p:nvCxnSpPr>
          <p:cNvPr id="14" name="Connector 13"/>
          <p:cNvCxnSpPr/>
          <p:nvPr/>
        </p:nvCxnSpPr>
        <p:spPr>
          <a:xfrm>
            <a:off x="585216" y="3063240"/>
            <a:ext cx="182880" cy="0"/>
          </a:xfrm>
          <a:prstGeom prst="line">
            <a:avLst/>
          </a:prstGeom>
          <a:ln w="25400">
            <a:solidFill>
              <a:srgbClr val="1C6970"/>
            </a:solidFill>
          </a:ln>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932688" y="2971800"/>
            <a:ext cx="4453128" cy="996695"/>
          </a:xfrm>
          <a:prstGeom prst="rect">
            <a:avLst/>
          </a:prstGeom>
          <a:noFill/>
        </p:spPr>
        <p:txBody>
          <a:bodyPr wrap="square" lIns="0" rIns="0" tIns="0" bIns="0" anchor="t">
            <a:spAutoFit/>
          </a:bodyPr>
          <a:lstStyle/>
          <a:p>
            <a:pPr algn="l">
              <a:lnSpc>
                <a:spcPct val="106000"/>
              </a:lnSpc>
              <a:spcBef>
                <a:spcPts val="0"/>
              </a:spcBef>
              <a:spcAft>
                <a:spcPts val="0"/>
              </a:spcAft>
              <a:defRPr sz="2500" b="0" i="0">
                <a:solidFill>
                  <a:srgbClr val="253438"/>
                </a:solidFill>
                <a:latin typeface="Calibri"/>
              </a:defRPr>
            </a:pPr>
            <a:r>
              <a:t>Respiratory effort persists during</a:t>
            </a:r>
          </a:p>
          <a:p>
            <a:pPr algn="l">
              <a:lnSpc>
                <a:spcPct val="106000"/>
              </a:lnSpc>
              <a:spcBef>
                <a:spcPts val="0"/>
              </a:spcBef>
              <a:spcAft>
                <a:spcPts val="0"/>
              </a:spcAft>
              <a:defRPr sz="2500" b="0" i="0">
                <a:solidFill>
                  <a:srgbClr val="253438"/>
                </a:solidFill>
                <a:latin typeface="Calibri"/>
              </a:defRPr>
            </a:pPr>
            <a:r>
              <a:t>obstructive apnea</a:t>
            </a:r>
          </a:p>
        </p:txBody>
      </p:sp>
      <p:cxnSp>
        <p:nvCxnSpPr>
          <p:cNvPr id="16" name="Connector 15"/>
          <p:cNvCxnSpPr/>
          <p:nvPr/>
        </p:nvCxnSpPr>
        <p:spPr>
          <a:xfrm>
            <a:off x="585216" y="4096512"/>
            <a:ext cx="182880" cy="0"/>
          </a:xfrm>
          <a:prstGeom prst="line">
            <a:avLst/>
          </a:prstGeom>
          <a:ln w="25400">
            <a:solidFill>
              <a:srgbClr val="1C6970"/>
            </a:solidFill>
          </a:ln>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932688" y="4005072"/>
            <a:ext cx="4453128" cy="996695"/>
          </a:xfrm>
          <a:prstGeom prst="rect">
            <a:avLst/>
          </a:prstGeom>
          <a:noFill/>
        </p:spPr>
        <p:txBody>
          <a:bodyPr wrap="square" lIns="0" rIns="0" tIns="0" bIns="0" anchor="t">
            <a:spAutoFit/>
          </a:bodyPr>
          <a:lstStyle/>
          <a:p>
            <a:pPr algn="l">
              <a:lnSpc>
                <a:spcPct val="106000"/>
              </a:lnSpc>
              <a:spcBef>
                <a:spcPts val="0"/>
              </a:spcBef>
              <a:spcAft>
                <a:spcPts val="0"/>
              </a:spcAft>
              <a:defRPr sz="2500" b="0" i="0">
                <a:solidFill>
                  <a:srgbClr val="253438"/>
                </a:solidFill>
                <a:latin typeface="Calibri"/>
              </a:defRPr>
            </a:pPr>
            <a:r>
              <a:t>Sleep fragmentation and</a:t>
            </a:r>
          </a:p>
          <a:p>
            <a:pPr algn="l">
              <a:lnSpc>
                <a:spcPct val="106000"/>
              </a:lnSpc>
              <a:spcBef>
                <a:spcPts val="0"/>
              </a:spcBef>
              <a:spcAft>
                <a:spcPts val="0"/>
              </a:spcAft>
              <a:defRPr sz="2500" b="0" i="0">
                <a:solidFill>
                  <a:srgbClr val="253438"/>
                </a:solidFill>
                <a:latin typeface="Calibri"/>
              </a:defRPr>
            </a:pPr>
            <a:r>
              <a:t>intermittent hypoxemia</a:t>
            </a:r>
          </a:p>
        </p:txBody>
      </p:sp>
      <p:cxnSp>
        <p:nvCxnSpPr>
          <p:cNvPr id="18" name="Connector 17"/>
          <p:cNvCxnSpPr/>
          <p:nvPr/>
        </p:nvCxnSpPr>
        <p:spPr>
          <a:xfrm>
            <a:off x="6126480" y="2377440"/>
            <a:ext cx="5029200"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6126480" y="3703320"/>
            <a:ext cx="5029200"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20" name="Rectangle 19"/>
          <p:cNvSpPr/>
          <p:nvPr/>
        </p:nvSpPr>
        <p:spPr>
          <a:xfrm>
            <a:off x="7818120" y="1865376"/>
            <a:ext cx="1609344" cy="2414016"/>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808975" y="1691640"/>
            <a:ext cx="2075688"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1C6970"/>
                </a:solidFill>
                <a:latin typeface="Calibri"/>
              </a:defRPr>
            </a:pPr>
            <a:r>
              <a:t>OBSTRUCTIVE APNEA</a:t>
            </a:r>
          </a:p>
        </p:txBody>
      </p:sp>
      <p:sp>
        <p:nvSpPr>
          <p:cNvPr id="22" name="TextBox 21"/>
          <p:cNvSpPr txBox="1"/>
          <p:nvPr/>
        </p:nvSpPr>
        <p:spPr>
          <a:xfrm>
            <a:off x="6126480" y="1929384"/>
            <a:ext cx="1490472" cy="320040"/>
          </a:xfrm>
          <a:prstGeom prst="rect">
            <a:avLst/>
          </a:prstGeom>
          <a:noFill/>
        </p:spPr>
        <p:txBody>
          <a:bodyPr wrap="square" lIns="0" rIns="0" tIns="0" bIns="0" anchor="t">
            <a:spAutoFit/>
          </a:bodyPr>
          <a:lstStyle/>
          <a:p>
            <a:pPr algn="l">
              <a:lnSpc>
                <a:spcPct val="106000"/>
              </a:lnSpc>
              <a:spcBef>
                <a:spcPts val="0"/>
              </a:spcBef>
              <a:spcAft>
                <a:spcPts val="0"/>
              </a:spcAft>
              <a:defRPr sz="1900" b="1" i="0">
                <a:solidFill>
                  <a:srgbClr val="253438"/>
                </a:solidFill>
                <a:latin typeface="Calibri"/>
              </a:defRPr>
            </a:pPr>
            <a:r>
              <a:t>Airflow</a:t>
            </a:r>
          </a:p>
        </p:txBody>
      </p:sp>
      <p:sp>
        <p:nvSpPr>
          <p:cNvPr id="23" name="TextBox 22"/>
          <p:cNvSpPr txBox="1"/>
          <p:nvPr/>
        </p:nvSpPr>
        <p:spPr>
          <a:xfrm>
            <a:off x="6126480" y="3209544"/>
            <a:ext cx="1490472" cy="320040"/>
          </a:xfrm>
          <a:prstGeom prst="rect">
            <a:avLst/>
          </a:prstGeom>
          <a:noFill/>
        </p:spPr>
        <p:txBody>
          <a:bodyPr wrap="square" lIns="0" rIns="0" tIns="0" bIns="0" anchor="t">
            <a:spAutoFit/>
          </a:bodyPr>
          <a:lstStyle/>
          <a:p>
            <a:pPr algn="l">
              <a:lnSpc>
                <a:spcPct val="106000"/>
              </a:lnSpc>
              <a:spcBef>
                <a:spcPts val="0"/>
              </a:spcBef>
              <a:spcAft>
                <a:spcPts val="0"/>
              </a:spcAft>
              <a:defRPr sz="1900" b="1" i="0">
                <a:solidFill>
                  <a:srgbClr val="253438"/>
                </a:solidFill>
                <a:latin typeface="Calibri"/>
              </a:defRPr>
            </a:pPr>
            <a:r>
              <a:t>Effort</a:t>
            </a:r>
          </a:p>
        </p:txBody>
      </p:sp>
      <p:sp>
        <p:nvSpPr>
          <p:cNvPr id="24" name="Freeform 23"/>
          <p:cNvSpPr/>
          <p:nvPr/>
        </p:nvSpPr>
        <p:spPr>
          <a:xfrm>
            <a:off x="6126480" y="2368296"/>
            <a:ext cx="5029200" cy="512064"/>
          </a:xfrm>
          <a:custGeom>
            <a:avLst/>
            <a:gdLst/>
            <a:ahLst/>
            <a:cxnLst/>
            <a:rect l="l" t="t" r="r" b="b"/>
            <a:pathLst>
              <a:path w="5029200" h="512064">
                <a:moveTo>
                  <a:pt x="0" y="256032"/>
                </a:moveTo>
                <a:lnTo>
                  <a:pt x="20955" y="209373"/>
                </a:lnTo>
                <a:lnTo>
                  <a:pt x="41910" y="164278"/>
                </a:lnTo>
                <a:lnTo>
                  <a:pt x="62865" y="122255"/>
                </a:lnTo>
                <a:lnTo>
                  <a:pt x="83820" y="84713"/>
                </a:lnTo>
                <a:lnTo>
                  <a:pt x="104775" y="52908"/>
                </a:lnTo>
                <a:lnTo>
                  <a:pt x="125730" y="27905"/>
                </a:lnTo>
                <a:lnTo>
                  <a:pt x="146685" y="10543"/>
                </a:lnTo>
                <a:lnTo>
                  <a:pt x="167640" y="1402"/>
                </a:lnTo>
                <a:lnTo>
                  <a:pt x="188595" y="789"/>
                </a:lnTo>
                <a:lnTo>
                  <a:pt x="209550" y="8724"/>
                </a:lnTo>
                <a:lnTo>
                  <a:pt x="230505" y="24941"/>
                </a:lnTo>
                <a:lnTo>
                  <a:pt x="251460" y="48897"/>
                </a:lnTo>
                <a:lnTo>
                  <a:pt x="272415" y="79791"/>
                </a:lnTo>
                <a:lnTo>
                  <a:pt x="293370" y="116586"/>
                </a:lnTo>
                <a:lnTo>
                  <a:pt x="314325" y="158052"/>
                </a:lnTo>
                <a:lnTo>
                  <a:pt x="335280" y="202799"/>
                </a:lnTo>
                <a:lnTo>
                  <a:pt x="356235" y="249329"/>
                </a:lnTo>
                <a:lnTo>
                  <a:pt x="377190" y="296084"/>
                </a:lnTo>
                <a:lnTo>
                  <a:pt x="398145" y="341497"/>
                </a:lnTo>
                <a:lnTo>
                  <a:pt x="419100" y="384048"/>
                </a:lnTo>
                <a:lnTo>
                  <a:pt x="440055" y="422311"/>
                </a:lnTo>
                <a:lnTo>
                  <a:pt x="461010" y="455006"/>
                </a:lnTo>
                <a:lnTo>
                  <a:pt x="481965" y="481037"/>
                </a:lnTo>
                <a:lnTo>
                  <a:pt x="502920" y="499532"/>
                </a:lnTo>
                <a:lnTo>
                  <a:pt x="523875" y="509873"/>
                </a:lnTo>
                <a:lnTo>
                  <a:pt x="544830" y="511713"/>
                </a:lnTo>
                <a:lnTo>
                  <a:pt x="565785" y="504989"/>
                </a:lnTo>
                <a:lnTo>
                  <a:pt x="586740" y="489928"/>
                </a:lnTo>
                <a:lnTo>
                  <a:pt x="607695" y="467034"/>
                </a:lnTo>
                <a:lnTo>
                  <a:pt x="628650" y="437073"/>
                </a:lnTo>
                <a:lnTo>
                  <a:pt x="649605" y="401050"/>
                </a:lnTo>
                <a:lnTo>
                  <a:pt x="670560" y="360169"/>
                </a:lnTo>
                <a:lnTo>
                  <a:pt x="691515" y="315801"/>
                </a:lnTo>
                <a:lnTo>
                  <a:pt x="712470" y="269431"/>
                </a:lnTo>
                <a:lnTo>
                  <a:pt x="733425" y="222613"/>
                </a:lnTo>
                <a:lnTo>
                  <a:pt x="754380" y="176913"/>
                </a:lnTo>
                <a:lnTo>
                  <a:pt x="775335" y="133864"/>
                </a:lnTo>
                <a:lnTo>
                  <a:pt x="796290" y="94905"/>
                </a:lnTo>
                <a:lnTo>
                  <a:pt x="817245" y="61343"/>
                </a:lnTo>
                <a:lnTo>
                  <a:pt x="838200" y="34301"/>
                </a:lnTo>
                <a:lnTo>
                  <a:pt x="859155" y="14685"/>
                </a:lnTo>
                <a:lnTo>
                  <a:pt x="880110" y="3152"/>
                </a:lnTo>
                <a:lnTo>
                  <a:pt x="901065" y="87"/>
                </a:lnTo>
                <a:lnTo>
                  <a:pt x="922020" y="5594"/>
                </a:lnTo>
                <a:lnTo>
                  <a:pt x="942975" y="19489"/>
                </a:lnTo>
                <a:lnTo>
                  <a:pt x="963930" y="41305"/>
                </a:lnTo>
                <a:lnTo>
                  <a:pt x="984885" y="70312"/>
                </a:lnTo>
                <a:lnTo>
                  <a:pt x="1005840" y="105540"/>
                </a:lnTo>
                <a:lnTo>
                  <a:pt x="1026795" y="145807"/>
                </a:lnTo>
                <a:lnTo>
                  <a:pt x="1047750" y="189766"/>
                </a:lnTo>
                <a:lnTo>
                  <a:pt x="1068705" y="235943"/>
                </a:lnTo>
                <a:lnTo>
                  <a:pt x="1089660" y="282794"/>
                </a:lnTo>
                <a:lnTo>
                  <a:pt x="1110615" y="328749"/>
                </a:lnTo>
                <a:lnTo>
                  <a:pt x="1131570" y="372268"/>
                </a:lnTo>
                <a:lnTo>
                  <a:pt x="1152525" y="411894"/>
                </a:lnTo>
                <a:lnTo>
                  <a:pt x="1173480" y="446300"/>
                </a:lnTo>
                <a:lnTo>
                  <a:pt x="1194435" y="474335"/>
                </a:lnTo>
                <a:lnTo>
                  <a:pt x="1215390" y="495058"/>
                </a:lnTo>
                <a:lnTo>
                  <a:pt x="1236345" y="507776"/>
                </a:lnTo>
                <a:lnTo>
                  <a:pt x="1257299" y="512064"/>
                </a:lnTo>
                <a:lnTo>
                  <a:pt x="1278255" y="507776"/>
                </a:lnTo>
                <a:lnTo>
                  <a:pt x="1299210" y="495058"/>
                </a:lnTo>
                <a:lnTo>
                  <a:pt x="1320165" y="474335"/>
                </a:lnTo>
                <a:lnTo>
                  <a:pt x="1341119" y="446300"/>
                </a:lnTo>
                <a:lnTo>
                  <a:pt x="1362075" y="411894"/>
                </a:lnTo>
                <a:lnTo>
                  <a:pt x="1383030" y="372268"/>
                </a:lnTo>
                <a:lnTo>
                  <a:pt x="1403985" y="328749"/>
                </a:lnTo>
                <a:lnTo>
                  <a:pt x="1424940" y="282794"/>
                </a:lnTo>
                <a:lnTo>
                  <a:pt x="1445895" y="235943"/>
                </a:lnTo>
                <a:lnTo>
                  <a:pt x="1466850" y="189766"/>
                </a:lnTo>
                <a:lnTo>
                  <a:pt x="1487805" y="145807"/>
                </a:lnTo>
                <a:lnTo>
                  <a:pt x="1508760" y="105540"/>
                </a:lnTo>
                <a:lnTo>
                  <a:pt x="1529715" y="70312"/>
                </a:lnTo>
                <a:lnTo>
                  <a:pt x="1550670" y="41305"/>
                </a:lnTo>
                <a:lnTo>
                  <a:pt x="1571624" y="19489"/>
                </a:lnTo>
                <a:lnTo>
                  <a:pt x="1592580" y="5594"/>
                </a:lnTo>
                <a:lnTo>
                  <a:pt x="1613535" y="87"/>
                </a:lnTo>
                <a:lnTo>
                  <a:pt x="1634490" y="3152"/>
                </a:lnTo>
                <a:lnTo>
                  <a:pt x="1655444" y="14685"/>
                </a:lnTo>
                <a:lnTo>
                  <a:pt x="1676400" y="34301"/>
                </a:lnTo>
                <a:lnTo>
                  <a:pt x="1697355" y="256032"/>
                </a:lnTo>
                <a:lnTo>
                  <a:pt x="1718310" y="256032"/>
                </a:lnTo>
                <a:lnTo>
                  <a:pt x="1739265" y="256032"/>
                </a:lnTo>
                <a:lnTo>
                  <a:pt x="1760220" y="256032"/>
                </a:lnTo>
                <a:lnTo>
                  <a:pt x="1781175" y="256032"/>
                </a:lnTo>
                <a:lnTo>
                  <a:pt x="1802130" y="256032"/>
                </a:lnTo>
                <a:lnTo>
                  <a:pt x="1823085" y="256032"/>
                </a:lnTo>
                <a:lnTo>
                  <a:pt x="1844040" y="256032"/>
                </a:lnTo>
                <a:lnTo>
                  <a:pt x="1864995" y="256032"/>
                </a:lnTo>
                <a:lnTo>
                  <a:pt x="1885949" y="256032"/>
                </a:lnTo>
                <a:lnTo>
                  <a:pt x="1906905" y="256032"/>
                </a:lnTo>
                <a:lnTo>
                  <a:pt x="1927860" y="256032"/>
                </a:lnTo>
                <a:lnTo>
                  <a:pt x="1948815" y="256032"/>
                </a:lnTo>
                <a:lnTo>
                  <a:pt x="1969770" y="256032"/>
                </a:lnTo>
                <a:lnTo>
                  <a:pt x="1990725" y="256032"/>
                </a:lnTo>
                <a:lnTo>
                  <a:pt x="2011680" y="256032"/>
                </a:lnTo>
                <a:lnTo>
                  <a:pt x="2032635" y="256032"/>
                </a:lnTo>
                <a:lnTo>
                  <a:pt x="2053590" y="256032"/>
                </a:lnTo>
                <a:lnTo>
                  <a:pt x="2074545" y="256032"/>
                </a:lnTo>
                <a:lnTo>
                  <a:pt x="2095500" y="256032"/>
                </a:lnTo>
                <a:lnTo>
                  <a:pt x="2116455" y="256032"/>
                </a:lnTo>
                <a:lnTo>
                  <a:pt x="2137410" y="256032"/>
                </a:lnTo>
                <a:lnTo>
                  <a:pt x="2158365" y="256032"/>
                </a:lnTo>
                <a:lnTo>
                  <a:pt x="2179320" y="256032"/>
                </a:lnTo>
                <a:lnTo>
                  <a:pt x="2200274" y="256032"/>
                </a:lnTo>
                <a:lnTo>
                  <a:pt x="2221230" y="256032"/>
                </a:lnTo>
                <a:lnTo>
                  <a:pt x="2242185" y="256032"/>
                </a:lnTo>
                <a:lnTo>
                  <a:pt x="2263140" y="256032"/>
                </a:lnTo>
                <a:lnTo>
                  <a:pt x="2284095" y="256032"/>
                </a:lnTo>
                <a:lnTo>
                  <a:pt x="2305050" y="256032"/>
                </a:lnTo>
                <a:lnTo>
                  <a:pt x="2326005" y="256032"/>
                </a:lnTo>
                <a:lnTo>
                  <a:pt x="2346960" y="256032"/>
                </a:lnTo>
                <a:lnTo>
                  <a:pt x="2367915" y="256032"/>
                </a:lnTo>
                <a:lnTo>
                  <a:pt x="2388870" y="256032"/>
                </a:lnTo>
                <a:lnTo>
                  <a:pt x="2409825" y="256032"/>
                </a:lnTo>
                <a:lnTo>
                  <a:pt x="2430780" y="256032"/>
                </a:lnTo>
                <a:lnTo>
                  <a:pt x="2451735" y="256032"/>
                </a:lnTo>
                <a:lnTo>
                  <a:pt x="2472690" y="256032"/>
                </a:lnTo>
                <a:lnTo>
                  <a:pt x="2493645" y="256032"/>
                </a:lnTo>
                <a:lnTo>
                  <a:pt x="2514600" y="256032"/>
                </a:lnTo>
                <a:lnTo>
                  <a:pt x="2535555" y="256032"/>
                </a:lnTo>
                <a:lnTo>
                  <a:pt x="2556510" y="256032"/>
                </a:lnTo>
                <a:lnTo>
                  <a:pt x="2577465" y="256032"/>
                </a:lnTo>
                <a:lnTo>
                  <a:pt x="2598420" y="256032"/>
                </a:lnTo>
                <a:lnTo>
                  <a:pt x="2619375" y="256032"/>
                </a:lnTo>
                <a:lnTo>
                  <a:pt x="2640330" y="256032"/>
                </a:lnTo>
                <a:lnTo>
                  <a:pt x="2661285" y="256032"/>
                </a:lnTo>
                <a:lnTo>
                  <a:pt x="2682240" y="256032"/>
                </a:lnTo>
                <a:lnTo>
                  <a:pt x="2703195" y="256032"/>
                </a:lnTo>
                <a:lnTo>
                  <a:pt x="2724150" y="256032"/>
                </a:lnTo>
                <a:lnTo>
                  <a:pt x="2745105" y="256032"/>
                </a:lnTo>
                <a:lnTo>
                  <a:pt x="2766060" y="256032"/>
                </a:lnTo>
                <a:lnTo>
                  <a:pt x="2787015" y="256032"/>
                </a:lnTo>
                <a:lnTo>
                  <a:pt x="2807970" y="256032"/>
                </a:lnTo>
                <a:lnTo>
                  <a:pt x="2828925" y="256032"/>
                </a:lnTo>
                <a:lnTo>
                  <a:pt x="2849880" y="256032"/>
                </a:lnTo>
                <a:lnTo>
                  <a:pt x="2870835" y="256032"/>
                </a:lnTo>
                <a:lnTo>
                  <a:pt x="2891790" y="256032"/>
                </a:lnTo>
                <a:lnTo>
                  <a:pt x="2912745" y="256032"/>
                </a:lnTo>
                <a:lnTo>
                  <a:pt x="2933700" y="256032"/>
                </a:lnTo>
                <a:lnTo>
                  <a:pt x="2954655" y="256032"/>
                </a:lnTo>
                <a:lnTo>
                  <a:pt x="2975610" y="256032"/>
                </a:lnTo>
                <a:lnTo>
                  <a:pt x="2996565" y="256032"/>
                </a:lnTo>
                <a:lnTo>
                  <a:pt x="3017520" y="256032"/>
                </a:lnTo>
                <a:lnTo>
                  <a:pt x="3038475" y="256032"/>
                </a:lnTo>
                <a:lnTo>
                  <a:pt x="3059430" y="256032"/>
                </a:lnTo>
                <a:lnTo>
                  <a:pt x="3080385" y="256032"/>
                </a:lnTo>
                <a:lnTo>
                  <a:pt x="3101340" y="256032"/>
                </a:lnTo>
                <a:lnTo>
                  <a:pt x="3122295" y="256032"/>
                </a:lnTo>
                <a:lnTo>
                  <a:pt x="3143250" y="256032"/>
                </a:lnTo>
                <a:lnTo>
                  <a:pt x="3164205" y="256032"/>
                </a:lnTo>
                <a:lnTo>
                  <a:pt x="3185160" y="256032"/>
                </a:lnTo>
                <a:lnTo>
                  <a:pt x="3206115" y="256032"/>
                </a:lnTo>
                <a:lnTo>
                  <a:pt x="3227070" y="256032"/>
                </a:lnTo>
                <a:lnTo>
                  <a:pt x="3248025" y="256032"/>
                </a:lnTo>
                <a:lnTo>
                  <a:pt x="3268980" y="256032"/>
                </a:lnTo>
                <a:lnTo>
                  <a:pt x="3289935" y="256032"/>
                </a:lnTo>
                <a:lnTo>
                  <a:pt x="3310890" y="256032"/>
                </a:lnTo>
                <a:lnTo>
                  <a:pt x="3331845" y="450720"/>
                </a:lnTo>
                <a:lnTo>
                  <a:pt x="3352800" y="477762"/>
                </a:lnTo>
                <a:lnTo>
                  <a:pt x="3373755" y="497378"/>
                </a:lnTo>
                <a:lnTo>
                  <a:pt x="3394710" y="508911"/>
                </a:lnTo>
                <a:lnTo>
                  <a:pt x="3415665" y="511976"/>
                </a:lnTo>
                <a:lnTo>
                  <a:pt x="3436620" y="506469"/>
                </a:lnTo>
                <a:lnTo>
                  <a:pt x="3457575" y="492574"/>
                </a:lnTo>
                <a:lnTo>
                  <a:pt x="3478530" y="470758"/>
                </a:lnTo>
                <a:lnTo>
                  <a:pt x="3499485" y="441751"/>
                </a:lnTo>
                <a:lnTo>
                  <a:pt x="3520440" y="406523"/>
                </a:lnTo>
                <a:lnTo>
                  <a:pt x="3541395" y="366256"/>
                </a:lnTo>
                <a:lnTo>
                  <a:pt x="3562350" y="322297"/>
                </a:lnTo>
                <a:lnTo>
                  <a:pt x="3583305" y="276120"/>
                </a:lnTo>
                <a:lnTo>
                  <a:pt x="3604260" y="229269"/>
                </a:lnTo>
                <a:lnTo>
                  <a:pt x="3625215" y="183314"/>
                </a:lnTo>
                <a:lnTo>
                  <a:pt x="3646170" y="139795"/>
                </a:lnTo>
                <a:lnTo>
                  <a:pt x="3667125" y="100169"/>
                </a:lnTo>
                <a:lnTo>
                  <a:pt x="3688080" y="65763"/>
                </a:lnTo>
                <a:lnTo>
                  <a:pt x="3709035" y="37728"/>
                </a:lnTo>
                <a:lnTo>
                  <a:pt x="3729990" y="17005"/>
                </a:lnTo>
                <a:lnTo>
                  <a:pt x="3750945" y="4287"/>
                </a:lnTo>
                <a:lnTo>
                  <a:pt x="3771900" y="0"/>
                </a:lnTo>
                <a:lnTo>
                  <a:pt x="3792855" y="4287"/>
                </a:lnTo>
                <a:lnTo>
                  <a:pt x="3813810" y="17005"/>
                </a:lnTo>
                <a:lnTo>
                  <a:pt x="3834765" y="37728"/>
                </a:lnTo>
                <a:lnTo>
                  <a:pt x="3855720" y="65763"/>
                </a:lnTo>
                <a:lnTo>
                  <a:pt x="3876675" y="100169"/>
                </a:lnTo>
                <a:lnTo>
                  <a:pt x="3897630" y="139795"/>
                </a:lnTo>
                <a:lnTo>
                  <a:pt x="3918585" y="183314"/>
                </a:lnTo>
                <a:lnTo>
                  <a:pt x="3939540" y="229269"/>
                </a:lnTo>
                <a:lnTo>
                  <a:pt x="3960495" y="276120"/>
                </a:lnTo>
                <a:lnTo>
                  <a:pt x="3981450" y="322297"/>
                </a:lnTo>
                <a:lnTo>
                  <a:pt x="4002405" y="366256"/>
                </a:lnTo>
                <a:lnTo>
                  <a:pt x="4023360" y="406523"/>
                </a:lnTo>
                <a:lnTo>
                  <a:pt x="4044315" y="441751"/>
                </a:lnTo>
                <a:lnTo>
                  <a:pt x="4065270" y="470758"/>
                </a:lnTo>
                <a:lnTo>
                  <a:pt x="4086225" y="492574"/>
                </a:lnTo>
                <a:lnTo>
                  <a:pt x="4107180" y="506469"/>
                </a:lnTo>
                <a:lnTo>
                  <a:pt x="4128135" y="511976"/>
                </a:lnTo>
                <a:lnTo>
                  <a:pt x="4149090" y="508911"/>
                </a:lnTo>
                <a:lnTo>
                  <a:pt x="4170045" y="497378"/>
                </a:lnTo>
                <a:lnTo>
                  <a:pt x="4191000" y="477762"/>
                </a:lnTo>
                <a:lnTo>
                  <a:pt x="4211955" y="450720"/>
                </a:lnTo>
                <a:lnTo>
                  <a:pt x="4232910" y="417158"/>
                </a:lnTo>
                <a:lnTo>
                  <a:pt x="4253865" y="378199"/>
                </a:lnTo>
                <a:lnTo>
                  <a:pt x="4274820" y="335150"/>
                </a:lnTo>
                <a:lnTo>
                  <a:pt x="4295775" y="289450"/>
                </a:lnTo>
                <a:lnTo>
                  <a:pt x="4316730" y="242632"/>
                </a:lnTo>
                <a:lnTo>
                  <a:pt x="4337685" y="196262"/>
                </a:lnTo>
                <a:lnTo>
                  <a:pt x="4358640" y="151894"/>
                </a:lnTo>
                <a:lnTo>
                  <a:pt x="4379595" y="111013"/>
                </a:lnTo>
                <a:lnTo>
                  <a:pt x="4400550" y="74990"/>
                </a:lnTo>
                <a:lnTo>
                  <a:pt x="4421505" y="45029"/>
                </a:lnTo>
                <a:lnTo>
                  <a:pt x="4442460" y="22135"/>
                </a:lnTo>
                <a:lnTo>
                  <a:pt x="4463415" y="7074"/>
                </a:lnTo>
                <a:lnTo>
                  <a:pt x="4484370" y="350"/>
                </a:lnTo>
                <a:lnTo>
                  <a:pt x="4505325" y="2190"/>
                </a:lnTo>
                <a:lnTo>
                  <a:pt x="4526280" y="12531"/>
                </a:lnTo>
                <a:lnTo>
                  <a:pt x="4547235" y="31026"/>
                </a:lnTo>
                <a:lnTo>
                  <a:pt x="4568190" y="57057"/>
                </a:lnTo>
                <a:lnTo>
                  <a:pt x="4589145" y="89752"/>
                </a:lnTo>
                <a:lnTo>
                  <a:pt x="4610100" y="128016"/>
                </a:lnTo>
                <a:lnTo>
                  <a:pt x="4631055" y="170566"/>
                </a:lnTo>
                <a:lnTo>
                  <a:pt x="4652010" y="215979"/>
                </a:lnTo>
                <a:lnTo>
                  <a:pt x="4672965" y="262734"/>
                </a:lnTo>
                <a:lnTo>
                  <a:pt x="4693920" y="309264"/>
                </a:lnTo>
                <a:lnTo>
                  <a:pt x="4714875" y="354011"/>
                </a:lnTo>
                <a:lnTo>
                  <a:pt x="4735830" y="395477"/>
                </a:lnTo>
                <a:lnTo>
                  <a:pt x="4756785" y="432272"/>
                </a:lnTo>
                <a:lnTo>
                  <a:pt x="4777740" y="463166"/>
                </a:lnTo>
                <a:lnTo>
                  <a:pt x="4798695" y="487122"/>
                </a:lnTo>
                <a:lnTo>
                  <a:pt x="4819650" y="503339"/>
                </a:lnTo>
                <a:lnTo>
                  <a:pt x="4840605" y="511274"/>
                </a:lnTo>
                <a:lnTo>
                  <a:pt x="4861560" y="510661"/>
                </a:lnTo>
                <a:lnTo>
                  <a:pt x="4882515" y="501520"/>
                </a:lnTo>
                <a:lnTo>
                  <a:pt x="4903470" y="484158"/>
                </a:lnTo>
                <a:lnTo>
                  <a:pt x="4924425" y="459155"/>
                </a:lnTo>
                <a:lnTo>
                  <a:pt x="4945380" y="427350"/>
                </a:lnTo>
                <a:lnTo>
                  <a:pt x="4966335" y="389808"/>
                </a:lnTo>
                <a:lnTo>
                  <a:pt x="4987290" y="347785"/>
                </a:lnTo>
                <a:lnTo>
                  <a:pt x="5008245" y="302690"/>
                </a:lnTo>
                <a:lnTo>
                  <a:pt x="5029200" y="256032"/>
                </a:lnTo>
              </a:path>
            </a:pathLst>
          </a:custGeom>
          <a:noFill/>
          <a:ln w="30480">
            <a:solidFill>
              <a:srgbClr val="1C69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Freeform 24"/>
          <p:cNvSpPr/>
          <p:nvPr/>
        </p:nvSpPr>
        <p:spPr>
          <a:xfrm>
            <a:off x="6126480" y="3657600"/>
            <a:ext cx="5029200" cy="548640"/>
          </a:xfrm>
          <a:custGeom>
            <a:avLst/>
            <a:gdLst/>
            <a:ahLst/>
            <a:cxnLst/>
            <a:rect l="l" t="t" r="r" b="b"/>
            <a:pathLst>
              <a:path w="5029200" h="548640">
                <a:moveTo>
                  <a:pt x="0" y="274320"/>
                </a:moveTo>
                <a:lnTo>
                  <a:pt x="20955" y="224329"/>
                </a:lnTo>
                <a:lnTo>
                  <a:pt x="41910" y="176012"/>
                </a:lnTo>
                <a:lnTo>
                  <a:pt x="62865" y="130988"/>
                </a:lnTo>
                <a:lnTo>
                  <a:pt x="83820" y="90764"/>
                </a:lnTo>
                <a:lnTo>
                  <a:pt x="104775" y="56687"/>
                </a:lnTo>
                <a:lnTo>
                  <a:pt x="125730" y="29899"/>
                </a:lnTo>
                <a:lnTo>
                  <a:pt x="146685" y="11296"/>
                </a:lnTo>
                <a:lnTo>
                  <a:pt x="167640" y="1502"/>
                </a:lnTo>
                <a:lnTo>
                  <a:pt x="188595" y="845"/>
                </a:lnTo>
                <a:lnTo>
                  <a:pt x="209550" y="9347"/>
                </a:lnTo>
                <a:lnTo>
                  <a:pt x="230505" y="26722"/>
                </a:lnTo>
                <a:lnTo>
                  <a:pt x="251460" y="52390"/>
                </a:lnTo>
                <a:lnTo>
                  <a:pt x="272415" y="85490"/>
                </a:lnTo>
                <a:lnTo>
                  <a:pt x="293370" y="124914"/>
                </a:lnTo>
                <a:lnTo>
                  <a:pt x="314325" y="169342"/>
                </a:lnTo>
                <a:lnTo>
                  <a:pt x="335280" y="217285"/>
                </a:lnTo>
                <a:lnTo>
                  <a:pt x="356235" y="267139"/>
                </a:lnTo>
                <a:lnTo>
                  <a:pt x="377190" y="317233"/>
                </a:lnTo>
                <a:lnTo>
                  <a:pt x="398145" y="365889"/>
                </a:lnTo>
                <a:lnTo>
                  <a:pt x="419100" y="411479"/>
                </a:lnTo>
                <a:lnTo>
                  <a:pt x="440055" y="452476"/>
                </a:lnTo>
                <a:lnTo>
                  <a:pt x="461010" y="487506"/>
                </a:lnTo>
                <a:lnTo>
                  <a:pt x="481965" y="515397"/>
                </a:lnTo>
                <a:lnTo>
                  <a:pt x="502920" y="535213"/>
                </a:lnTo>
                <a:lnTo>
                  <a:pt x="523875" y="546293"/>
                </a:lnTo>
                <a:lnTo>
                  <a:pt x="544830" y="548264"/>
                </a:lnTo>
                <a:lnTo>
                  <a:pt x="565785" y="541060"/>
                </a:lnTo>
                <a:lnTo>
                  <a:pt x="586740" y="524923"/>
                </a:lnTo>
                <a:lnTo>
                  <a:pt x="607695" y="500394"/>
                </a:lnTo>
                <a:lnTo>
                  <a:pt x="628650" y="468293"/>
                </a:lnTo>
                <a:lnTo>
                  <a:pt x="649605" y="429696"/>
                </a:lnTo>
                <a:lnTo>
                  <a:pt x="670560" y="385895"/>
                </a:lnTo>
                <a:lnTo>
                  <a:pt x="691515" y="338358"/>
                </a:lnTo>
                <a:lnTo>
                  <a:pt x="712470" y="288676"/>
                </a:lnTo>
                <a:lnTo>
                  <a:pt x="733425" y="238514"/>
                </a:lnTo>
                <a:lnTo>
                  <a:pt x="754380" y="189550"/>
                </a:lnTo>
                <a:lnTo>
                  <a:pt x="775335" y="143425"/>
                </a:lnTo>
                <a:lnTo>
                  <a:pt x="796290" y="101684"/>
                </a:lnTo>
                <a:lnTo>
                  <a:pt x="817245" y="65725"/>
                </a:lnTo>
                <a:lnTo>
                  <a:pt x="838200" y="36751"/>
                </a:lnTo>
                <a:lnTo>
                  <a:pt x="859155" y="15734"/>
                </a:lnTo>
                <a:lnTo>
                  <a:pt x="880110" y="3377"/>
                </a:lnTo>
                <a:lnTo>
                  <a:pt x="901065" y="94"/>
                </a:lnTo>
                <a:lnTo>
                  <a:pt x="922020" y="5994"/>
                </a:lnTo>
                <a:lnTo>
                  <a:pt x="942975" y="20881"/>
                </a:lnTo>
                <a:lnTo>
                  <a:pt x="963930" y="44255"/>
                </a:lnTo>
                <a:lnTo>
                  <a:pt x="984885" y="75335"/>
                </a:lnTo>
                <a:lnTo>
                  <a:pt x="1005840" y="113078"/>
                </a:lnTo>
                <a:lnTo>
                  <a:pt x="1026795" y="156222"/>
                </a:lnTo>
                <a:lnTo>
                  <a:pt x="1047750" y="203320"/>
                </a:lnTo>
                <a:lnTo>
                  <a:pt x="1068705" y="252797"/>
                </a:lnTo>
                <a:lnTo>
                  <a:pt x="1089660" y="302994"/>
                </a:lnTo>
                <a:lnTo>
                  <a:pt x="1110615" y="352231"/>
                </a:lnTo>
                <a:lnTo>
                  <a:pt x="1131570" y="398858"/>
                </a:lnTo>
                <a:lnTo>
                  <a:pt x="1152525" y="441315"/>
                </a:lnTo>
                <a:lnTo>
                  <a:pt x="1173480" y="478179"/>
                </a:lnTo>
                <a:lnTo>
                  <a:pt x="1194435" y="508216"/>
                </a:lnTo>
                <a:lnTo>
                  <a:pt x="1215390" y="530419"/>
                </a:lnTo>
                <a:lnTo>
                  <a:pt x="1236345" y="544046"/>
                </a:lnTo>
                <a:lnTo>
                  <a:pt x="1257299" y="548640"/>
                </a:lnTo>
                <a:lnTo>
                  <a:pt x="1278255" y="544046"/>
                </a:lnTo>
                <a:lnTo>
                  <a:pt x="1299210" y="530419"/>
                </a:lnTo>
                <a:lnTo>
                  <a:pt x="1320165" y="508216"/>
                </a:lnTo>
                <a:lnTo>
                  <a:pt x="1341119" y="478179"/>
                </a:lnTo>
                <a:lnTo>
                  <a:pt x="1362075" y="441315"/>
                </a:lnTo>
                <a:lnTo>
                  <a:pt x="1383030" y="398858"/>
                </a:lnTo>
                <a:lnTo>
                  <a:pt x="1403985" y="352231"/>
                </a:lnTo>
                <a:lnTo>
                  <a:pt x="1424940" y="302994"/>
                </a:lnTo>
                <a:lnTo>
                  <a:pt x="1445895" y="252797"/>
                </a:lnTo>
                <a:lnTo>
                  <a:pt x="1466850" y="203320"/>
                </a:lnTo>
                <a:lnTo>
                  <a:pt x="1487805" y="156222"/>
                </a:lnTo>
                <a:lnTo>
                  <a:pt x="1508760" y="113078"/>
                </a:lnTo>
                <a:lnTo>
                  <a:pt x="1529715" y="75335"/>
                </a:lnTo>
                <a:lnTo>
                  <a:pt x="1550670" y="44255"/>
                </a:lnTo>
                <a:lnTo>
                  <a:pt x="1571624" y="20881"/>
                </a:lnTo>
                <a:lnTo>
                  <a:pt x="1592580" y="5994"/>
                </a:lnTo>
                <a:lnTo>
                  <a:pt x="1613535" y="94"/>
                </a:lnTo>
                <a:lnTo>
                  <a:pt x="1634490" y="3377"/>
                </a:lnTo>
                <a:lnTo>
                  <a:pt x="1655444" y="15734"/>
                </a:lnTo>
                <a:lnTo>
                  <a:pt x="1676400" y="36751"/>
                </a:lnTo>
                <a:lnTo>
                  <a:pt x="1697355" y="65725"/>
                </a:lnTo>
                <a:lnTo>
                  <a:pt x="1718310" y="101684"/>
                </a:lnTo>
                <a:lnTo>
                  <a:pt x="1739265" y="143425"/>
                </a:lnTo>
                <a:lnTo>
                  <a:pt x="1760220" y="189550"/>
                </a:lnTo>
                <a:lnTo>
                  <a:pt x="1781175" y="238514"/>
                </a:lnTo>
                <a:lnTo>
                  <a:pt x="1802130" y="288676"/>
                </a:lnTo>
                <a:lnTo>
                  <a:pt x="1823085" y="338358"/>
                </a:lnTo>
                <a:lnTo>
                  <a:pt x="1844040" y="385895"/>
                </a:lnTo>
                <a:lnTo>
                  <a:pt x="1864995" y="429696"/>
                </a:lnTo>
                <a:lnTo>
                  <a:pt x="1885949" y="468293"/>
                </a:lnTo>
                <a:lnTo>
                  <a:pt x="1906905" y="500394"/>
                </a:lnTo>
                <a:lnTo>
                  <a:pt x="1927860" y="524923"/>
                </a:lnTo>
                <a:lnTo>
                  <a:pt x="1948815" y="541060"/>
                </a:lnTo>
                <a:lnTo>
                  <a:pt x="1969770" y="548264"/>
                </a:lnTo>
                <a:lnTo>
                  <a:pt x="1990725" y="546293"/>
                </a:lnTo>
                <a:lnTo>
                  <a:pt x="2011680" y="535213"/>
                </a:lnTo>
                <a:lnTo>
                  <a:pt x="2032635" y="515397"/>
                </a:lnTo>
                <a:lnTo>
                  <a:pt x="2053590" y="487506"/>
                </a:lnTo>
                <a:lnTo>
                  <a:pt x="2074545" y="452476"/>
                </a:lnTo>
                <a:lnTo>
                  <a:pt x="2095500" y="411480"/>
                </a:lnTo>
                <a:lnTo>
                  <a:pt x="2116455" y="365889"/>
                </a:lnTo>
                <a:lnTo>
                  <a:pt x="2137410" y="317233"/>
                </a:lnTo>
                <a:lnTo>
                  <a:pt x="2158365" y="267139"/>
                </a:lnTo>
                <a:lnTo>
                  <a:pt x="2179320" y="217285"/>
                </a:lnTo>
                <a:lnTo>
                  <a:pt x="2200274" y="169342"/>
                </a:lnTo>
                <a:lnTo>
                  <a:pt x="2221230" y="124914"/>
                </a:lnTo>
                <a:lnTo>
                  <a:pt x="2242185" y="85490"/>
                </a:lnTo>
                <a:lnTo>
                  <a:pt x="2263140" y="52390"/>
                </a:lnTo>
                <a:lnTo>
                  <a:pt x="2284095" y="26722"/>
                </a:lnTo>
                <a:lnTo>
                  <a:pt x="2305050" y="9347"/>
                </a:lnTo>
                <a:lnTo>
                  <a:pt x="2326005" y="845"/>
                </a:lnTo>
                <a:lnTo>
                  <a:pt x="2346960" y="1502"/>
                </a:lnTo>
                <a:lnTo>
                  <a:pt x="2367915" y="11296"/>
                </a:lnTo>
                <a:lnTo>
                  <a:pt x="2388870" y="29899"/>
                </a:lnTo>
                <a:lnTo>
                  <a:pt x="2409825" y="56687"/>
                </a:lnTo>
                <a:lnTo>
                  <a:pt x="2430780" y="90764"/>
                </a:lnTo>
                <a:lnTo>
                  <a:pt x="2451735" y="130988"/>
                </a:lnTo>
                <a:lnTo>
                  <a:pt x="2472690" y="176012"/>
                </a:lnTo>
                <a:lnTo>
                  <a:pt x="2493645" y="224329"/>
                </a:lnTo>
                <a:lnTo>
                  <a:pt x="2514600" y="274320"/>
                </a:lnTo>
                <a:lnTo>
                  <a:pt x="2535555" y="324310"/>
                </a:lnTo>
                <a:lnTo>
                  <a:pt x="2556510" y="372627"/>
                </a:lnTo>
                <a:lnTo>
                  <a:pt x="2577465" y="417651"/>
                </a:lnTo>
                <a:lnTo>
                  <a:pt x="2598420" y="457875"/>
                </a:lnTo>
                <a:lnTo>
                  <a:pt x="2619375" y="491952"/>
                </a:lnTo>
                <a:lnTo>
                  <a:pt x="2640330" y="518740"/>
                </a:lnTo>
                <a:lnTo>
                  <a:pt x="2661285" y="537343"/>
                </a:lnTo>
                <a:lnTo>
                  <a:pt x="2682240" y="547137"/>
                </a:lnTo>
                <a:lnTo>
                  <a:pt x="2703195" y="547794"/>
                </a:lnTo>
                <a:lnTo>
                  <a:pt x="2724150" y="539292"/>
                </a:lnTo>
                <a:lnTo>
                  <a:pt x="2745105" y="521917"/>
                </a:lnTo>
                <a:lnTo>
                  <a:pt x="2766060" y="496249"/>
                </a:lnTo>
                <a:lnTo>
                  <a:pt x="2787015" y="463149"/>
                </a:lnTo>
                <a:lnTo>
                  <a:pt x="2807970" y="423725"/>
                </a:lnTo>
                <a:lnTo>
                  <a:pt x="2828925" y="379297"/>
                </a:lnTo>
                <a:lnTo>
                  <a:pt x="2849880" y="331354"/>
                </a:lnTo>
                <a:lnTo>
                  <a:pt x="2870835" y="281500"/>
                </a:lnTo>
                <a:lnTo>
                  <a:pt x="2891790" y="231406"/>
                </a:lnTo>
                <a:lnTo>
                  <a:pt x="2912745" y="182750"/>
                </a:lnTo>
                <a:lnTo>
                  <a:pt x="2933700" y="137159"/>
                </a:lnTo>
                <a:lnTo>
                  <a:pt x="2954655" y="96163"/>
                </a:lnTo>
                <a:lnTo>
                  <a:pt x="2975610" y="61133"/>
                </a:lnTo>
                <a:lnTo>
                  <a:pt x="2996565" y="33242"/>
                </a:lnTo>
                <a:lnTo>
                  <a:pt x="3017520" y="13426"/>
                </a:lnTo>
                <a:lnTo>
                  <a:pt x="3038475" y="2346"/>
                </a:lnTo>
                <a:lnTo>
                  <a:pt x="3059430" y="375"/>
                </a:lnTo>
                <a:lnTo>
                  <a:pt x="3080385" y="7579"/>
                </a:lnTo>
                <a:lnTo>
                  <a:pt x="3101340" y="23716"/>
                </a:lnTo>
                <a:lnTo>
                  <a:pt x="3122295" y="48245"/>
                </a:lnTo>
                <a:lnTo>
                  <a:pt x="3143250" y="80346"/>
                </a:lnTo>
                <a:lnTo>
                  <a:pt x="3164205" y="118943"/>
                </a:lnTo>
                <a:lnTo>
                  <a:pt x="3185160" y="162744"/>
                </a:lnTo>
                <a:lnTo>
                  <a:pt x="3206115" y="210281"/>
                </a:lnTo>
                <a:lnTo>
                  <a:pt x="3227070" y="259963"/>
                </a:lnTo>
                <a:lnTo>
                  <a:pt x="3248025" y="310125"/>
                </a:lnTo>
                <a:lnTo>
                  <a:pt x="3268980" y="359089"/>
                </a:lnTo>
                <a:lnTo>
                  <a:pt x="3289935" y="405214"/>
                </a:lnTo>
                <a:lnTo>
                  <a:pt x="3310890" y="446955"/>
                </a:lnTo>
                <a:lnTo>
                  <a:pt x="3331845" y="482914"/>
                </a:lnTo>
                <a:lnTo>
                  <a:pt x="3352800" y="511888"/>
                </a:lnTo>
                <a:lnTo>
                  <a:pt x="3373755" y="532905"/>
                </a:lnTo>
                <a:lnTo>
                  <a:pt x="3394710" y="545262"/>
                </a:lnTo>
                <a:lnTo>
                  <a:pt x="3415665" y="548545"/>
                </a:lnTo>
                <a:lnTo>
                  <a:pt x="3436620" y="542645"/>
                </a:lnTo>
                <a:lnTo>
                  <a:pt x="3457575" y="527758"/>
                </a:lnTo>
                <a:lnTo>
                  <a:pt x="3478530" y="504384"/>
                </a:lnTo>
                <a:lnTo>
                  <a:pt x="3499485" y="473304"/>
                </a:lnTo>
                <a:lnTo>
                  <a:pt x="3520440" y="435561"/>
                </a:lnTo>
                <a:lnTo>
                  <a:pt x="3541395" y="392417"/>
                </a:lnTo>
                <a:lnTo>
                  <a:pt x="3562350" y="345319"/>
                </a:lnTo>
                <a:lnTo>
                  <a:pt x="3583305" y="295842"/>
                </a:lnTo>
                <a:lnTo>
                  <a:pt x="3604260" y="245645"/>
                </a:lnTo>
                <a:lnTo>
                  <a:pt x="3625215" y="196408"/>
                </a:lnTo>
                <a:lnTo>
                  <a:pt x="3646170" y="149781"/>
                </a:lnTo>
                <a:lnTo>
                  <a:pt x="3667125" y="107324"/>
                </a:lnTo>
                <a:lnTo>
                  <a:pt x="3688080" y="70460"/>
                </a:lnTo>
                <a:lnTo>
                  <a:pt x="3709035" y="40423"/>
                </a:lnTo>
                <a:lnTo>
                  <a:pt x="3729990" y="18220"/>
                </a:lnTo>
                <a:lnTo>
                  <a:pt x="3750945" y="4593"/>
                </a:lnTo>
                <a:lnTo>
                  <a:pt x="3771900" y="0"/>
                </a:lnTo>
                <a:lnTo>
                  <a:pt x="3792855" y="4593"/>
                </a:lnTo>
                <a:lnTo>
                  <a:pt x="3813810" y="18220"/>
                </a:lnTo>
                <a:lnTo>
                  <a:pt x="3834765" y="40423"/>
                </a:lnTo>
                <a:lnTo>
                  <a:pt x="3855720" y="70460"/>
                </a:lnTo>
                <a:lnTo>
                  <a:pt x="3876675" y="107324"/>
                </a:lnTo>
                <a:lnTo>
                  <a:pt x="3897630" y="149781"/>
                </a:lnTo>
                <a:lnTo>
                  <a:pt x="3918585" y="196408"/>
                </a:lnTo>
                <a:lnTo>
                  <a:pt x="3939540" y="245645"/>
                </a:lnTo>
                <a:lnTo>
                  <a:pt x="3960495" y="295842"/>
                </a:lnTo>
                <a:lnTo>
                  <a:pt x="3981450" y="345319"/>
                </a:lnTo>
                <a:lnTo>
                  <a:pt x="4002405" y="392417"/>
                </a:lnTo>
                <a:lnTo>
                  <a:pt x="4023360" y="435561"/>
                </a:lnTo>
                <a:lnTo>
                  <a:pt x="4044315" y="473304"/>
                </a:lnTo>
                <a:lnTo>
                  <a:pt x="4065270" y="504384"/>
                </a:lnTo>
                <a:lnTo>
                  <a:pt x="4086225" y="527758"/>
                </a:lnTo>
                <a:lnTo>
                  <a:pt x="4107180" y="542645"/>
                </a:lnTo>
                <a:lnTo>
                  <a:pt x="4128135" y="548545"/>
                </a:lnTo>
                <a:lnTo>
                  <a:pt x="4149090" y="545262"/>
                </a:lnTo>
                <a:lnTo>
                  <a:pt x="4170045" y="532905"/>
                </a:lnTo>
                <a:lnTo>
                  <a:pt x="4191000" y="511888"/>
                </a:lnTo>
                <a:lnTo>
                  <a:pt x="4211955" y="482914"/>
                </a:lnTo>
                <a:lnTo>
                  <a:pt x="4232910" y="446955"/>
                </a:lnTo>
                <a:lnTo>
                  <a:pt x="4253865" y="405214"/>
                </a:lnTo>
                <a:lnTo>
                  <a:pt x="4274820" y="359089"/>
                </a:lnTo>
                <a:lnTo>
                  <a:pt x="4295775" y="310125"/>
                </a:lnTo>
                <a:lnTo>
                  <a:pt x="4316730" y="259963"/>
                </a:lnTo>
                <a:lnTo>
                  <a:pt x="4337685" y="210281"/>
                </a:lnTo>
                <a:lnTo>
                  <a:pt x="4358640" y="162744"/>
                </a:lnTo>
                <a:lnTo>
                  <a:pt x="4379595" y="118943"/>
                </a:lnTo>
                <a:lnTo>
                  <a:pt x="4400550" y="80346"/>
                </a:lnTo>
                <a:lnTo>
                  <a:pt x="4421505" y="48245"/>
                </a:lnTo>
                <a:lnTo>
                  <a:pt x="4442460" y="23716"/>
                </a:lnTo>
                <a:lnTo>
                  <a:pt x="4463415" y="7579"/>
                </a:lnTo>
                <a:lnTo>
                  <a:pt x="4484370" y="375"/>
                </a:lnTo>
                <a:lnTo>
                  <a:pt x="4505325" y="2346"/>
                </a:lnTo>
                <a:lnTo>
                  <a:pt x="4526280" y="13426"/>
                </a:lnTo>
                <a:lnTo>
                  <a:pt x="4547235" y="33242"/>
                </a:lnTo>
                <a:lnTo>
                  <a:pt x="4568190" y="61133"/>
                </a:lnTo>
                <a:lnTo>
                  <a:pt x="4589145" y="96163"/>
                </a:lnTo>
                <a:lnTo>
                  <a:pt x="4610100" y="137159"/>
                </a:lnTo>
                <a:lnTo>
                  <a:pt x="4631055" y="182750"/>
                </a:lnTo>
                <a:lnTo>
                  <a:pt x="4652010" y="231406"/>
                </a:lnTo>
                <a:lnTo>
                  <a:pt x="4672965" y="281500"/>
                </a:lnTo>
                <a:lnTo>
                  <a:pt x="4693920" y="331354"/>
                </a:lnTo>
                <a:lnTo>
                  <a:pt x="4714875" y="379297"/>
                </a:lnTo>
                <a:lnTo>
                  <a:pt x="4735830" y="423725"/>
                </a:lnTo>
                <a:lnTo>
                  <a:pt x="4756785" y="463149"/>
                </a:lnTo>
                <a:lnTo>
                  <a:pt x="4777740" y="496249"/>
                </a:lnTo>
                <a:lnTo>
                  <a:pt x="4798695" y="521917"/>
                </a:lnTo>
                <a:lnTo>
                  <a:pt x="4819650" y="539292"/>
                </a:lnTo>
                <a:lnTo>
                  <a:pt x="4840605" y="547794"/>
                </a:lnTo>
                <a:lnTo>
                  <a:pt x="4861560" y="547137"/>
                </a:lnTo>
                <a:lnTo>
                  <a:pt x="4882515" y="537343"/>
                </a:lnTo>
                <a:lnTo>
                  <a:pt x="4903470" y="518740"/>
                </a:lnTo>
                <a:lnTo>
                  <a:pt x="4924425" y="491952"/>
                </a:lnTo>
                <a:lnTo>
                  <a:pt x="4945380" y="457875"/>
                </a:lnTo>
                <a:lnTo>
                  <a:pt x="4966335" y="417651"/>
                </a:lnTo>
                <a:lnTo>
                  <a:pt x="4987290" y="372627"/>
                </a:lnTo>
                <a:lnTo>
                  <a:pt x="5008245" y="324310"/>
                </a:lnTo>
                <a:lnTo>
                  <a:pt x="5029200" y="274320"/>
                </a:lnTo>
              </a:path>
            </a:pathLst>
          </a:custGeom>
          <a:noFill/>
          <a:ln w="25400">
            <a:solidFill>
              <a:srgbClr val="17232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126480" y="4626864"/>
            <a:ext cx="5029200" cy="731520"/>
          </a:xfrm>
          <a:prstGeom prst="rect">
            <a:avLst/>
          </a:prstGeom>
          <a:noFill/>
        </p:spPr>
        <p:txBody>
          <a:bodyPr wrap="square" lIns="0" rIns="0" tIns="0" bIns="0" anchor="t">
            <a:spAutoFit/>
          </a:bodyPr>
          <a:lstStyle/>
          <a:p>
            <a:pPr algn="l">
              <a:lnSpc>
                <a:spcPct val="106000"/>
              </a:lnSpc>
              <a:spcBef>
                <a:spcPts val="0"/>
              </a:spcBef>
              <a:spcAft>
                <a:spcPts val="0"/>
              </a:spcAft>
              <a:defRPr sz="2300" b="1" i="0">
                <a:solidFill>
                  <a:srgbClr val="1C6970"/>
                </a:solidFill>
                <a:latin typeface="Calibri"/>
              </a:defRPr>
            </a:pPr>
            <a:r>
              <a:t>Airflow stops; effort continues.</a:t>
            </a:r>
          </a:p>
        </p:txBody>
      </p:sp>
      <p:sp>
        <p:nvSpPr>
          <p:cNvPr id="27" name="TextBox 26"/>
          <p:cNvSpPr txBox="1"/>
          <p:nvPr/>
        </p:nvSpPr>
        <p:spPr>
          <a:xfrm>
            <a:off x="6126480" y="5193792"/>
            <a:ext cx="5029200" cy="228600"/>
          </a:xfrm>
          <a:prstGeom prst="rect">
            <a:avLst/>
          </a:prstGeom>
          <a:noFill/>
        </p:spPr>
        <p:txBody>
          <a:bodyPr wrap="square" lIns="0" rIns="0" tIns="0" bIns="0" anchor="t">
            <a:spAutoFit/>
          </a:bodyPr>
          <a:lstStyle/>
          <a:p>
            <a:pPr algn="l">
              <a:lnSpc>
                <a:spcPct val="106000"/>
              </a:lnSpc>
              <a:spcBef>
                <a:spcPts val="0"/>
              </a:spcBef>
              <a:spcAft>
                <a:spcPts val="0"/>
              </a:spcAft>
              <a:defRPr sz="1200" b="0" i="0">
                <a:solidFill>
                  <a:srgbClr val="596A70"/>
                </a:solidFill>
                <a:latin typeface="Calibri"/>
              </a:defRPr>
            </a:pPr>
            <a:r>
              <a:t>Conceptual tracings; not patient data.</a:t>
            </a:r>
          </a:p>
        </p:txBody>
      </p:sp>
      <p:sp>
        <p:nvSpPr>
          <p:cNvPr id="28" name="Rectangle 27"/>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172326"/>
                </a:solidFill>
                <a:latin typeface="Calibri"/>
              </a:defRPr>
            </a:pPr>
            <a:r>
              <a:t>An airway-patency disorder, not necessarily daytime ventilatory failure.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II · SLEEP APNEA AND PAP</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Nasal CPAP, 1981</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Sullivan et al. 1981 [R11] · Sullivan et al. 1984 [R45]</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S06</a:t>
            </a:r>
          </a:p>
        </p:txBody>
      </p:sp>
      <p:sp>
        <p:nvSpPr>
          <p:cNvPr id="12" name="TextBox 11"/>
          <p:cNvSpPr txBox="1"/>
          <p:nvPr/>
        </p:nvSpPr>
        <p:spPr>
          <a:xfrm>
            <a:off x="585216" y="1783080"/>
            <a:ext cx="2560320" cy="722376"/>
          </a:xfrm>
          <a:prstGeom prst="rect">
            <a:avLst/>
          </a:prstGeom>
          <a:noFill/>
        </p:spPr>
        <p:txBody>
          <a:bodyPr wrap="square" lIns="0" rIns="0" tIns="0" bIns="0" anchor="t">
            <a:spAutoFit/>
          </a:bodyPr>
          <a:lstStyle/>
          <a:p>
            <a:pPr algn="l">
              <a:lnSpc>
                <a:spcPct val="106000"/>
              </a:lnSpc>
              <a:spcBef>
                <a:spcPts val="0"/>
              </a:spcBef>
              <a:spcAft>
                <a:spcPts val="0"/>
              </a:spcAft>
              <a:defRPr sz="4400" b="1" i="0">
                <a:solidFill>
                  <a:srgbClr val="1C6970"/>
                </a:solidFill>
                <a:latin typeface="Calibri"/>
              </a:defRPr>
            </a:pPr>
            <a:r>
              <a:t>5</a:t>
            </a:r>
          </a:p>
        </p:txBody>
      </p:sp>
      <p:sp>
        <p:nvSpPr>
          <p:cNvPr id="13" name="TextBox 12"/>
          <p:cNvSpPr txBox="1"/>
          <p:nvPr/>
        </p:nvSpPr>
        <p:spPr>
          <a:xfrm>
            <a:off x="585216" y="2578608"/>
            <a:ext cx="2560320" cy="713232"/>
          </a:xfrm>
          <a:prstGeom prst="rect">
            <a:avLst/>
          </a:prstGeom>
          <a:noFill/>
        </p:spPr>
        <p:txBody>
          <a:bodyPr wrap="square" lIns="0" rIns="0" tIns="0" bIns="0" anchor="t">
            <a:spAutoFit/>
          </a:bodyPr>
          <a:lstStyle/>
          <a:p>
            <a:pPr algn="l">
              <a:lnSpc>
                <a:spcPct val="106000"/>
              </a:lnSpc>
              <a:spcBef>
                <a:spcPts val="0"/>
              </a:spcBef>
              <a:spcAft>
                <a:spcPts val="0"/>
              </a:spcAft>
              <a:defRPr sz="2100" b="0" i="0">
                <a:solidFill>
                  <a:srgbClr val="253438"/>
                </a:solidFill>
                <a:latin typeface="Calibri"/>
              </a:defRPr>
            </a:pPr>
            <a:r>
              <a:t>patients with severe</a:t>
            </a:r>
          </a:p>
          <a:p>
            <a:pPr algn="l">
              <a:lnSpc>
                <a:spcPct val="106000"/>
              </a:lnSpc>
              <a:spcBef>
                <a:spcPts val="0"/>
              </a:spcBef>
              <a:spcAft>
                <a:spcPts val="0"/>
              </a:spcAft>
              <a:defRPr sz="2100" b="0" i="0">
                <a:solidFill>
                  <a:srgbClr val="253438"/>
                </a:solidFill>
                <a:latin typeface="Calibri"/>
              </a:defRPr>
            </a:pPr>
            <a:r>
              <a:t>OSA</a:t>
            </a:r>
          </a:p>
        </p:txBody>
      </p:sp>
      <p:sp>
        <p:nvSpPr>
          <p:cNvPr id="14" name="TextBox 13"/>
          <p:cNvSpPr txBox="1"/>
          <p:nvPr/>
        </p:nvSpPr>
        <p:spPr>
          <a:xfrm>
            <a:off x="3328416" y="1783080"/>
            <a:ext cx="2560320" cy="722376"/>
          </a:xfrm>
          <a:prstGeom prst="rect">
            <a:avLst/>
          </a:prstGeom>
          <a:noFill/>
        </p:spPr>
        <p:txBody>
          <a:bodyPr wrap="square" lIns="0" rIns="0" tIns="0" bIns="0" anchor="t">
            <a:spAutoFit/>
          </a:bodyPr>
          <a:lstStyle/>
          <a:p>
            <a:pPr algn="l">
              <a:lnSpc>
                <a:spcPct val="106000"/>
              </a:lnSpc>
              <a:spcBef>
                <a:spcPts val="0"/>
              </a:spcBef>
              <a:spcAft>
                <a:spcPts val="0"/>
              </a:spcAft>
              <a:defRPr sz="4400" b="1" i="0">
                <a:solidFill>
                  <a:srgbClr val="1C6970"/>
                </a:solidFill>
                <a:latin typeface="Calibri"/>
              </a:defRPr>
            </a:pPr>
            <a:r>
              <a:t>4.5–10</a:t>
            </a:r>
          </a:p>
        </p:txBody>
      </p:sp>
      <p:sp>
        <p:nvSpPr>
          <p:cNvPr id="15" name="TextBox 14"/>
          <p:cNvSpPr txBox="1"/>
          <p:nvPr/>
        </p:nvSpPr>
        <p:spPr>
          <a:xfrm>
            <a:off x="3328416" y="2578608"/>
            <a:ext cx="2560320" cy="713232"/>
          </a:xfrm>
          <a:prstGeom prst="rect">
            <a:avLst/>
          </a:prstGeom>
          <a:noFill/>
        </p:spPr>
        <p:txBody>
          <a:bodyPr wrap="square" lIns="0" rIns="0" tIns="0" bIns="0" anchor="t">
            <a:spAutoFit/>
          </a:bodyPr>
          <a:lstStyle/>
          <a:p>
            <a:pPr algn="l">
              <a:lnSpc>
                <a:spcPct val="106000"/>
              </a:lnSpc>
              <a:spcBef>
                <a:spcPts val="0"/>
              </a:spcBef>
              <a:spcAft>
                <a:spcPts val="0"/>
              </a:spcAft>
              <a:defRPr sz="2100" b="0" i="0">
                <a:solidFill>
                  <a:srgbClr val="253438"/>
                </a:solidFill>
                <a:latin typeface="Calibri"/>
              </a:defRPr>
            </a:pPr>
            <a:r>
              <a:t>cm H₂O in the original</a:t>
            </a:r>
          </a:p>
          <a:p>
            <a:pPr algn="l">
              <a:lnSpc>
                <a:spcPct val="106000"/>
              </a:lnSpc>
              <a:spcBef>
                <a:spcPts val="0"/>
              </a:spcBef>
              <a:spcAft>
                <a:spcPts val="0"/>
              </a:spcAft>
              <a:defRPr sz="2100" b="0" i="0">
                <a:solidFill>
                  <a:srgbClr val="253438"/>
                </a:solidFill>
                <a:latin typeface="Calibri"/>
              </a:defRPr>
            </a:pPr>
            <a:r>
              <a:t>report</a:t>
            </a:r>
          </a:p>
        </p:txBody>
      </p:sp>
      <p:sp>
        <p:nvSpPr>
          <p:cNvPr id="16" name="TextBox 15"/>
          <p:cNvSpPr txBox="1"/>
          <p:nvPr/>
        </p:nvSpPr>
        <p:spPr>
          <a:xfrm>
            <a:off x="585216" y="3328416"/>
            <a:ext cx="5120640" cy="274320"/>
          </a:xfrm>
          <a:prstGeom prst="rect">
            <a:avLst/>
          </a:prstGeom>
          <a:noFill/>
        </p:spPr>
        <p:txBody>
          <a:bodyPr wrap="square" lIns="0" rIns="0" tIns="0" bIns="0" anchor="t">
            <a:spAutoFit/>
          </a:bodyPr>
          <a:lstStyle/>
          <a:p>
            <a:pPr algn="l">
              <a:lnSpc>
                <a:spcPct val="106000"/>
              </a:lnSpc>
              <a:spcBef>
                <a:spcPts val="0"/>
              </a:spcBef>
              <a:spcAft>
                <a:spcPts val="0"/>
              </a:spcAft>
              <a:defRPr sz="1700" b="0" i="0">
                <a:solidFill>
                  <a:srgbClr val="596A70"/>
                </a:solidFill>
                <a:latin typeface="Calibri"/>
              </a:defRPr>
            </a:pPr>
            <a:r>
              <a:t>Sullivan et al. · Lancet 1981</a:t>
            </a:r>
          </a:p>
        </p:txBody>
      </p:sp>
      <p:cxnSp>
        <p:nvCxnSpPr>
          <p:cNvPr id="17" name="Connector 16"/>
          <p:cNvCxnSpPr/>
          <p:nvPr/>
        </p:nvCxnSpPr>
        <p:spPr>
          <a:xfrm>
            <a:off x="6400800" y="3657600"/>
            <a:ext cx="0" cy="1463040"/>
          </a:xfrm>
          <a:prstGeom prst="line">
            <a:avLst/>
          </a:prstGeom>
          <a:ln w="12700">
            <a:solidFill>
              <a:srgbClr val="CBD5D8"/>
            </a:solidFill>
          </a:ln>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6400800" y="5120640"/>
            <a:ext cx="4800600" cy="0"/>
          </a:xfrm>
          <a:prstGeom prst="line">
            <a:avLst/>
          </a:prstGeom>
          <a:ln w="12700">
            <a:solidFill>
              <a:srgbClr val="CBD5D8"/>
            </a:solidFill>
          </a:ln>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6510528" y="4315968"/>
            <a:ext cx="4553712" cy="0"/>
          </a:xfrm>
          <a:prstGeom prst="line">
            <a:avLst/>
          </a:prstGeom>
          <a:ln w="38100">
            <a:solidFill>
              <a:srgbClr val="1C6970"/>
            </a:solidFill>
          </a:ln>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6400800" y="3529584"/>
            <a:ext cx="4800600" cy="548640"/>
          </a:xfrm>
          <a:prstGeom prst="rect">
            <a:avLst/>
          </a:prstGeom>
          <a:noFill/>
        </p:spPr>
        <p:txBody>
          <a:bodyPr wrap="square" lIns="0" rIns="0" tIns="0" bIns="0" anchor="t">
            <a:spAutoFit/>
          </a:bodyPr>
          <a:lstStyle/>
          <a:p>
            <a:pPr algn="l">
              <a:lnSpc>
                <a:spcPct val="106000"/>
              </a:lnSpc>
              <a:spcBef>
                <a:spcPts val="0"/>
              </a:spcBef>
              <a:spcAft>
                <a:spcPts val="0"/>
              </a:spcAft>
              <a:defRPr sz="2300" b="1" i="0">
                <a:solidFill>
                  <a:srgbClr val="253438"/>
                </a:solidFill>
                <a:latin typeface="Calibri"/>
              </a:defRPr>
            </a:pPr>
            <a:r>
              <a:t>Continuous airway pressure</a:t>
            </a:r>
          </a:p>
        </p:txBody>
      </p:sp>
      <p:sp>
        <p:nvSpPr>
          <p:cNvPr id="21" name="TextBox 20"/>
          <p:cNvSpPr txBox="1"/>
          <p:nvPr/>
        </p:nvSpPr>
        <p:spPr>
          <a:xfrm>
            <a:off x="10561320" y="5157216"/>
            <a:ext cx="731520" cy="274320"/>
          </a:xfrm>
          <a:prstGeom prst="rect">
            <a:avLst/>
          </a:prstGeom>
          <a:noFill/>
        </p:spPr>
        <p:txBody>
          <a:bodyPr wrap="square" lIns="0" rIns="0" tIns="0" bIns="0" anchor="t">
            <a:spAutoFit/>
          </a:bodyPr>
          <a:lstStyle/>
          <a:p>
            <a:pPr algn="l">
              <a:lnSpc>
                <a:spcPct val="106000"/>
              </a:lnSpc>
              <a:spcBef>
                <a:spcPts val="0"/>
              </a:spcBef>
              <a:spcAft>
                <a:spcPts val="0"/>
              </a:spcAft>
              <a:defRPr sz="1500" b="0" i="0">
                <a:solidFill>
                  <a:srgbClr val="596A70"/>
                </a:solidFill>
                <a:latin typeface="Calibri"/>
              </a:defRPr>
            </a:pPr>
            <a:r>
              <a:t>Time</a:t>
            </a:r>
          </a:p>
        </p:txBody>
      </p:sp>
      <p:sp>
        <p:nvSpPr>
          <p:cNvPr id="22" name="TextBox 21"/>
          <p:cNvSpPr txBox="1"/>
          <p:nvPr/>
        </p:nvSpPr>
        <p:spPr>
          <a:xfrm>
            <a:off x="6400800" y="4572000"/>
            <a:ext cx="4800600" cy="502920"/>
          </a:xfrm>
          <a:prstGeom prst="rect">
            <a:avLst/>
          </a:prstGeom>
          <a:noFill/>
        </p:spPr>
        <p:txBody>
          <a:bodyPr wrap="square" lIns="0" rIns="0" tIns="0" bIns="0" anchor="t">
            <a:spAutoFit/>
          </a:bodyPr>
          <a:lstStyle/>
          <a:p>
            <a:pPr algn="l">
              <a:lnSpc>
                <a:spcPct val="106000"/>
              </a:lnSpc>
              <a:spcBef>
                <a:spcPts val="0"/>
              </a:spcBef>
              <a:spcAft>
                <a:spcPts val="0"/>
              </a:spcAft>
              <a:defRPr sz="1900" b="0" i="0">
                <a:solidFill>
                  <a:srgbClr val="596A70"/>
                </a:solidFill>
                <a:latin typeface="Calibri"/>
              </a:defRPr>
            </a:pPr>
            <a:r>
              <a:t>No independent IPAP–EPAP difference</a:t>
            </a:r>
          </a:p>
        </p:txBody>
      </p:sp>
      <p:cxnSp>
        <p:nvCxnSpPr>
          <p:cNvPr id="23" name="Connector 22"/>
          <p:cNvCxnSpPr/>
          <p:nvPr/>
        </p:nvCxnSpPr>
        <p:spPr>
          <a:xfrm>
            <a:off x="585216" y="3877056"/>
            <a:ext cx="182880" cy="0"/>
          </a:xfrm>
          <a:prstGeom prst="line">
            <a:avLst/>
          </a:prstGeom>
          <a:ln w="25400">
            <a:solidFill>
              <a:srgbClr val="1C6970"/>
            </a:solidFill>
          </a:ln>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932688" y="3785616"/>
            <a:ext cx="5010912" cy="530352"/>
          </a:xfrm>
          <a:prstGeom prst="rect">
            <a:avLst/>
          </a:prstGeom>
          <a:noFill/>
        </p:spPr>
        <p:txBody>
          <a:bodyPr wrap="square" lIns="0" rIns="0" tIns="0" bIns="0" anchor="t">
            <a:spAutoFit/>
          </a:bodyPr>
          <a:lstStyle/>
          <a:p>
            <a:pPr algn="l">
              <a:lnSpc>
                <a:spcPct val="106000"/>
              </a:lnSpc>
              <a:spcBef>
                <a:spcPts val="0"/>
              </a:spcBef>
              <a:spcAft>
                <a:spcPts val="0"/>
              </a:spcAft>
              <a:defRPr sz="2000" b="0" i="0">
                <a:solidFill>
                  <a:srgbClr val="253438"/>
                </a:solidFill>
                <a:latin typeface="Calibri"/>
              </a:defRPr>
            </a:pPr>
            <a:r>
              <a:t>Pneumatic splinting of the upper airway</a:t>
            </a:r>
          </a:p>
        </p:txBody>
      </p:sp>
      <p:cxnSp>
        <p:nvCxnSpPr>
          <p:cNvPr id="25" name="Connector 24"/>
          <p:cNvCxnSpPr/>
          <p:nvPr/>
        </p:nvCxnSpPr>
        <p:spPr>
          <a:xfrm>
            <a:off x="585216" y="4443984"/>
            <a:ext cx="182880" cy="0"/>
          </a:xfrm>
          <a:prstGeom prst="line">
            <a:avLst/>
          </a:prstGeom>
          <a:ln w="25400">
            <a:solidFill>
              <a:srgbClr val="1C6970"/>
            </a:solidFill>
          </a:ln>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32688" y="4352544"/>
            <a:ext cx="5010912" cy="530352"/>
          </a:xfrm>
          <a:prstGeom prst="rect">
            <a:avLst/>
          </a:prstGeom>
          <a:noFill/>
        </p:spPr>
        <p:txBody>
          <a:bodyPr wrap="square" lIns="0" rIns="0" tIns="0" bIns="0" anchor="t">
            <a:spAutoFit/>
          </a:bodyPr>
          <a:lstStyle/>
          <a:p>
            <a:pPr algn="l">
              <a:lnSpc>
                <a:spcPct val="106000"/>
              </a:lnSpc>
              <a:spcBef>
                <a:spcPts val="0"/>
              </a:spcBef>
              <a:spcAft>
                <a:spcPts val="0"/>
              </a:spcAft>
              <a:defRPr sz="2000" b="0" i="0">
                <a:solidFill>
                  <a:srgbClr val="253438"/>
                </a:solidFill>
                <a:latin typeface="Calibri"/>
              </a:defRPr>
            </a:pPr>
            <a:r>
              <a:t>No separate inspiratory pressure-support level</a:t>
            </a:r>
          </a:p>
        </p:txBody>
      </p:sp>
      <p:cxnSp>
        <p:nvCxnSpPr>
          <p:cNvPr id="27" name="Connector 26"/>
          <p:cNvCxnSpPr/>
          <p:nvPr/>
        </p:nvCxnSpPr>
        <p:spPr>
          <a:xfrm>
            <a:off x="585216" y="5010912"/>
            <a:ext cx="182880" cy="0"/>
          </a:xfrm>
          <a:prstGeom prst="line">
            <a:avLst/>
          </a:prstGeom>
          <a:ln w="25400">
            <a:solidFill>
              <a:srgbClr val="1C6970"/>
            </a:solidFill>
          </a:ln>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32688" y="4919472"/>
            <a:ext cx="5010912" cy="530352"/>
          </a:xfrm>
          <a:prstGeom prst="rect">
            <a:avLst/>
          </a:prstGeom>
          <a:noFill/>
        </p:spPr>
        <p:txBody>
          <a:bodyPr wrap="square" lIns="0" rIns="0" tIns="0" bIns="0" anchor="t">
            <a:spAutoFit/>
          </a:bodyPr>
          <a:lstStyle/>
          <a:p>
            <a:pPr algn="l">
              <a:lnSpc>
                <a:spcPct val="106000"/>
              </a:lnSpc>
              <a:spcBef>
                <a:spcPts val="0"/>
              </a:spcBef>
              <a:spcAft>
                <a:spcPts val="0"/>
              </a:spcAft>
              <a:defRPr sz="2000" b="0" i="0">
                <a:solidFill>
                  <a:srgbClr val="253438"/>
                </a:solidFill>
                <a:latin typeface="Calibri"/>
              </a:defRPr>
            </a:pPr>
            <a:r>
              <a:t>1984 report: 35 patients on home treatment</a:t>
            </a:r>
          </a:p>
          <a:p>
            <a:pPr algn="l">
              <a:lnSpc>
                <a:spcPct val="106000"/>
              </a:lnSpc>
              <a:spcBef>
                <a:spcPts val="0"/>
              </a:spcBef>
              <a:spcAft>
                <a:spcPts val="0"/>
              </a:spcAft>
              <a:defRPr sz="2000" b="0" i="0">
                <a:solidFill>
                  <a:srgbClr val="253438"/>
                </a:solidFill>
                <a:latin typeface="Calibri"/>
              </a:defRPr>
            </a:pPr>
            <a:r>
              <a:t>for 3–30 months</a:t>
            </a:r>
          </a:p>
        </p:txBody>
      </p:sp>
      <p:sp>
        <p:nvSpPr>
          <p:cNvPr id="29" name="Rectangle 28"/>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172326"/>
                </a:solidFill>
                <a:latin typeface="Calibri"/>
              </a:defRPr>
            </a:pPr>
            <a:r>
              <a:t>A flow generator, nasal interface, and continuous positive pressure.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II · SLEEP APNEA AND PAP</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PAP: a sleep-apnea coverage pathway</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CMS NCD 240.4 [R44] · CMS LCD L33718 [R18] · R39</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S07</a:t>
            </a:r>
          </a:p>
        </p:txBody>
      </p:sp>
      <p:sp>
        <p:nvSpPr>
          <p:cNvPr id="12" name="TextBox 11"/>
          <p:cNvSpPr txBox="1"/>
          <p:nvPr/>
        </p:nvSpPr>
        <p:spPr>
          <a:xfrm>
            <a:off x="585216" y="1636776"/>
            <a:ext cx="11021567" cy="201168"/>
          </a:xfrm>
          <a:prstGeom prst="rect">
            <a:avLst/>
          </a:prstGeom>
          <a:noFill/>
        </p:spPr>
        <p:txBody>
          <a:bodyPr wrap="square" lIns="0" rIns="0" tIns="0" bIns="0" anchor="t">
            <a:spAutoFit/>
          </a:bodyPr>
          <a:lstStyle/>
          <a:p>
            <a:pPr algn="l">
              <a:lnSpc>
                <a:spcPct val="106000"/>
              </a:lnSpc>
              <a:spcBef>
                <a:spcPts val="0"/>
              </a:spcBef>
              <a:spcAft>
                <a:spcPts val="0"/>
              </a:spcAft>
              <a:defRPr sz="1100" b="0" i="0">
                <a:solidFill>
                  <a:srgbClr val="596A70"/>
                </a:solidFill>
                <a:latin typeface="Calibri"/>
              </a:defRPr>
            </a:pPr>
            <a:r>
              <a:t>Selected milestones · not to scale</a:t>
            </a:r>
          </a:p>
        </p:txBody>
      </p:sp>
      <p:cxnSp>
        <p:nvCxnSpPr>
          <p:cNvPr id="13" name="Connector 12"/>
          <p:cNvCxnSpPr/>
          <p:nvPr/>
        </p:nvCxnSpPr>
        <p:spPr>
          <a:xfrm>
            <a:off x="813816" y="2587752"/>
            <a:ext cx="10564367" cy="0"/>
          </a:xfrm>
          <a:prstGeom prst="line">
            <a:avLst/>
          </a:prstGeom>
          <a:ln w="22860">
            <a:solidFill>
              <a:srgbClr val="CBD5D8"/>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85216" y="1929384"/>
            <a:ext cx="3539743" cy="502920"/>
          </a:xfrm>
          <a:prstGeom prst="rect">
            <a:avLst/>
          </a:prstGeom>
          <a:noFill/>
        </p:spPr>
        <p:txBody>
          <a:bodyPr wrap="square" lIns="0" rIns="0" tIns="0" bIns="0" anchor="t">
            <a:spAutoFit/>
          </a:bodyPr>
          <a:lstStyle/>
          <a:p>
            <a:pPr algn="l">
              <a:lnSpc>
                <a:spcPct val="106000"/>
              </a:lnSpc>
              <a:spcBef>
                <a:spcPts val="0"/>
              </a:spcBef>
              <a:spcAft>
                <a:spcPts val="0"/>
              </a:spcAft>
              <a:defRPr sz="2800" b="1" i="0">
                <a:solidFill>
                  <a:srgbClr val="1C6970"/>
                </a:solidFill>
                <a:latin typeface="Calibri"/>
              </a:defRPr>
            </a:pPr>
            <a:r>
              <a:t>1987</a:t>
            </a:r>
          </a:p>
        </p:txBody>
      </p:sp>
      <p:sp>
        <p:nvSpPr>
          <p:cNvPr id="15" name="Oval 14"/>
          <p:cNvSpPr/>
          <p:nvPr/>
        </p:nvSpPr>
        <p:spPr>
          <a:xfrm>
            <a:off x="617220" y="2528316"/>
            <a:ext cx="118872" cy="118872"/>
          </a:xfrm>
          <a:prstGeom prst="ellipse">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85216" y="2953512"/>
            <a:ext cx="3494023" cy="950976"/>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Initial Medicare CPAP</a:t>
            </a:r>
          </a:p>
          <a:p>
            <a:pPr algn="l">
              <a:lnSpc>
                <a:spcPct val="106000"/>
              </a:lnSpc>
              <a:spcBef>
                <a:spcPts val="0"/>
              </a:spcBef>
              <a:spcAft>
                <a:spcPts val="0"/>
              </a:spcAft>
              <a:defRPr sz="2600" b="1" i="0">
                <a:solidFill>
                  <a:srgbClr val="172326"/>
                </a:solidFill>
                <a:latin typeface="Calibri"/>
              </a:defRPr>
            </a:pPr>
            <a:r>
              <a:t>coverage</a:t>
            </a:r>
          </a:p>
        </p:txBody>
      </p:sp>
      <p:sp>
        <p:nvSpPr>
          <p:cNvPr id="17" name="TextBox 16"/>
          <p:cNvSpPr txBox="1"/>
          <p:nvPr/>
        </p:nvSpPr>
        <p:spPr>
          <a:xfrm>
            <a:off x="585216" y="4041648"/>
            <a:ext cx="3466591" cy="1261872"/>
          </a:xfrm>
          <a:prstGeom prst="rect">
            <a:avLst/>
          </a:prstGeom>
          <a:noFill/>
        </p:spPr>
        <p:txBody>
          <a:bodyPr wrap="square" lIns="0" rIns="0" tIns="0" bIns="0" anchor="t">
            <a:spAutoFit/>
          </a:bodyPr>
          <a:lstStyle/>
          <a:p>
            <a:pPr algn="l">
              <a:lnSpc>
                <a:spcPct val="106000"/>
              </a:lnSpc>
              <a:spcBef>
                <a:spcPts val="0"/>
              </a:spcBef>
              <a:spcAft>
                <a:spcPts val="0"/>
              </a:spcAft>
              <a:defRPr sz="2500" b="0" i="0">
                <a:solidFill>
                  <a:srgbClr val="253438"/>
                </a:solidFill>
                <a:latin typeface="Calibri"/>
              </a:defRPr>
            </a:pPr>
            <a:r>
              <a:t>Selected adults with</a:t>
            </a:r>
          </a:p>
          <a:p>
            <a:pPr algn="l">
              <a:lnSpc>
                <a:spcPct val="106000"/>
              </a:lnSpc>
              <a:spcBef>
                <a:spcPts val="0"/>
              </a:spcBef>
              <a:spcAft>
                <a:spcPts val="0"/>
              </a:spcAft>
              <a:defRPr sz="2500" b="0" i="0">
                <a:solidFill>
                  <a:srgbClr val="253438"/>
                </a:solidFill>
                <a:latin typeface="Calibri"/>
              </a:defRPr>
            </a:pPr>
            <a:r>
              <a:t>moderate or severe OSA</a:t>
            </a:r>
          </a:p>
        </p:txBody>
      </p:sp>
      <p:sp>
        <p:nvSpPr>
          <p:cNvPr id="18" name="TextBox 17"/>
          <p:cNvSpPr txBox="1"/>
          <p:nvPr/>
        </p:nvSpPr>
        <p:spPr>
          <a:xfrm>
            <a:off x="4326127" y="1929384"/>
            <a:ext cx="3539743" cy="502920"/>
          </a:xfrm>
          <a:prstGeom prst="rect">
            <a:avLst/>
          </a:prstGeom>
          <a:noFill/>
        </p:spPr>
        <p:txBody>
          <a:bodyPr wrap="square" lIns="0" rIns="0" tIns="0" bIns="0" anchor="t">
            <a:spAutoFit/>
          </a:bodyPr>
          <a:lstStyle/>
          <a:p>
            <a:pPr algn="l">
              <a:lnSpc>
                <a:spcPct val="106000"/>
              </a:lnSpc>
              <a:spcBef>
                <a:spcPts val="0"/>
              </a:spcBef>
              <a:spcAft>
                <a:spcPts val="0"/>
              </a:spcAft>
              <a:defRPr sz="2800" b="1" i="0">
                <a:solidFill>
                  <a:srgbClr val="1C6970"/>
                </a:solidFill>
                <a:latin typeface="Calibri"/>
              </a:defRPr>
            </a:pPr>
            <a:r>
              <a:t>2002</a:t>
            </a:r>
          </a:p>
        </p:txBody>
      </p:sp>
      <p:sp>
        <p:nvSpPr>
          <p:cNvPr id="19" name="Oval 18"/>
          <p:cNvSpPr/>
          <p:nvPr/>
        </p:nvSpPr>
        <p:spPr>
          <a:xfrm>
            <a:off x="4358131" y="2528316"/>
            <a:ext cx="118872" cy="118872"/>
          </a:xfrm>
          <a:prstGeom prst="ellipse">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326127" y="2953512"/>
            <a:ext cx="3494023" cy="950976"/>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Expanded OSA coverage</a:t>
            </a:r>
          </a:p>
        </p:txBody>
      </p:sp>
      <p:sp>
        <p:nvSpPr>
          <p:cNvPr id="21" name="TextBox 20"/>
          <p:cNvSpPr txBox="1"/>
          <p:nvPr/>
        </p:nvSpPr>
        <p:spPr>
          <a:xfrm>
            <a:off x="4326127" y="4041648"/>
            <a:ext cx="3466591" cy="1261872"/>
          </a:xfrm>
          <a:prstGeom prst="rect">
            <a:avLst/>
          </a:prstGeom>
          <a:noFill/>
        </p:spPr>
        <p:txBody>
          <a:bodyPr wrap="square" lIns="0" rIns="0" tIns="0" bIns="0" anchor="t">
            <a:spAutoFit/>
          </a:bodyPr>
          <a:lstStyle/>
          <a:p>
            <a:pPr algn="l">
              <a:lnSpc>
                <a:spcPct val="106000"/>
              </a:lnSpc>
              <a:spcBef>
                <a:spcPts val="0"/>
              </a:spcBef>
              <a:spcAft>
                <a:spcPts val="0"/>
              </a:spcAft>
              <a:defRPr sz="2500" b="0" i="0">
                <a:solidFill>
                  <a:srgbClr val="253438"/>
                </a:solidFill>
                <a:latin typeface="Calibri"/>
              </a:defRPr>
            </a:pPr>
            <a:r>
              <a:t>AHI-based criteria with</a:t>
            </a:r>
          </a:p>
          <a:p>
            <a:pPr algn="l">
              <a:lnSpc>
                <a:spcPct val="106000"/>
              </a:lnSpc>
              <a:spcBef>
                <a:spcPts val="0"/>
              </a:spcBef>
              <a:spcAft>
                <a:spcPts val="0"/>
              </a:spcAft>
              <a:defRPr sz="2500" b="0" i="0">
                <a:solidFill>
                  <a:srgbClr val="253438"/>
                </a:solidFill>
                <a:latin typeface="Calibri"/>
              </a:defRPr>
            </a:pPr>
            <a:r>
              <a:t>qualifying symptoms or</a:t>
            </a:r>
          </a:p>
          <a:p>
            <a:pPr algn="l">
              <a:lnSpc>
                <a:spcPct val="106000"/>
              </a:lnSpc>
              <a:spcBef>
                <a:spcPts val="0"/>
              </a:spcBef>
              <a:spcAft>
                <a:spcPts val="0"/>
              </a:spcAft>
              <a:defRPr sz="2500" b="0" i="0">
                <a:solidFill>
                  <a:srgbClr val="253438"/>
                </a:solidFill>
                <a:latin typeface="Calibri"/>
              </a:defRPr>
            </a:pPr>
            <a:r>
              <a:t>comorbidity</a:t>
            </a:r>
          </a:p>
        </p:txBody>
      </p:sp>
      <p:sp>
        <p:nvSpPr>
          <p:cNvPr id="22" name="TextBox 21"/>
          <p:cNvSpPr txBox="1"/>
          <p:nvPr/>
        </p:nvSpPr>
        <p:spPr>
          <a:xfrm>
            <a:off x="8067039" y="1929384"/>
            <a:ext cx="3539743" cy="502920"/>
          </a:xfrm>
          <a:prstGeom prst="rect">
            <a:avLst/>
          </a:prstGeom>
          <a:noFill/>
        </p:spPr>
        <p:txBody>
          <a:bodyPr wrap="square" lIns="0" rIns="0" tIns="0" bIns="0" anchor="t">
            <a:spAutoFit/>
          </a:bodyPr>
          <a:lstStyle/>
          <a:p>
            <a:pPr algn="l">
              <a:lnSpc>
                <a:spcPct val="106000"/>
              </a:lnSpc>
              <a:spcBef>
                <a:spcPts val="0"/>
              </a:spcBef>
              <a:spcAft>
                <a:spcPts val="0"/>
              </a:spcAft>
              <a:defRPr sz="2800" b="1" i="0">
                <a:solidFill>
                  <a:srgbClr val="1C6970"/>
                </a:solidFill>
                <a:latin typeface="Calibri"/>
              </a:defRPr>
            </a:pPr>
            <a:r>
              <a:t>2008</a:t>
            </a:r>
          </a:p>
        </p:txBody>
      </p:sp>
      <p:sp>
        <p:nvSpPr>
          <p:cNvPr id="23" name="Oval 22"/>
          <p:cNvSpPr/>
          <p:nvPr/>
        </p:nvSpPr>
        <p:spPr>
          <a:xfrm>
            <a:off x="8099043" y="2528316"/>
            <a:ext cx="118872" cy="118872"/>
          </a:xfrm>
          <a:prstGeom prst="ellipse">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067039" y="2953512"/>
            <a:ext cx="3494023" cy="950976"/>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Home sleep testing and</a:t>
            </a:r>
          </a:p>
          <a:p>
            <a:pPr algn="l">
              <a:lnSpc>
                <a:spcPct val="106000"/>
              </a:lnSpc>
              <a:spcBef>
                <a:spcPts val="0"/>
              </a:spcBef>
              <a:spcAft>
                <a:spcPts val="0"/>
              </a:spcAft>
              <a:defRPr sz="2600" b="1" i="0">
                <a:solidFill>
                  <a:srgbClr val="172326"/>
                </a:solidFill>
                <a:latin typeface="Calibri"/>
              </a:defRPr>
            </a:pPr>
            <a:r>
              <a:t>trial period</a:t>
            </a:r>
          </a:p>
        </p:txBody>
      </p:sp>
      <p:sp>
        <p:nvSpPr>
          <p:cNvPr id="25" name="TextBox 24"/>
          <p:cNvSpPr txBox="1"/>
          <p:nvPr/>
        </p:nvSpPr>
        <p:spPr>
          <a:xfrm>
            <a:off x="8067039" y="4041648"/>
            <a:ext cx="3466591" cy="1261872"/>
          </a:xfrm>
          <a:prstGeom prst="rect">
            <a:avLst/>
          </a:prstGeom>
          <a:noFill/>
        </p:spPr>
        <p:txBody>
          <a:bodyPr wrap="square" lIns="0" rIns="0" tIns="0" bIns="0" anchor="t">
            <a:spAutoFit/>
          </a:bodyPr>
          <a:lstStyle/>
          <a:p>
            <a:pPr algn="l">
              <a:lnSpc>
                <a:spcPct val="106000"/>
              </a:lnSpc>
              <a:spcBef>
                <a:spcPts val="0"/>
              </a:spcBef>
              <a:spcAft>
                <a:spcPts val="0"/>
              </a:spcAft>
              <a:defRPr sz="2500" b="0" i="0">
                <a:solidFill>
                  <a:srgbClr val="253438"/>
                </a:solidFill>
                <a:latin typeface="Calibri"/>
              </a:defRPr>
            </a:pPr>
            <a:r>
              <a:t>Specified home tests;</a:t>
            </a:r>
          </a:p>
          <a:p>
            <a:pPr algn="l">
              <a:lnSpc>
                <a:spcPct val="106000"/>
              </a:lnSpc>
              <a:spcBef>
                <a:spcPts val="0"/>
              </a:spcBef>
              <a:spcAft>
                <a:spcPts val="0"/>
              </a:spcAft>
              <a:defRPr sz="2500" b="0" i="0">
                <a:solidFill>
                  <a:srgbClr val="253438"/>
                </a:solidFill>
                <a:latin typeface="Calibri"/>
              </a:defRPr>
            </a:pPr>
            <a:r>
              <a:t>initial 12-week coverage</a:t>
            </a:r>
          </a:p>
        </p:txBody>
      </p:sp>
      <p:sp>
        <p:nvSpPr>
          <p:cNvPr id="26" name="Rectangle 25"/>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100" b="0" i="0">
                <a:solidFill>
                  <a:srgbClr val="172326"/>
                </a:solidFill>
                <a:latin typeface="Calibri"/>
              </a:defRPr>
            </a:pPr>
            <a:r>
              <a:t>Current pathway: documented OSA, treatment benefit, and use; not daytime PaCO₂.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III · RESPIRATORY ASSIST DEVICES</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Bilevel positive airway pressure, 1990</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Sanders &amp; Kern 1990 [R12] · 71 FR 4518–4525 (2006) [R13] · R16</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S08</a:t>
            </a:r>
          </a:p>
        </p:txBody>
      </p:sp>
      <p:sp>
        <p:nvSpPr>
          <p:cNvPr id="12" name="TextBox 11"/>
          <p:cNvSpPr txBox="1"/>
          <p:nvPr/>
        </p:nvSpPr>
        <p:spPr>
          <a:xfrm>
            <a:off x="585216" y="1737360"/>
            <a:ext cx="7498079" cy="365760"/>
          </a:xfrm>
          <a:prstGeom prst="rect">
            <a:avLst/>
          </a:prstGeom>
          <a:noFill/>
        </p:spPr>
        <p:txBody>
          <a:bodyPr wrap="square" lIns="0" rIns="0" tIns="0" bIns="0" anchor="t">
            <a:spAutoFit/>
          </a:bodyPr>
          <a:lstStyle/>
          <a:p>
            <a:pPr algn="l">
              <a:lnSpc>
                <a:spcPct val="106000"/>
              </a:lnSpc>
              <a:spcBef>
                <a:spcPts val="0"/>
              </a:spcBef>
              <a:spcAft>
                <a:spcPts val="0"/>
              </a:spcAft>
              <a:defRPr sz="2500" b="1" i="0">
                <a:solidFill>
                  <a:srgbClr val="253438"/>
                </a:solidFill>
                <a:latin typeface="Calibri"/>
              </a:defRPr>
            </a:pPr>
            <a:r>
              <a:t>Independent inspiratory and expiratory pressures</a:t>
            </a:r>
          </a:p>
        </p:txBody>
      </p:sp>
      <p:sp>
        <p:nvSpPr>
          <p:cNvPr id="13" name="TextBox 12"/>
          <p:cNvSpPr txBox="1"/>
          <p:nvPr/>
        </p:nvSpPr>
        <p:spPr>
          <a:xfrm>
            <a:off x="7680960" y="1746504"/>
            <a:ext cx="3840480" cy="347472"/>
          </a:xfrm>
          <a:prstGeom prst="rect">
            <a:avLst/>
          </a:prstGeom>
          <a:noFill/>
        </p:spPr>
        <p:txBody>
          <a:bodyPr wrap="square" lIns="0" rIns="0" tIns="0" bIns="0" anchor="t">
            <a:spAutoFit/>
          </a:bodyPr>
          <a:lstStyle/>
          <a:p>
            <a:pPr algn="l">
              <a:lnSpc>
                <a:spcPct val="106000"/>
              </a:lnSpc>
              <a:spcBef>
                <a:spcPts val="0"/>
              </a:spcBef>
              <a:spcAft>
                <a:spcPts val="0"/>
              </a:spcAft>
              <a:defRPr sz="2300" b="1" i="0">
                <a:solidFill>
                  <a:srgbClr val="1C6970"/>
                </a:solidFill>
                <a:latin typeface="Calibri"/>
              </a:defRPr>
            </a:pPr>
            <a:r>
              <a:t>PS = IPAP − EPAP</a:t>
            </a:r>
          </a:p>
        </p:txBody>
      </p:sp>
      <p:sp>
        <p:nvSpPr>
          <p:cNvPr id="14" name="TextBox 13"/>
          <p:cNvSpPr txBox="1"/>
          <p:nvPr/>
        </p:nvSpPr>
        <p:spPr>
          <a:xfrm>
            <a:off x="585216" y="2258568"/>
            <a:ext cx="5257800" cy="256032"/>
          </a:xfrm>
          <a:prstGeom prst="rect">
            <a:avLst/>
          </a:prstGeom>
          <a:noFill/>
        </p:spPr>
        <p:txBody>
          <a:bodyPr wrap="square" lIns="0" rIns="0" tIns="0" bIns="0" anchor="t">
            <a:spAutoFit/>
          </a:bodyPr>
          <a:lstStyle/>
          <a:p>
            <a:pPr algn="l">
              <a:lnSpc>
                <a:spcPct val="106000"/>
              </a:lnSpc>
              <a:spcBef>
                <a:spcPts val="0"/>
              </a:spcBef>
              <a:spcAft>
                <a:spcPts val="0"/>
              </a:spcAft>
              <a:defRPr sz="1600" b="1" i="0">
                <a:solidFill>
                  <a:srgbClr val="1C6970"/>
                </a:solidFill>
                <a:latin typeface="Calibri"/>
              </a:defRPr>
            </a:pPr>
            <a:r>
              <a:t>BILEVEL S</a:t>
            </a:r>
          </a:p>
        </p:txBody>
      </p:sp>
      <p:sp>
        <p:nvSpPr>
          <p:cNvPr id="15" name="TextBox 14"/>
          <p:cNvSpPr txBox="1"/>
          <p:nvPr/>
        </p:nvSpPr>
        <p:spPr>
          <a:xfrm>
            <a:off x="585216" y="2624328"/>
            <a:ext cx="1508760" cy="256032"/>
          </a:xfrm>
          <a:prstGeom prst="rect">
            <a:avLst/>
          </a:prstGeom>
          <a:noFill/>
        </p:spPr>
        <p:txBody>
          <a:bodyPr wrap="square" lIns="0" rIns="0" tIns="0" bIns="0" anchor="t">
            <a:spAutoFit/>
          </a:bodyPr>
          <a:lstStyle/>
          <a:p>
            <a:pPr algn="l">
              <a:lnSpc>
                <a:spcPct val="106000"/>
              </a:lnSpc>
              <a:spcBef>
                <a:spcPts val="0"/>
              </a:spcBef>
              <a:spcAft>
                <a:spcPts val="0"/>
              </a:spcAft>
              <a:defRPr sz="1600" b="0" i="0">
                <a:solidFill>
                  <a:srgbClr val="596A70"/>
                </a:solidFill>
                <a:latin typeface="Calibri"/>
              </a:defRPr>
            </a:pPr>
            <a:r>
              <a:t>Pressure</a:t>
            </a:r>
          </a:p>
        </p:txBody>
      </p:sp>
      <p:sp>
        <p:nvSpPr>
          <p:cNvPr id="16" name="TextBox 15"/>
          <p:cNvSpPr txBox="1"/>
          <p:nvPr/>
        </p:nvSpPr>
        <p:spPr>
          <a:xfrm>
            <a:off x="585216" y="4361688"/>
            <a:ext cx="1508760" cy="256032"/>
          </a:xfrm>
          <a:prstGeom prst="rect">
            <a:avLst/>
          </a:prstGeom>
          <a:noFill/>
        </p:spPr>
        <p:txBody>
          <a:bodyPr wrap="square" lIns="0" rIns="0" tIns="0" bIns="0" anchor="t">
            <a:spAutoFit/>
          </a:bodyPr>
          <a:lstStyle/>
          <a:p>
            <a:pPr algn="l">
              <a:lnSpc>
                <a:spcPct val="106000"/>
              </a:lnSpc>
              <a:spcBef>
                <a:spcPts val="0"/>
              </a:spcBef>
              <a:spcAft>
                <a:spcPts val="0"/>
              </a:spcAft>
              <a:defRPr sz="1600" b="0" i="0">
                <a:solidFill>
                  <a:srgbClr val="596A70"/>
                </a:solidFill>
                <a:latin typeface="Calibri"/>
              </a:defRPr>
            </a:pPr>
            <a:r>
              <a:t>Effort</a:t>
            </a:r>
          </a:p>
        </p:txBody>
      </p:sp>
      <p:cxnSp>
        <p:nvCxnSpPr>
          <p:cNvPr id="17" name="Connector 16"/>
          <p:cNvCxnSpPr/>
          <p:nvPr/>
        </p:nvCxnSpPr>
        <p:spPr>
          <a:xfrm>
            <a:off x="804672" y="3913632"/>
            <a:ext cx="4946904"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8" name="Freeform 17"/>
          <p:cNvSpPr/>
          <p:nvPr/>
        </p:nvSpPr>
        <p:spPr>
          <a:xfrm>
            <a:off x="804672" y="2962656"/>
            <a:ext cx="4946904" cy="950976"/>
          </a:xfrm>
          <a:custGeom>
            <a:avLst/>
            <a:gdLst/>
            <a:ahLst/>
            <a:cxnLst/>
            <a:rect l="l" t="t" r="r" b="b"/>
            <a:pathLst>
              <a:path w="4946904" h="950976">
                <a:moveTo>
                  <a:pt x="0" y="950976"/>
                </a:moveTo>
                <a:lnTo>
                  <a:pt x="576072" y="950976"/>
                </a:lnTo>
                <a:lnTo>
                  <a:pt x="576072" y="0"/>
                </a:lnTo>
                <a:lnTo>
                  <a:pt x="1133856" y="0"/>
                </a:lnTo>
                <a:lnTo>
                  <a:pt x="1133856" y="950976"/>
                </a:lnTo>
                <a:lnTo>
                  <a:pt x="2002536" y="950976"/>
                </a:lnTo>
                <a:lnTo>
                  <a:pt x="2002536" y="0"/>
                </a:lnTo>
                <a:lnTo>
                  <a:pt x="2560320" y="0"/>
                </a:lnTo>
                <a:lnTo>
                  <a:pt x="2560320" y="950976"/>
                </a:lnTo>
                <a:lnTo>
                  <a:pt x="4946904" y="950976"/>
                </a:lnTo>
              </a:path>
            </a:pathLst>
          </a:custGeom>
          <a:noFill/>
          <a:ln w="35560">
            <a:solidFill>
              <a:srgbClr val="1C69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Freeform 18"/>
          <p:cNvSpPr/>
          <p:nvPr/>
        </p:nvSpPr>
        <p:spPr>
          <a:xfrm>
            <a:off x="1280160" y="4773168"/>
            <a:ext cx="749807" cy="301752"/>
          </a:xfrm>
          <a:custGeom>
            <a:avLst/>
            <a:gdLst/>
            <a:ahLst/>
            <a:cxnLst/>
            <a:rect l="l" t="t" r="r" b="b"/>
            <a:pathLst>
              <a:path w="749807" h="301752">
                <a:moveTo>
                  <a:pt x="0" y="0"/>
                </a:moveTo>
                <a:lnTo>
                  <a:pt x="91440" y="0"/>
                </a:lnTo>
                <a:lnTo>
                  <a:pt x="192024" y="301752"/>
                </a:lnTo>
                <a:lnTo>
                  <a:pt x="374904" y="301752"/>
                </a:lnTo>
                <a:lnTo>
                  <a:pt x="539496" y="0"/>
                </a:lnTo>
                <a:lnTo>
                  <a:pt x="749807" y="0"/>
                </a:lnTo>
              </a:path>
            </a:pathLst>
          </a:custGeom>
          <a:noFill/>
          <a:ln w="25400">
            <a:solidFill>
              <a:srgbClr val="17232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Freeform 19"/>
          <p:cNvSpPr/>
          <p:nvPr/>
        </p:nvSpPr>
        <p:spPr>
          <a:xfrm>
            <a:off x="2706624" y="4773168"/>
            <a:ext cx="749808" cy="301752"/>
          </a:xfrm>
          <a:custGeom>
            <a:avLst/>
            <a:gdLst/>
            <a:ahLst/>
            <a:cxnLst/>
            <a:rect l="l" t="t" r="r" b="b"/>
            <a:pathLst>
              <a:path w="749808" h="301752">
                <a:moveTo>
                  <a:pt x="0" y="0"/>
                </a:moveTo>
                <a:lnTo>
                  <a:pt x="91440" y="0"/>
                </a:lnTo>
                <a:lnTo>
                  <a:pt x="192024" y="301752"/>
                </a:lnTo>
                <a:lnTo>
                  <a:pt x="374904" y="301752"/>
                </a:lnTo>
                <a:lnTo>
                  <a:pt x="539496" y="0"/>
                </a:lnTo>
                <a:lnTo>
                  <a:pt x="749808" y="0"/>
                </a:lnTo>
              </a:path>
            </a:pathLst>
          </a:custGeom>
          <a:noFill/>
          <a:ln w="25400">
            <a:solidFill>
              <a:srgbClr val="17232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a:off x="4133088" y="4773168"/>
            <a:ext cx="758952" cy="0"/>
          </a:xfrm>
          <a:prstGeom prst="line">
            <a:avLst/>
          </a:prstGeom>
          <a:ln w="25400">
            <a:solidFill>
              <a:srgbClr val="172326"/>
            </a:solidFill>
          </a:ln>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841248" y="2834640"/>
            <a:ext cx="594360" cy="274320"/>
          </a:xfrm>
          <a:prstGeom prst="rect">
            <a:avLst/>
          </a:prstGeom>
          <a:noFill/>
        </p:spPr>
        <p:txBody>
          <a:bodyPr wrap="square" lIns="0" rIns="0" tIns="0" bIns="0" anchor="t">
            <a:spAutoFit/>
          </a:bodyPr>
          <a:lstStyle/>
          <a:p>
            <a:pPr algn="l">
              <a:lnSpc>
                <a:spcPct val="106000"/>
              </a:lnSpc>
              <a:spcBef>
                <a:spcPts val="0"/>
              </a:spcBef>
              <a:spcAft>
                <a:spcPts val="0"/>
              </a:spcAft>
              <a:defRPr sz="1400" b="0" i="0">
                <a:solidFill>
                  <a:srgbClr val="596A70"/>
                </a:solidFill>
                <a:latin typeface="Calibri"/>
              </a:defRPr>
            </a:pPr>
            <a:r>
              <a:t>IPAP</a:t>
            </a:r>
          </a:p>
        </p:txBody>
      </p:sp>
      <p:sp>
        <p:nvSpPr>
          <p:cNvPr id="23" name="TextBox 22"/>
          <p:cNvSpPr txBox="1"/>
          <p:nvPr/>
        </p:nvSpPr>
        <p:spPr>
          <a:xfrm>
            <a:off x="841248" y="3986784"/>
            <a:ext cx="594360" cy="274320"/>
          </a:xfrm>
          <a:prstGeom prst="rect">
            <a:avLst/>
          </a:prstGeom>
          <a:noFill/>
        </p:spPr>
        <p:txBody>
          <a:bodyPr wrap="square" lIns="0" rIns="0" tIns="0" bIns="0" anchor="t">
            <a:spAutoFit/>
          </a:bodyPr>
          <a:lstStyle/>
          <a:p>
            <a:pPr algn="l">
              <a:lnSpc>
                <a:spcPct val="106000"/>
              </a:lnSpc>
              <a:spcBef>
                <a:spcPts val="0"/>
              </a:spcBef>
              <a:spcAft>
                <a:spcPts val="0"/>
              </a:spcAft>
              <a:defRPr sz="1400" b="0" i="0">
                <a:solidFill>
                  <a:srgbClr val="596A70"/>
                </a:solidFill>
                <a:latin typeface="Calibri"/>
              </a:defRPr>
            </a:pPr>
            <a:r>
              <a:t>EPAP</a:t>
            </a:r>
          </a:p>
        </p:txBody>
      </p:sp>
      <p:sp>
        <p:nvSpPr>
          <p:cNvPr id="24" name="TextBox 23"/>
          <p:cNvSpPr txBox="1"/>
          <p:nvPr/>
        </p:nvSpPr>
        <p:spPr>
          <a:xfrm>
            <a:off x="3712464" y="3401568"/>
            <a:ext cx="1920240" cy="365760"/>
          </a:xfrm>
          <a:prstGeom prst="rect">
            <a:avLst/>
          </a:prstGeom>
          <a:noFill/>
        </p:spPr>
        <p:txBody>
          <a:bodyPr wrap="square" lIns="0" rIns="0" tIns="0" bIns="0" anchor="t">
            <a:spAutoFit/>
          </a:bodyPr>
          <a:lstStyle/>
          <a:p>
            <a:pPr algn="l">
              <a:lnSpc>
                <a:spcPct val="106000"/>
              </a:lnSpc>
              <a:spcBef>
                <a:spcPts val="0"/>
              </a:spcBef>
              <a:spcAft>
                <a:spcPts val="0"/>
              </a:spcAft>
              <a:defRPr sz="1700" b="0" i="0">
                <a:solidFill>
                  <a:srgbClr val="596A70"/>
                </a:solidFill>
                <a:latin typeface="Calibri"/>
              </a:defRPr>
            </a:pPr>
            <a:r>
              <a:t>No third trigger</a:t>
            </a:r>
          </a:p>
        </p:txBody>
      </p:sp>
      <p:sp>
        <p:nvSpPr>
          <p:cNvPr id="25" name="TextBox 24"/>
          <p:cNvSpPr txBox="1"/>
          <p:nvPr/>
        </p:nvSpPr>
        <p:spPr>
          <a:xfrm>
            <a:off x="6300216" y="2258568"/>
            <a:ext cx="5257800" cy="256032"/>
          </a:xfrm>
          <a:prstGeom prst="rect">
            <a:avLst/>
          </a:prstGeom>
          <a:noFill/>
        </p:spPr>
        <p:txBody>
          <a:bodyPr wrap="square" lIns="0" rIns="0" tIns="0" bIns="0" anchor="t">
            <a:spAutoFit/>
          </a:bodyPr>
          <a:lstStyle/>
          <a:p>
            <a:pPr algn="l">
              <a:lnSpc>
                <a:spcPct val="106000"/>
              </a:lnSpc>
              <a:spcBef>
                <a:spcPts val="0"/>
              </a:spcBef>
              <a:spcAft>
                <a:spcPts val="0"/>
              </a:spcAft>
              <a:defRPr sz="1600" b="1" i="0">
                <a:solidFill>
                  <a:srgbClr val="1C6970"/>
                </a:solidFill>
                <a:latin typeface="Calibri"/>
              </a:defRPr>
            </a:pPr>
            <a:r>
              <a:t>BILEVEL S/T</a:t>
            </a:r>
          </a:p>
        </p:txBody>
      </p:sp>
      <p:sp>
        <p:nvSpPr>
          <p:cNvPr id="26" name="TextBox 25"/>
          <p:cNvSpPr txBox="1"/>
          <p:nvPr/>
        </p:nvSpPr>
        <p:spPr>
          <a:xfrm>
            <a:off x="6300216" y="2624328"/>
            <a:ext cx="1508760" cy="256032"/>
          </a:xfrm>
          <a:prstGeom prst="rect">
            <a:avLst/>
          </a:prstGeom>
          <a:noFill/>
        </p:spPr>
        <p:txBody>
          <a:bodyPr wrap="square" lIns="0" rIns="0" tIns="0" bIns="0" anchor="t">
            <a:spAutoFit/>
          </a:bodyPr>
          <a:lstStyle/>
          <a:p>
            <a:pPr algn="l">
              <a:lnSpc>
                <a:spcPct val="106000"/>
              </a:lnSpc>
              <a:spcBef>
                <a:spcPts val="0"/>
              </a:spcBef>
              <a:spcAft>
                <a:spcPts val="0"/>
              </a:spcAft>
              <a:defRPr sz="1600" b="0" i="0">
                <a:solidFill>
                  <a:srgbClr val="596A70"/>
                </a:solidFill>
                <a:latin typeface="Calibri"/>
              </a:defRPr>
            </a:pPr>
            <a:r>
              <a:t>Pressure</a:t>
            </a:r>
          </a:p>
        </p:txBody>
      </p:sp>
      <p:sp>
        <p:nvSpPr>
          <p:cNvPr id="27" name="TextBox 26"/>
          <p:cNvSpPr txBox="1"/>
          <p:nvPr/>
        </p:nvSpPr>
        <p:spPr>
          <a:xfrm>
            <a:off x="6300216" y="4361688"/>
            <a:ext cx="1508760" cy="256032"/>
          </a:xfrm>
          <a:prstGeom prst="rect">
            <a:avLst/>
          </a:prstGeom>
          <a:noFill/>
        </p:spPr>
        <p:txBody>
          <a:bodyPr wrap="square" lIns="0" rIns="0" tIns="0" bIns="0" anchor="t">
            <a:spAutoFit/>
          </a:bodyPr>
          <a:lstStyle/>
          <a:p>
            <a:pPr algn="l">
              <a:lnSpc>
                <a:spcPct val="106000"/>
              </a:lnSpc>
              <a:spcBef>
                <a:spcPts val="0"/>
              </a:spcBef>
              <a:spcAft>
                <a:spcPts val="0"/>
              </a:spcAft>
              <a:defRPr sz="1600" b="0" i="0">
                <a:solidFill>
                  <a:srgbClr val="596A70"/>
                </a:solidFill>
                <a:latin typeface="Calibri"/>
              </a:defRPr>
            </a:pPr>
            <a:r>
              <a:t>Effort</a:t>
            </a:r>
          </a:p>
        </p:txBody>
      </p:sp>
      <p:cxnSp>
        <p:nvCxnSpPr>
          <p:cNvPr id="28" name="Connector 27"/>
          <p:cNvCxnSpPr/>
          <p:nvPr/>
        </p:nvCxnSpPr>
        <p:spPr>
          <a:xfrm>
            <a:off x="6519672" y="3913632"/>
            <a:ext cx="4946904"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29" name="Freeform 28"/>
          <p:cNvSpPr/>
          <p:nvPr/>
        </p:nvSpPr>
        <p:spPr>
          <a:xfrm>
            <a:off x="6519672" y="2962656"/>
            <a:ext cx="4946904" cy="950976"/>
          </a:xfrm>
          <a:custGeom>
            <a:avLst/>
            <a:gdLst/>
            <a:ahLst/>
            <a:cxnLst/>
            <a:rect l="l" t="t" r="r" b="b"/>
            <a:pathLst>
              <a:path w="4946904" h="950976">
                <a:moveTo>
                  <a:pt x="0" y="950976"/>
                </a:moveTo>
                <a:lnTo>
                  <a:pt x="576072" y="950976"/>
                </a:lnTo>
                <a:lnTo>
                  <a:pt x="576072" y="0"/>
                </a:lnTo>
                <a:lnTo>
                  <a:pt x="1133855" y="0"/>
                </a:lnTo>
                <a:lnTo>
                  <a:pt x="1133855" y="950976"/>
                </a:lnTo>
                <a:lnTo>
                  <a:pt x="2002536" y="950976"/>
                </a:lnTo>
                <a:lnTo>
                  <a:pt x="2002536" y="0"/>
                </a:lnTo>
                <a:lnTo>
                  <a:pt x="2560320" y="0"/>
                </a:lnTo>
                <a:lnTo>
                  <a:pt x="2560320" y="950976"/>
                </a:lnTo>
                <a:lnTo>
                  <a:pt x="3429000" y="950976"/>
                </a:lnTo>
                <a:lnTo>
                  <a:pt x="3429000" y="0"/>
                </a:lnTo>
                <a:lnTo>
                  <a:pt x="3986783" y="0"/>
                </a:lnTo>
                <a:lnTo>
                  <a:pt x="3986783" y="950976"/>
                </a:lnTo>
                <a:lnTo>
                  <a:pt x="4946904" y="950976"/>
                </a:lnTo>
              </a:path>
            </a:pathLst>
          </a:custGeom>
          <a:noFill/>
          <a:ln w="35560">
            <a:solidFill>
              <a:srgbClr val="1C69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Freeform 29"/>
          <p:cNvSpPr/>
          <p:nvPr/>
        </p:nvSpPr>
        <p:spPr>
          <a:xfrm>
            <a:off x="6995160" y="4773168"/>
            <a:ext cx="749808" cy="301752"/>
          </a:xfrm>
          <a:custGeom>
            <a:avLst/>
            <a:gdLst/>
            <a:ahLst/>
            <a:cxnLst/>
            <a:rect l="l" t="t" r="r" b="b"/>
            <a:pathLst>
              <a:path w="749808" h="301752">
                <a:moveTo>
                  <a:pt x="0" y="0"/>
                </a:moveTo>
                <a:lnTo>
                  <a:pt x="91440" y="0"/>
                </a:lnTo>
                <a:lnTo>
                  <a:pt x="192024" y="301752"/>
                </a:lnTo>
                <a:lnTo>
                  <a:pt x="374904" y="301752"/>
                </a:lnTo>
                <a:lnTo>
                  <a:pt x="539496" y="0"/>
                </a:lnTo>
                <a:lnTo>
                  <a:pt x="749808" y="0"/>
                </a:lnTo>
              </a:path>
            </a:pathLst>
          </a:custGeom>
          <a:noFill/>
          <a:ln w="25400">
            <a:solidFill>
              <a:srgbClr val="17232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Freeform 30"/>
          <p:cNvSpPr/>
          <p:nvPr/>
        </p:nvSpPr>
        <p:spPr>
          <a:xfrm>
            <a:off x="8421624" y="4773168"/>
            <a:ext cx="749808" cy="301752"/>
          </a:xfrm>
          <a:custGeom>
            <a:avLst/>
            <a:gdLst/>
            <a:ahLst/>
            <a:cxnLst/>
            <a:rect l="l" t="t" r="r" b="b"/>
            <a:pathLst>
              <a:path w="749808" h="301752">
                <a:moveTo>
                  <a:pt x="0" y="0"/>
                </a:moveTo>
                <a:lnTo>
                  <a:pt x="91440" y="0"/>
                </a:lnTo>
                <a:lnTo>
                  <a:pt x="192024" y="301752"/>
                </a:lnTo>
                <a:lnTo>
                  <a:pt x="374904" y="301752"/>
                </a:lnTo>
                <a:lnTo>
                  <a:pt x="539496" y="0"/>
                </a:lnTo>
                <a:lnTo>
                  <a:pt x="749808" y="0"/>
                </a:lnTo>
              </a:path>
            </a:pathLst>
          </a:custGeom>
          <a:noFill/>
          <a:ln w="25400">
            <a:solidFill>
              <a:srgbClr val="17232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2" name="Connector 31"/>
          <p:cNvCxnSpPr/>
          <p:nvPr/>
        </p:nvCxnSpPr>
        <p:spPr>
          <a:xfrm>
            <a:off x="9848088" y="4773168"/>
            <a:ext cx="758952" cy="0"/>
          </a:xfrm>
          <a:prstGeom prst="line">
            <a:avLst/>
          </a:prstGeom>
          <a:ln w="25400">
            <a:solidFill>
              <a:srgbClr val="172326"/>
            </a:solidFill>
          </a:ln>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6556248" y="2834640"/>
            <a:ext cx="594360" cy="274320"/>
          </a:xfrm>
          <a:prstGeom prst="rect">
            <a:avLst/>
          </a:prstGeom>
          <a:noFill/>
        </p:spPr>
        <p:txBody>
          <a:bodyPr wrap="square" lIns="0" rIns="0" tIns="0" bIns="0" anchor="t">
            <a:spAutoFit/>
          </a:bodyPr>
          <a:lstStyle/>
          <a:p>
            <a:pPr algn="l">
              <a:lnSpc>
                <a:spcPct val="106000"/>
              </a:lnSpc>
              <a:spcBef>
                <a:spcPts val="0"/>
              </a:spcBef>
              <a:spcAft>
                <a:spcPts val="0"/>
              </a:spcAft>
              <a:defRPr sz="1400" b="0" i="0">
                <a:solidFill>
                  <a:srgbClr val="596A70"/>
                </a:solidFill>
                <a:latin typeface="Calibri"/>
              </a:defRPr>
            </a:pPr>
            <a:r>
              <a:t>IPAP</a:t>
            </a:r>
          </a:p>
        </p:txBody>
      </p:sp>
      <p:sp>
        <p:nvSpPr>
          <p:cNvPr id="34" name="TextBox 33"/>
          <p:cNvSpPr txBox="1"/>
          <p:nvPr/>
        </p:nvSpPr>
        <p:spPr>
          <a:xfrm>
            <a:off x="6556248" y="3986784"/>
            <a:ext cx="594360" cy="274320"/>
          </a:xfrm>
          <a:prstGeom prst="rect">
            <a:avLst/>
          </a:prstGeom>
          <a:noFill/>
        </p:spPr>
        <p:txBody>
          <a:bodyPr wrap="square" lIns="0" rIns="0" tIns="0" bIns="0" anchor="t">
            <a:spAutoFit/>
          </a:bodyPr>
          <a:lstStyle/>
          <a:p>
            <a:pPr algn="l">
              <a:lnSpc>
                <a:spcPct val="106000"/>
              </a:lnSpc>
              <a:spcBef>
                <a:spcPts val="0"/>
              </a:spcBef>
              <a:spcAft>
                <a:spcPts val="0"/>
              </a:spcAft>
              <a:defRPr sz="1400" b="0" i="0">
                <a:solidFill>
                  <a:srgbClr val="596A70"/>
                </a:solidFill>
                <a:latin typeface="Calibri"/>
              </a:defRPr>
            </a:pPr>
            <a:r>
              <a:t>EPAP</a:t>
            </a:r>
          </a:p>
        </p:txBody>
      </p:sp>
      <p:sp>
        <p:nvSpPr>
          <p:cNvPr id="35" name="TextBox 34"/>
          <p:cNvSpPr txBox="1"/>
          <p:nvPr/>
        </p:nvSpPr>
        <p:spPr>
          <a:xfrm>
            <a:off x="9592056" y="2633472"/>
            <a:ext cx="1664208" cy="274320"/>
          </a:xfrm>
          <a:prstGeom prst="rect">
            <a:avLst/>
          </a:prstGeom>
          <a:noFill/>
        </p:spPr>
        <p:txBody>
          <a:bodyPr wrap="square" lIns="0" rIns="0" tIns="0" bIns="0" anchor="t">
            <a:spAutoFit/>
          </a:bodyPr>
          <a:lstStyle/>
          <a:p>
            <a:pPr algn="l">
              <a:lnSpc>
                <a:spcPct val="106000"/>
              </a:lnSpc>
              <a:spcBef>
                <a:spcPts val="0"/>
              </a:spcBef>
              <a:spcAft>
                <a:spcPts val="0"/>
              </a:spcAft>
              <a:defRPr sz="1500" b="1" i="0">
                <a:solidFill>
                  <a:srgbClr val="1C6970"/>
                </a:solidFill>
                <a:latin typeface="Calibri"/>
              </a:defRPr>
            </a:pPr>
            <a:r>
              <a:t>Timed breath</a:t>
            </a:r>
          </a:p>
        </p:txBody>
      </p:sp>
      <p:cxnSp>
        <p:nvCxnSpPr>
          <p:cNvPr id="36" name="Connector 35"/>
          <p:cNvCxnSpPr/>
          <p:nvPr/>
        </p:nvCxnSpPr>
        <p:spPr>
          <a:xfrm>
            <a:off x="10222992" y="2889504"/>
            <a:ext cx="0" cy="73152"/>
          </a:xfrm>
          <a:prstGeom prst="line">
            <a:avLst/>
          </a:prstGeom>
          <a:ln w="15240">
            <a:solidFill>
              <a:srgbClr val="1C6970"/>
            </a:solidFill>
          </a:ln>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585216" y="5266944"/>
            <a:ext cx="11021567" cy="201168"/>
          </a:xfrm>
          <a:prstGeom prst="rect">
            <a:avLst/>
          </a:prstGeom>
          <a:noFill/>
        </p:spPr>
        <p:txBody>
          <a:bodyPr wrap="square" lIns="0" rIns="0" tIns="0" bIns="0" anchor="t">
            <a:spAutoFit/>
          </a:bodyPr>
          <a:lstStyle/>
          <a:p>
            <a:pPr algn="l">
              <a:lnSpc>
                <a:spcPct val="106000"/>
              </a:lnSpc>
              <a:spcBef>
                <a:spcPts val="0"/>
              </a:spcBef>
              <a:spcAft>
                <a:spcPts val="0"/>
              </a:spcAft>
              <a:defRPr sz="1200" b="0" i="0">
                <a:solidFill>
                  <a:srgbClr val="596A70"/>
                </a:solidFill>
                <a:latin typeface="Calibri"/>
              </a:defRPr>
            </a:pPr>
            <a:r>
              <a:t>Schematic timing and amplitudes</a:t>
            </a:r>
          </a:p>
        </p:txBody>
      </p:sp>
      <p:sp>
        <p:nvSpPr>
          <p:cNvPr id="38" name="Rectangle 37"/>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ectangle 38"/>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000" b="0" i="0">
                <a:solidFill>
                  <a:srgbClr val="172326"/>
                </a:solidFill>
                <a:latin typeface="Calibri"/>
              </a:defRPr>
            </a:pPr>
            <a:r>
              <a:t>Early bilevel technology arose in OSA; ventilatory-assistance applications expanded afterward.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III · RESPIRATORY ASSIST DEVICES</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NIV beyond upper-airway obstruction</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Hind et al. 2017 [R05] · Locke et al. 2024 [R01] · R04, R03</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S09</a:t>
            </a:r>
          </a:p>
        </p:txBody>
      </p:sp>
      <p:sp>
        <p:nvSpPr>
          <p:cNvPr id="12" name="Rectangle 11"/>
          <p:cNvSpPr/>
          <p:nvPr/>
        </p:nvSpPr>
        <p:spPr>
          <a:xfrm>
            <a:off x="585216" y="1847088"/>
            <a:ext cx="3527551" cy="2487168"/>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585216" y="1847088"/>
            <a:ext cx="3527551" cy="4114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77240" y="2011680"/>
            <a:ext cx="3143503" cy="749808"/>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Neuromuscular</a:t>
            </a:r>
          </a:p>
          <a:p>
            <a:pPr algn="l">
              <a:lnSpc>
                <a:spcPct val="106000"/>
              </a:lnSpc>
              <a:spcBef>
                <a:spcPts val="0"/>
              </a:spcBef>
              <a:spcAft>
                <a:spcPts val="0"/>
              </a:spcAft>
              <a:defRPr sz="2600" b="1" i="0">
                <a:solidFill>
                  <a:srgbClr val="172326"/>
                </a:solidFill>
                <a:latin typeface="Calibri"/>
              </a:defRPr>
            </a:pPr>
            <a:r>
              <a:t>disease</a:t>
            </a:r>
          </a:p>
        </p:txBody>
      </p:sp>
      <p:sp>
        <p:nvSpPr>
          <p:cNvPr id="15" name="TextBox 14"/>
          <p:cNvSpPr txBox="1"/>
          <p:nvPr/>
        </p:nvSpPr>
        <p:spPr>
          <a:xfrm>
            <a:off x="777240" y="2871215"/>
            <a:ext cx="3143503" cy="1307592"/>
          </a:xfrm>
          <a:prstGeom prst="rect">
            <a:avLst/>
          </a:prstGeom>
          <a:noFill/>
        </p:spPr>
        <p:txBody>
          <a:bodyPr wrap="square" lIns="0" rIns="0" tIns="0" bIns="0" anchor="t">
            <a:spAutoFit/>
          </a:bodyPr>
          <a:lstStyle/>
          <a:p>
            <a:pPr algn="l">
              <a:lnSpc>
                <a:spcPct val="106000"/>
              </a:lnSpc>
              <a:spcBef>
                <a:spcPts val="0"/>
              </a:spcBef>
              <a:spcAft>
                <a:spcPts val="0"/>
              </a:spcAft>
              <a:defRPr sz="2500" b="0" i="0">
                <a:solidFill>
                  <a:srgbClr val="253438"/>
                </a:solidFill>
                <a:latin typeface="Calibri"/>
              </a:defRPr>
            </a:pPr>
            <a:r>
              <a:t>Reduced respiratory</a:t>
            </a:r>
          </a:p>
          <a:p>
            <a:pPr algn="l">
              <a:lnSpc>
                <a:spcPct val="106000"/>
              </a:lnSpc>
              <a:spcBef>
                <a:spcPts val="0"/>
              </a:spcBef>
              <a:spcAft>
                <a:spcPts val="0"/>
              </a:spcAft>
              <a:defRPr sz="2500" b="0" i="0">
                <a:solidFill>
                  <a:srgbClr val="253438"/>
                </a:solidFill>
                <a:latin typeface="Calibri"/>
              </a:defRPr>
            </a:pPr>
            <a:r>
              <a:t>muscle capacity</a:t>
            </a:r>
          </a:p>
        </p:txBody>
      </p:sp>
      <p:sp>
        <p:nvSpPr>
          <p:cNvPr id="16" name="Rectangle 15"/>
          <p:cNvSpPr/>
          <p:nvPr/>
        </p:nvSpPr>
        <p:spPr>
          <a:xfrm>
            <a:off x="4332223" y="1847088"/>
            <a:ext cx="3527551" cy="2487168"/>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332223" y="1847088"/>
            <a:ext cx="3527551" cy="4114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524247" y="2011680"/>
            <a:ext cx="3143503" cy="420624"/>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Chest-wall disorders</a:t>
            </a:r>
          </a:p>
        </p:txBody>
      </p:sp>
      <p:sp>
        <p:nvSpPr>
          <p:cNvPr id="19" name="TextBox 18"/>
          <p:cNvSpPr txBox="1"/>
          <p:nvPr/>
        </p:nvSpPr>
        <p:spPr>
          <a:xfrm>
            <a:off x="4524247" y="2542032"/>
            <a:ext cx="3143503" cy="1636776"/>
          </a:xfrm>
          <a:prstGeom prst="rect">
            <a:avLst/>
          </a:prstGeom>
          <a:noFill/>
        </p:spPr>
        <p:txBody>
          <a:bodyPr wrap="square" lIns="0" rIns="0" tIns="0" bIns="0" anchor="t">
            <a:spAutoFit/>
          </a:bodyPr>
          <a:lstStyle/>
          <a:p>
            <a:pPr algn="l">
              <a:lnSpc>
                <a:spcPct val="106000"/>
              </a:lnSpc>
              <a:spcBef>
                <a:spcPts val="0"/>
              </a:spcBef>
              <a:spcAft>
                <a:spcPts val="0"/>
              </a:spcAft>
              <a:defRPr sz="2500" b="0" i="0">
                <a:solidFill>
                  <a:srgbClr val="253438"/>
                </a:solidFill>
                <a:latin typeface="Calibri"/>
              </a:defRPr>
            </a:pPr>
            <a:r>
              <a:t>Increased elastic load</a:t>
            </a:r>
          </a:p>
          <a:p>
            <a:pPr algn="l">
              <a:lnSpc>
                <a:spcPct val="106000"/>
              </a:lnSpc>
              <a:spcBef>
                <a:spcPts val="0"/>
              </a:spcBef>
              <a:spcAft>
                <a:spcPts val="0"/>
              </a:spcAft>
              <a:defRPr sz="2500" b="0" i="0">
                <a:solidFill>
                  <a:srgbClr val="253438"/>
                </a:solidFill>
                <a:latin typeface="Calibri"/>
              </a:defRPr>
            </a:pPr>
            <a:r>
              <a:t>and restricted</a:t>
            </a:r>
          </a:p>
          <a:p>
            <a:pPr algn="l">
              <a:lnSpc>
                <a:spcPct val="106000"/>
              </a:lnSpc>
              <a:spcBef>
                <a:spcPts val="0"/>
              </a:spcBef>
              <a:spcAft>
                <a:spcPts val="0"/>
              </a:spcAft>
              <a:defRPr sz="2500" b="0" i="0">
                <a:solidFill>
                  <a:srgbClr val="253438"/>
                </a:solidFill>
                <a:latin typeface="Calibri"/>
              </a:defRPr>
            </a:pPr>
            <a:r>
              <a:t>expansion</a:t>
            </a:r>
          </a:p>
        </p:txBody>
      </p:sp>
      <p:sp>
        <p:nvSpPr>
          <p:cNvPr id="20" name="Rectangle 19"/>
          <p:cNvSpPr/>
          <p:nvPr/>
        </p:nvSpPr>
        <p:spPr>
          <a:xfrm>
            <a:off x="8079231" y="1847088"/>
            <a:ext cx="3527551" cy="2487168"/>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8079231" y="1847088"/>
            <a:ext cx="3527551" cy="4114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271255" y="2011680"/>
            <a:ext cx="3143503" cy="420624"/>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COPD and obesity</a:t>
            </a:r>
          </a:p>
        </p:txBody>
      </p:sp>
      <p:sp>
        <p:nvSpPr>
          <p:cNvPr id="23" name="TextBox 22"/>
          <p:cNvSpPr txBox="1"/>
          <p:nvPr/>
        </p:nvSpPr>
        <p:spPr>
          <a:xfrm>
            <a:off x="8271255" y="2542032"/>
            <a:ext cx="3143503" cy="1636776"/>
          </a:xfrm>
          <a:prstGeom prst="rect">
            <a:avLst/>
          </a:prstGeom>
          <a:noFill/>
        </p:spPr>
        <p:txBody>
          <a:bodyPr wrap="square" lIns="0" rIns="0" tIns="0" bIns="0" anchor="t">
            <a:spAutoFit/>
          </a:bodyPr>
          <a:lstStyle/>
          <a:p>
            <a:pPr algn="l">
              <a:lnSpc>
                <a:spcPct val="106000"/>
              </a:lnSpc>
              <a:spcBef>
                <a:spcPts val="0"/>
              </a:spcBef>
              <a:spcAft>
                <a:spcPts val="0"/>
              </a:spcAft>
              <a:defRPr sz="2500" b="0" i="0">
                <a:solidFill>
                  <a:srgbClr val="253438"/>
                </a:solidFill>
                <a:latin typeface="Calibri"/>
              </a:defRPr>
            </a:pPr>
            <a:r>
              <a:t>Mechanical loading,</a:t>
            </a:r>
          </a:p>
          <a:p>
            <a:pPr algn="l">
              <a:lnSpc>
                <a:spcPct val="106000"/>
              </a:lnSpc>
              <a:spcBef>
                <a:spcPts val="0"/>
              </a:spcBef>
              <a:spcAft>
                <a:spcPts val="0"/>
              </a:spcAft>
              <a:defRPr sz="2500" b="0" i="0">
                <a:solidFill>
                  <a:srgbClr val="253438"/>
                </a:solidFill>
                <a:latin typeface="Calibri"/>
              </a:defRPr>
            </a:pPr>
            <a:r>
              <a:t>airway disease, and</a:t>
            </a:r>
          </a:p>
          <a:p>
            <a:pPr algn="l">
              <a:lnSpc>
                <a:spcPct val="106000"/>
              </a:lnSpc>
              <a:spcBef>
                <a:spcPts val="0"/>
              </a:spcBef>
              <a:spcAft>
                <a:spcPts val="0"/>
              </a:spcAft>
              <a:defRPr sz="2500" b="0" i="0">
                <a:solidFill>
                  <a:srgbClr val="253438"/>
                </a:solidFill>
                <a:latin typeface="Calibri"/>
              </a:defRPr>
            </a:pPr>
            <a:r>
              <a:t>drive</a:t>
            </a:r>
          </a:p>
        </p:txBody>
      </p:sp>
      <p:sp>
        <p:nvSpPr>
          <p:cNvPr id="24" name="TextBox 23"/>
          <p:cNvSpPr txBox="1"/>
          <p:nvPr/>
        </p:nvSpPr>
        <p:spPr>
          <a:xfrm>
            <a:off x="585216" y="4608576"/>
            <a:ext cx="5303520" cy="502920"/>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253438"/>
                </a:solidFill>
                <a:latin typeface="Calibri"/>
              </a:defRPr>
            </a:pPr>
            <a:r>
              <a:t>Increasing respiratory load</a:t>
            </a:r>
          </a:p>
        </p:txBody>
      </p:sp>
      <p:sp>
        <p:nvSpPr>
          <p:cNvPr id="25" name="TextBox 24"/>
          <p:cNvSpPr txBox="1"/>
          <p:nvPr/>
        </p:nvSpPr>
        <p:spPr>
          <a:xfrm>
            <a:off x="6510528" y="4608576"/>
            <a:ext cx="4983480" cy="502920"/>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C6970"/>
                </a:solidFill>
                <a:latin typeface="Calibri"/>
              </a:defRPr>
            </a:pPr>
            <a:r>
              <a:t>Reduced capacity or drive</a:t>
            </a:r>
          </a:p>
        </p:txBody>
      </p:sp>
      <p:sp>
        <p:nvSpPr>
          <p:cNvPr id="26" name="Rectangle 25"/>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000" b="0" i="0">
                <a:solidFill>
                  <a:srgbClr val="172326"/>
                </a:solidFill>
                <a:latin typeface="Calibri"/>
              </a:defRPr>
            </a:pPr>
            <a:r>
              <a:t>Sleep-related hypoventilation can precede awake hypercapnia.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III · RESPIRATORY ASSIST DEVICES</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The equipment-servicing split, 1992–2006</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71 FR 4518–4525 (2006) [R13] · CMS 2006 [R48]</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S10</a:t>
            </a:r>
          </a:p>
        </p:txBody>
      </p:sp>
      <p:sp>
        <p:nvSpPr>
          <p:cNvPr id="12" name="TextBox 11"/>
          <p:cNvSpPr txBox="1"/>
          <p:nvPr/>
        </p:nvSpPr>
        <p:spPr>
          <a:xfrm>
            <a:off x="585216" y="1636776"/>
            <a:ext cx="11021567" cy="201168"/>
          </a:xfrm>
          <a:prstGeom prst="rect">
            <a:avLst/>
          </a:prstGeom>
          <a:noFill/>
        </p:spPr>
        <p:txBody>
          <a:bodyPr wrap="square" lIns="0" rIns="0" tIns="0" bIns="0" anchor="t">
            <a:spAutoFit/>
          </a:bodyPr>
          <a:lstStyle/>
          <a:p>
            <a:pPr algn="l">
              <a:lnSpc>
                <a:spcPct val="106000"/>
              </a:lnSpc>
              <a:spcBef>
                <a:spcPts val="0"/>
              </a:spcBef>
              <a:spcAft>
                <a:spcPts val="0"/>
              </a:spcAft>
              <a:defRPr sz="1100" b="0" i="0">
                <a:solidFill>
                  <a:srgbClr val="596A70"/>
                </a:solidFill>
                <a:latin typeface="Calibri"/>
              </a:defRPr>
            </a:pPr>
            <a:r>
              <a:t>Selected milestones · not to scale</a:t>
            </a:r>
          </a:p>
        </p:txBody>
      </p:sp>
      <p:cxnSp>
        <p:nvCxnSpPr>
          <p:cNvPr id="13" name="Connector 12"/>
          <p:cNvCxnSpPr/>
          <p:nvPr/>
        </p:nvCxnSpPr>
        <p:spPr>
          <a:xfrm>
            <a:off x="813816" y="2587752"/>
            <a:ext cx="10564367" cy="0"/>
          </a:xfrm>
          <a:prstGeom prst="line">
            <a:avLst/>
          </a:prstGeom>
          <a:ln w="22860">
            <a:solidFill>
              <a:srgbClr val="CBD5D8"/>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85216" y="1929384"/>
            <a:ext cx="2604515" cy="502920"/>
          </a:xfrm>
          <a:prstGeom prst="rect">
            <a:avLst/>
          </a:prstGeom>
          <a:noFill/>
        </p:spPr>
        <p:txBody>
          <a:bodyPr wrap="square" lIns="0" rIns="0" tIns="0" bIns="0" anchor="t">
            <a:spAutoFit/>
          </a:bodyPr>
          <a:lstStyle/>
          <a:p>
            <a:pPr algn="l">
              <a:lnSpc>
                <a:spcPct val="106000"/>
              </a:lnSpc>
              <a:spcBef>
                <a:spcPts val="0"/>
              </a:spcBef>
              <a:spcAft>
                <a:spcPts val="0"/>
              </a:spcAft>
              <a:defRPr sz="2500" b="1" i="0">
                <a:solidFill>
                  <a:srgbClr val="1C6970"/>
                </a:solidFill>
                <a:latin typeface="Calibri"/>
              </a:defRPr>
            </a:pPr>
            <a:r>
              <a:t>1992</a:t>
            </a:r>
          </a:p>
        </p:txBody>
      </p:sp>
      <p:sp>
        <p:nvSpPr>
          <p:cNvPr id="15" name="Oval 14"/>
          <p:cNvSpPr/>
          <p:nvPr/>
        </p:nvSpPr>
        <p:spPr>
          <a:xfrm>
            <a:off x="617220" y="2528316"/>
            <a:ext cx="118872" cy="118872"/>
          </a:xfrm>
          <a:prstGeom prst="ellipse">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85216" y="2953512"/>
            <a:ext cx="2558795" cy="950976"/>
          </a:xfrm>
          <a:prstGeom prst="rect">
            <a:avLst/>
          </a:prstGeom>
          <a:noFill/>
        </p:spPr>
        <p:txBody>
          <a:bodyPr wrap="square" lIns="0" rIns="0" tIns="0" bIns="0" anchor="t">
            <a:spAutoFit/>
          </a:bodyPr>
          <a:lstStyle/>
          <a:p>
            <a:pPr algn="l">
              <a:lnSpc>
                <a:spcPct val="106000"/>
              </a:lnSpc>
              <a:spcBef>
                <a:spcPts val="0"/>
              </a:spcBef>
              <a:spcAft>
                <a:spcPts val="0"/>
              </a:spcAft>
              <a:defRPr sz="2400" b="1" i="0">
                <a:solidFill>
                  <a:srgbClr val="172326"/>
                </a:solidFill>
                <a:latin typeface="Calibri"/>
              </a:defRPr>
            </a:pPr>
            <a:r>
              <a:t>E0452</a:t>
            </a:r>
          </a:p>
        </p:txBody>
      </p:sp>
      <p:sp>
        <p:nvSpPr>
          <p:cNvPr id="17" name="TextBox 16"/>
          <p:cNvSpPr txBox="1"/>
          <p:nvPr/>
        </p:nvSpPr>
        <p:spPr>
          <a:xfrm>
            <a:off x="585216" y="4041648"/>
            <a:ext cx="2531363" cy="1261872"/>
          </a:xfrm>
          <a:prstGeom prst="rect">
            <a:avLst/>
          </a:prstGeom>
          <a:noFill/>
        </p:spPr>
        <p:txBody>
          <a:bodyPr wrap="square" lIns="0" rIns="0" tIns="0" bIns="0" anchor="t">
            <a:spAutoFit/>
          </a:bodyPr>
          <a:lstStyle/>
          <a:p>
            <a:pPr algn="l">
              <a:lnSpc>
                <a:spcPct val="106000"/>
              </a:lnSpc>
              <a:spcBef>
                <a:spcPts val="0"/>
              </a:spcBef>
              <a:spcAft>
                <a:spcPts val="0"/>
              </a:spcAft>
              <a:defRPr sz="2250" b="0" i="0">
                <a:solidFill>
                  <a:srgbClr val="253438"/>
                </a:solidFill>
                <a:latin typeface="Calibri"/>
              </a:defRPr>
            </a:pPr>
            <a:r>
              <a:t>Intermittent-assist</a:t>
            </a:r>
          </a:p>
          <a:p>
            <a:pPr algn="l">
              <a:lnSpc>
                <a:spcPct val="106000"/>
              </a:lnSpc>
              <a:spcBef>
                <a:spcPts val="0"/>
              </a:spcBef>
              <a:spcAft>
                <a:spcPts val="0"/>
              </a:spcAft>
              <a:defRPr sz="2250" b="0" i="0">
                <a:solidFill>
                  <a:srgbClr val="253438"/>
                </a:solidFill>
                <a:latin typeface="Calibri"/>
              </a:defRPr>
            </a:pPr>
            <a:r>
              <a:t>device with CPAP</a:t>
            </a:r>
          </a:p>
          <a:p>
            <a:pPr algn="l">
              <a:lnSpc>
                <a:spcPct val="106000"/>
              </a:lnSpc>
              <a:spcBef>
                <a:spcPts val="0"/>
              </a:spcBef>
              <a:spcAft>
                <a:spcPts val="0"/>
              </a:spcAft>
              <a:defRPr sz="2250" b="0" i="0">
                <a:solidFill>
                  <a:srgbClr val="253438"/>
                </a:solidFill>
                <a:latin typeface="Calibri"/>
              </a:defRPr>
            </a:pPr>
            <a:r>
              <a:t>capability</a:t>
            </a:r>
          </a:p>
        </p:txBody>
      </p:sp>
      <p:sp>
        <p:nvSpPr>
          <p:cNvPr id="18" name="TextBox 17"/>
          <p:cNvSpPr txBox="1"/>
          <p:nvPr/>
        </p:nvSpPr>
        <p:spPr>
          <a:xfrm>
            <a:off x="3390899" y="1929384"/>
            <a:ext cx="2604515" cy="502920"/>
          </a:xfrm>
          <a:prstGeom prst="rect">
            <a:avLst/>
          </a:prstGeom>
          <a:noFill/>
        </p:spPr>
        <p:txBody>
          <a:bodyPr wrap="square" lIns="0" rIns="0" tIns="0" bIns="0" anchor="t">
            <a:spAutoFit/>
          </a:bodyPr>
          <a:lstStyle/>
          <a:p>
            <a:pPr algn="l">
              <a:lnSpc>
                <a:spcPct val="106000"/>
              </a:lnSpc>
              <a:spcBef>
                <a:spcPts val="0"/>
              </a:spcBef>
              <a:spcAft>
                <a:spcPts val="0"/>
              </a:spcAft>
              <a:defRPr sz="2500" b="1" i="0">
                <a:solidFill>
                  <a:srgbClr val="1C6970"/>
                </a:solidFill>
                <a:latin typeface="Calibri"/>
              </a:defRPr>
            </a:pPr>
            <a:r>
              <a:t>1993</a:t>
            </a:r>
          </a:p>
        </p:txBody>
      </p:sp>
      <p:sp>
        <p:nvSpPr>
          <p:cNvPr id="19" name="Oval 18"/>
          <p:cNvSpPr/>
          <p:nvPr/>
        </p:nvSpPr>
        <p:spPr>
          <a:xfrm>
            <a:off x="3422903" y="2528316"/>
            <a:ext cx="118872" cy="118872"/>
          </a:xfrm>
          <a:prstGeom prst="ellipse">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390899" y="2953512"/>
            <a:ext cx="2558795" cy="950976"/>
          </a:xfrm>
          <a:prstGeom prst="rect">
            <a:avLst/>
          </a:prstGeom>
          <a:noFill/>
        </p:spPr>
        <p:txBody>
          <a:bodyPr wrap="square" lIns="0" rIns="0" tIns="0" bIns="0" anchor="t">
            <a:spAutoFit/>
          </a:bodyPr>
          <a:lstStyle/>
          <a:p>
            <a:pPr algn="l">
              <a:lnSpc>
                <a:spcPct val="106000"/>
              </a:lnSpc>
              <a:spcBef>
                <a:spcPts val="0"/>
              </a:spcBef>
              <a:spcAft>
                <a:spcPts val="0"/>
              </a:spcAft>
              <a:defRPr sz="2400" b="1" i="0">
                <a:solidFill>
                  <a:srgbClr val="172326"/>
                </a:solidFill>
                <a:latin typeface="Calibri"/>
              </a:defRPr>
            </a:pPr>
            <a:r>
              <a:t>Statutory exclusion</a:t>
            </a:r>
          </a:p>
        </p:txBody>
      </p:sp>
      <p:sp>
        <p:nvSpPr>
          <p:cNvPr id="21" name="TextBox 20"/>
          <p:cNvSpPr txBox="1"/>
          <p:nvPr/>
        </p:nvSpPr>
        <p:spPr>
          <a:xfrm>
            <a:off x="3390899" y="4041648"/>
            <a:ext cx="2531363" cy="1261872"/>
          </a:xfrm>
          <a:prstGeom prst="rect">
            <a:avLst/>
          </a:prstGeom>
          <a:noFill/>
        </p:spPr>
        <p:txBody>
          <a:bodyPr wrap="square" lIns="0" rIns="0" tIns="0" bIns="0" anchor="t">
            <a:spAutoFit/>
          </a:bodyPr>
          <a:lstStyle/>
          <a:p>
            <a:pPr algn="l">
              <a:lnSpc>
                <a:spcPct val="106000"/>
              </a:lnSpc>
              <a:spcBef>
                <a:spcPts val="0"/>
              </a:spcBef>
              <a:spcAft>
                <a:spcPts val="0"/>
              </a:spcAft>
              <a:defRPr sz="2250" b="0" i="0">
                <a:solidFill>
                  <a:srgbClr val="253438"/>
                </a:solidFill>
                <a:latin typeface="Calibri"/>
              </a:defRPr>
            </a:pPr>
            <a:r>
              <a:t>Intermittent-assist</a:t>
            </a:r>
          </a:p>
          <a:p>
            <a:pPr algn="l">
              <a:lnSpc>
                <a:spcPct val="106000"/>
              </a:lnSpc>
              <a:spcBef>
                <a:spcPts val="0"/>
              </a:spcBef>
              <a:spcAft>
                <a:spcPts val="0"/>
              </a:spcAft>
              <a:defRPr sz="2250" b="0" i="0">
                <a:solidFill>
                  <a:srgbClr val="253438"/>
                </a:solidFill>
                <a:latin typeface="Calibri"/>
              </a:defRPr>
            </a:pPr>
            <a:r>
              <a:t>devices excluded</a:t>
            </a:r>
          </a:p>
          <a:p>
            <a:pPr algn="l">
              <a:lnSpc>
                <a:spcPct val="106000"/>
              </a:lnSpc>
              <a:spcBef>
                <a:spcPts val="0"/>
              </a:spcBef>
              <a:spcAft>
                <a:spcPts val="0"/>
              </a:spcAft>
              <a:defRPr sz="2250" b="0" i="0">
                <a:solidFill>
                  <a:srgbClr val="253438"/>
                </a:solidFill>
                <a:latin typeface="Calibri"/>
              </a:defRPr>
            </a:pPr>
            <a:r>
              <a:t>from frequent</a:t>
            </a:r>
          </a:p>
          <a:p>
            <a:pPr algn="l">
              <a:lnSpc>
                <a:spcPct val="106000"/>
              </a:lnSpc>
              <a:spcBef>
                <a:spcPts val="0"/>
              </a:spcBef>
              <a:spcAft>
                <a:spcPts val="0"/>
              </a:spcAft>
              <a:defRPr sz="2250" b="0" i="0">
                <a:solidFill>
                  <a:srgbClr val="253438"/>
                </a:solidFill>
                <a:latin typeface="Calibri"/>
              </a:defRPr>
            </a:pPr>
            <a:r>
              <a:t>servicing</a:t>
            </a:r>
          </a:p>
        </p:txBody>
      </p:sp>
      <p:sp>
        <p:nvSpPr>
          <p:cNvPr id="22" name="TextBox 21"/>
          <p:cNvSpPr txBox="1"/>
          <p:nvPr/>
        </p:nvSpPr>
        <p:spPr>
          <a:xfrm>
            <a:off x="6196583" y="1929384"/>
            <a:ext cx="2604515" cy="502920"/>
          </a:xfrm>
          <a:prstGeom prst="rect">
            <a:avLst/>
          </a:prstGeom>
          <a:noFill/>
        </p:spPr>
        <p:txBody>
          <a:bodyPr wrap="square" lIns="0" rIns="0" tIns="0" bIns="0" anchor="t">
            <a:spAutoFit/>
          </a:bodyPr>
          <a:lstStyle/>
          <a:p>
            <a:pPr algn="l">
              <a:lnSpc>
                <a:spcPct val="106000"/>
              </a:lnSpc>
              <a:spcBef>
                <a:spcPts val="0"/>
              </a:spcBef>
              <a:spcAft>
                <a:spcPts val="0"/>
              </a:spcAft>
              <a:defRPr sz="2500" b="1" i="0">
                <a:solidFill>
                  <a:srgbClr val="1C6970"/>
                </a:solidFill>
                <a:latin typeface="Calibri"/>
              </a:defRPr>
            </a:pPr>
            <a:r>
              <a:t>1999</a:t>
            </a:r>
          </a:p>
        </p:txBody>
      </p:sp>
      <p:sp>
        <p:nvSpPr>
          <p:cNvPr id="23" name="Oval 22"/>
          <p:cNvSpPr/>
          <p:nvPr/>
        </p:nvSpPr>
        <p:spPr>
          <a:xfrm>
            <a:off x="6228587" y="2528316"/>
            <a:ext cx="118872" cy="118872"/>
          </a:xfrm>
          <a:prstGeom prst="ellipse">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196583" y="2953512"/>
            <a:ext cx="2558795" cy="950976"/>
          </a:xfrm>
          <a:prstGeom prst="rect">
            <a:avLst/>
          </a:prstGeom>
          <a:noFill/>
        </p:spPr>
        <p:txBody>
          <a:bodyPr wrap="square" lIns="0" rIns="0" tIns="0" bIns="0" anchor="t">
            <a:spAutoFit/>
          </a:bodyPr>
          <a:lstStyle/>
          <a:p>
            <a:pPr algn="l">
              <a:lnSpc>
                <a:spcPct val="106000"/>
              </a:lnSpc>
              <a:spcBef>
                <a:spcPts val="0"/>
              </a:spcBef>
              <a:spcAft>
                <a:spcPts val="0"/>
              </a:spcAft>
              <a:defRPr sz="2400" b="1" i="0">
                <a:solidFill>
                  <a:srgbClr val="172326"/>
                </a:solidFill>
                <a:latin typeface="Calibri"/>
              </a:defRPr>
            </a:pPr>
            <a:r>
              <a:t>RAD nomenclature</a:t>
            </a:r>
          </a:p>
        </p:txBody>
      </p:sp>
      <p:sp>
        <p:nvSpPr>
          <p:cNvPr id="25" name="TextBox 24"/>
          <p:cNvSpPr txBox="1"/>
          <p:nvPr/>
        </p:nvSpPr>
        <p:spPr>
          <a:xfrm>
            <a:off x="6196583" y="4041648"/>
            <a:ext cx="2531363" cy="1261872"/>
          </a:xfrm>
          <a:prstGeom prst="rect">
            <a:avLst/>
          </a:prstGeom>
          <a:noFill/>
        </p:spPr>
        <p:txBody>
          <a:bodyPr wrap="square" lIns="0" rIns="0" tIns="0" bIns="0" anchor="t">
            <a:spAutoFit/>
          </a:bodyPr>
          <a:lstStyle/>
          <a:p>
            <a:pPr algn="l">
              <a:lnSpc>
                <a:spcPct val="106000"/>
              </a:lnSpc>
              <a:spcBef>
                <a:spcPts val="0"/>
              </a:spcBef>
              <a:spcAft>
                <a:spcPts val="0"/>
              </a:spcAft>
              <a:defRPr sz="2250" b="0" i="0">
                <a:solidFill>
                  <a:srgbClr val="253438"/>
                </a:solidFill>
                <a:latin typeface="Calibri"/>
              </a:defRPr>
            </a:pPr>
            <a:r>
              <a:t>Separate</a:t>
            </a:r>
          </a:p>
          <a:p>
            <a:pPr algn="l">
              <a:lnSpc>
                <a:spcPct val="106000"/>
              </a:lnSpc>
              <a:spcBef>
                <a:spcPts val="0"/>
              </a:spcBef>
              <a:spcAft>
                <a:spcPts val="0"/>
              </a:spcAft>
              <a:defRPr sz="2250" b="0" i="0">
                <a:solidFill>
                  <a:srgbClr val="253438"/>
                </a:solidFill>
                <a:latin typeface="Calibri"/>
              </a:defRPr>
            </a:pPr>
            <a:r>
              <a:t>backup-rate and</a:t>
            </a:r>
          </a:p>
          <a:p>
            <a:pPr algn="l">
              <a:lnSpc>
                <a:spcPct val="106000"/>
              </a:lnSpc>
              <a:spcBef>
                <a:spcPts val="0"/>
              </a:spcBef>
              <a:spcAft>
                <a:spcPts val="0"/>
              </a:spcAft>
              <a:defRPr sz="2250" b="0" i="0">
                <a:solidFill>
                  <a:srgbClr val="253438"/>
                </a:solidFill>
                <a:latin typeface="Calibri"/>
              </a:defRPr>
            </a:pPr>
            <a:r>
              <a:t>interface codes</a:t>
            </a:r>
          </a:p>
        </p:txBody>
      </p:sp>
      <p:sp>
        <p:nvSpPr>
          <p:cNvPr id="26" name="TextBox 25"/>
          <p:cNvSpPr txBox="1"/>
          <p:nvPr/>
        </p:nvSpPr>
        <p:spPr>
          <a:xfrm>
            <a:off x="9002267" y="1929384"/>
            <a:ext cx="2604515" cy="502920"/>
          </a:xfrm>
          <a:prstGeom prst="rect">
            <a:avLst/>
          </a:prstGeom>
          <a:noFill/>
        </p:spPr>
        <p:txBody>
          <a:bodyPr wrap="square" lIns="0" rIns="0" tIns="0" bIns="0" anchor="t">
            <a:spAutoFit/>
          </a:bodyPr>
          <a:lstStyle/>
          <a:p>
            <a:pPr algn="l">
              <a:lnSpc>
                <a:spcPct val="106000"/>
              </a:lnSpc>
              <a:spcBef>
                <a:spcPts val="0"/>
              </a:spcBef>
              <a:spcAft>
                <a:spcPts val="0"/>
              </a:spcAft>
              <a:defRPr sz="2500" b="1" i="0">
                <a:solidFill>
                  <a:srgbClr val="1C6970"/>
                </a:solidFill>
                <a:latin typeface="Calibri"/>
              </a:defRPr>
            </a:pPr>
            <a:r>
              <a:t>2006</a:t>
            </a:r>
          </a:p>
        </p:txBody>
      </p:sp>
      <p:sp>
        <p:nvSpPr>
          <p:cNvPr id="27" name="Oval 26"/>
          <p:cNvSpPr/>
          <p:nvPr/>
        </p:nvSpPr>
        <p:spPr>
          <a:xfrm>
            <a:off x="9034271" y="2528316"/>
            <a:ext cx="118872" cy="118872"/>
          </a:xfrm>
          <a:prstGeom prst="ellipse">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9002267" y="2953512"/>
            <a:ext cx="2558795" cy="950976"/>
          </a:xfrm>
          <a:prstGeom prst="rect">
            <a:avLst/>
          </a:prstGeom>
          <a:noFill/>
        </p:spPr>
        <p:txBody>
          <a:bodyPr wrap="square" lIns="0" rIns="0" tIns="0" bIns="0" anchor="t">
            <a:spAutoFit/>
          </a:bodyPr>
          <a:lstStyle/>
          <a:p>
            <a:pPr algn="l">
              <a:lnSpc>
                <a:spcPct val="106000"/>
              </a:lnSpc>
              <a:spcBef>
                <a:spcPts val="0"/>
              </a:spcBef>
              <a:spcAft>
                <a:spcPts val="0"/>
              </a:spcAft>
              <a:defRPr sz="2400" b="1" i="0">
                <a:solidFill>
                  <a:srgbClr val="172326"/>
                </a:solidFill>
                <a:latin typeface="Calibri"/>
              </a:defRPr>
            </a:pPr>
            <a:r>
              <a:t>Backup-rate RAD</a:t>
            </a:r>
          </a:p>
          <a:p>
            <a:pPr algn="l">
              <a:lnSpc>
                <a:spcPct val="106000"/>
              </a:lnSpc>
              <a:spcBef>
                <a:spcPts val="0"/>
              </a:spcBef>
              <a:spcAft>
                <a:spcPts val="0"/>
              </a:spcAft>
              <a:defRPr sz="2400" b="1" i="0">
                <a:solidFill>
                  <a:srgbClr val="172326"/>
                </a:solidFill>
                <a:latin typeface="Calibri"/>
              </a:defRPr>
            </a:pPr>
            <a:r>
              <a:t>payment</a:t>
            </a:r>
          </a:p>
        </p:txBody>
      </p:sp>
      <p:sp>
        <p:nvSpPr>
          <p:cNvPr id="29" name="TextBox 28"/>
          <p:cNvSpPr txBox="1"/>
          <p:nvPr/>
        </p:nvSpPr>
        <p:spPr>
          <a:xfrm>
            <a:off x="9002267" y="4041648"/>
            <a:ext cx="2531363" cy="1261872"/>
          </a:xfrm>
          <a:prstGeom prst="rect">
            <a:avLst/>
          </a:prstGeom>
          <a:noFill/>
        </p:spPr>
        <p:txBody>
          <a:bodyPr wrap="square" lIns="0" rIns="0" tIns="0" bIns="0" anchor="t">
            <a:spAutoFit/>
          </a:bodyPr>
          <a:lstStyle/>
          <a:p>
            <a:pPr algn="l">
              <a:lnSpc>
                <a:spcPct val="106000"/>
              </a:lnSpc>
              <a:spcBef>
                <a:spcPts val="0"/>
              </a:spcBef>
              <a:spcAft>
                <a:spcPts val="0"/>
              </a:spcAft>
              <a:defRPr sz="2250" b="0" i="0">
                <a:solidFill>
                  <a:srgbClr val="253438"/>
                </a:solidFill>
                <a:latin typeface="Calibri"/>
              </a:defRPr>
            </a:pPr>
            <a:r>
              <a:t>Capped rental</a:t>
            </a:r>
          </a:p>
          <a:p>
            <a:pPr algn="l">
              <a:lnSpc>
                <a:spcPct val="106000"/>
              </a:lnSpc>
              <a:spcBef>
                <a:spcPts val="0"/>
              </a:spcBef>
              <a:spcAft>
                <a:spcPts val="0"/>
              </a:spcAft>
              <a:defRPr sz="2250" b="0" i="0">
                <a:solidFill>
                  <a:srgbClr val="253438"/>
                </a:solidFill>
                <a:latin typeface="Calibri"/>
              </a:defRPr>
            </a:pPr>
            <a:r>
              <a:t>effective April 1</a:t>
            </a:r>
          </a:p>
        </p:txBody>
      </p:sp>
      <p:sp>
        <p:nvSpPr>
          <p:cNvPr id="30" name="Rectangle 29"/>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000" b="0" i="0">
                <a:solidFill>
                  <a:srgbClr val="172326"/>
                </a:solidFill>
                <a:latin typeface="Calibri"/>
              </a:defRPr>
            </a:pPr>
            <a:r>
              <a:t>Manufacturer submission: part-day use, usually during sleep, with little routine maintenance.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III · RESPIRATORY ASSIST DEVICES</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Diagnosis-specific RAD coverage</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71 FR 4518–4525 (2006) [R13] · ONMAP 2021 [R14] · R17</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S11</a:t>
            </a:r>
          </a:p>
        </p:txBody>
      </p:sp>
      <p:sp>
        <p:nvSpPr>
          <p:cNvPr id="12" name="Rectangle 11"/>
          <p:cNvSpPr/>
          <p:nvPr/>
        </p:nvSpPr>
        <p:spPr>
          <a:xfrm>
            <a:off x="585216" y="1828800"/>
            <a:ext cx="5355335" cy="1389888"/>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95528" y="2048256"/>
            <a:ext cx="4934711" cy="941832"/>
          </a:xfrm>
          <a:prstGeom prst="rect">
            <a:avLst/>
          </a:prstGeom>
          <a:noFill/>
        </p:spPr>
        <p:txBody>
          <a:bodyPr wrap="square" lIns="0" rIns="0" tIns="0" bIns="0" anchor="ctr">
            <a:spAutoFit/>
          </a:bodyPr>
          <a:lstStyle/>
          <a:p>
            <a:pPr algn="l">
              <a:lnSpc>
                <a:spcPct val="106000"/>
              </a:lnSpc>
              <a:spcBef>
                <a:spcPts val="0"/>
              </a:spcBef>
              <a:spcAft>
                <a:spcPts val="0"/>
              </a:spcAft>
              <a:defRPr sz="2900" b="1" i="0">
                <a:solidFill>
                  <a:srgbClr val="172326"/>
                </a:solidFill>
                <a:latin typeface="Calibri"/>
              </a:defRPr>
            </a:pPr>
            <a:r>
              <a:t>Restrictive thoracic /</a:t>
            </a:r>
          </a:p>
          <a:p>
            <a:pPr algn="l">
              <a:lnSpc>
                <a:spcPct val="106000"/>
              </a:lnSpc>
              <a:spcBef>
                <a:spcPts val="0"/>
              </a:spcBef>
              <a:spcAft>
                <a:spcPts val="0"/>
              </a:spcAft>
              <a:defRPr sz="2900" b="1" i="0">
                <a:solidFill>
                  <a:srgbClr val="172326"/>
                </a:solidFill>
                <a:latin typeface="Calibri"/>
              </a:defRPr>
            </a:pPr>
            <a:r>
              <a:t>neuromuscular disorders</a:t>
            </a:r>
          </a:p>
        </p:txBody>
      </p:sp>
      <p:sp>
        <p:nvSpPr>
          <p:cNvPr id="14" name="Rectangle 13"/>
          <p:cNvSpPr/>
          <p:nvPr/>
        </p:nvSpPr>
        <p:spPr>
          <a:xfrm>
            <a:off x="6251447" y="1828800"/>
            <a:ext cx="5355335" cy="1389888"/>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61759" y="2048256"/>
            <a:ext cx="4934711" cy="941832"/>
          </a:xfrm>
          <a:prstGeom prst="rect">
            <a:avLst/>
          </a:prstGeom>
          <a:noFill/>
        </p:spPr>
        <p:txBody>
          <a:bodyPr wrap="square" lIns="0" rIns="0" tIns="0" bIns="0" anchor="ctr">
            <a:spAutoFit/>
          </a:bodyPr>
          <a:lstStyle/>
          <a:p>
            <a:pPr algn="l">
              <a:lnSpc>
                <a:spcPct val="106000"/>
              </a:lnSpc>
              <a:spcBef>
                <a:spcPts val="0"/>
              </a:spcBef>
              <a:spcAft>
                <a:spcPts val="0"/>
              </a:spcAft>
              <a:defRPr sz="2900" b="1" i="0">
                <a:solidFill>
                  <a:srgbClr val="172326"/>
                </a:solidFill>
                <a:latin typeface="Calibri"/>
              </a:defRPr>
            </a:pPr>
            <a:r>
              <a:t>COPD-related</a:t>
            </a:r>
          </a:p>
          <a:p>
            <a:pPr algn="l">
              <a:lnSpc>
                <a:spcPct val="106000"/>
              </a:lnSpc>
              <a:spcBef>
                <a:spcPts val="0"/>
              </a:spcBef>
              <a:spcAft>
                <a:spcPts val="0"/>
              </a:spcAft>
              <a:defRPr sz="2900" b="1" i="0">
                <a:solidFill>
                  <a:srgbClr val="172326"/>
                </a:solidFill>
                <a:latin typeface="Calibri"/>
              </a:defRPr>
            </a:pPr>
            <a:r>
              <a:t>respiratory failure</a:t>
            </a:r>
          </a:p>
        </p:txBody>
      </p:sp>
      <p:sp>
        <p:nvSpPr>
          <p:cNvPr id="16" name="Rectangle 15"/>
          <p:cNvSpPr/>
          <p:nvPr/>
        </p:nvSpPr>
        <p:spPr>
          <a:xfrm>
            <a:off x="585216" y="3474720"/>
            <a:ext cx="5355335" cy="1389888"/>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95528" y="3694176"/>
            <a:ext cx="4934711" cy="941832"/>
          </a:xfrm>
          <a:prstGeom prst="rect">
            <a:avLst/>
          </a:prstGeom>
          <a:noFill/>
        </p:spPr>
        <p:txBody>
          <a:bodyPr wrap="square" lIns="0" rIns="0" tIns="0" bIns="0" anchor="ctr">
            <a:spAutoFit/>
          </a:bodyPr>
          <a:lstStyle/>
          <a:p>
            <a:pPr algn="l">
              <a:lnSpc>
                <a:spcPct val="106000"/>
              </a:lnSpc>
              <a:spcBef>
                <a:spcPts val="0"/>
              </a:spcBef>
              <a:spcAft>
                <a:spcPts val="0"/>
              </a:spcAft>
              <a:defRPr sz="2900" b="1" i="0">
                <a:solidFill>
                  <a:srgbClr val="172326"/>
                </a:solidFill>
                <a:latin typeface="Calibri"/>
              </a:defRPr>
            </a:pPr>
            <a:r>
              <a:t>Central / complex</a:t>
            </a:r>
          </a:p>
          <a:p>
            <a:pPr algn="l">
              <a:lnSpc>
                <a:spcPct val="106000"/>
              </a:lnSpc>
              <a:spcBef>
                <a:spcPts val="0"/>
              </a:spcBef>
              <a:spcAft>
                <a:spcPts val="0"/>
              </a:spcAft>
              <a:defRPr sz="2900" b="1" i="0">
                <a:solidFill>
                  <a:srgbClr val="172326"/>
                </a:solidFill>
                <a:latin typeface="Calibri"/>
              </a:defRPr>
            </a:pPr>
            <a:r>
              <a:t>sleep apnea</a:t>
            </a:r>
          </a:p>
        </p:txBody>
      </p:sp>
      <p:sp>
        <p:nvSpPr>
          <p:cNvPr id="18" name="Rectangle 17"/>
          <p:cNvSpPr/>
          <p:nvPr/>
        </p:nvSpPr>
        <p:spPr>
          <a:xfrm>
            <a:off x="6251447" y="3474720"/>
            <a:ext cx="5355335" cy="1389888"/>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461759" y="3694176"/>
            <a:ext cx="4934711" cy="941832"/>
          </a:xfrm>
          <a:prstGeom prst="rect">
            <a:avLst/>
          </a:prstGeom>
          <a:noFill/>
        </p:spPr>
        <p:txBody>
          <a:bodyPr wrap="square" lIns="0" rIns="0" tIns="0" bIns="0" anchor="ctr">
            <a:spAutoFit/>
          </a:bodyPr>
          <a:lstStyle/>
          <a:p>
            <a:pPr algn="l">
              <a:lnSpc>
                <a:spcPct val="106000"/>
              </a:lnSpc>
              <a:spcBef>
                <a:spcPts val="0"/>
              </a:spcBef>
              <a:spcAft>
                <a:spcPts val="0"/>
              </a:spcAft>
              <a:defRPr sz="2900" b="1" i="0">
                <a:solidFill>
                  <a:srgbClr val="172326"/>
                </a:solidFill>
                <a:latin typeface="Calibri"/>
              </a:defRPr>
            </a:pPr>
            <a:r>
              <a:t>Hypoventilation</a:t>
            </a:r>
          </a:p>
          <a:p>
            <a:pPr algn="l">
              <a:lnSpc>
                <a:spcPct val="106000"/>
              </a:lnSpc>
              <a:spcBef>
                <a:spcPts val="0"/>
              </a:spcBef>
              <a:spcAft>
                <a:spcPts val="0"/>
              </a:spcAft>
              <a:defRPr sz="2900" b="1" i="0">
                <a:solidFill>
                  <a:srgbClr val="172326"/>
                </a:solidFill>
                <a:latin typeface="Calibri"/>
              </a:defRPr>
            </a:pPr>
            <a:r>
              <a:t>syndromes</a:t>
            </a:r>
          </a:p>
        </p:txBody>
      </p:sp>
      <p:sp>
        <p:nvSpPr>
          <p:cNvPr id="20" name="Rectangle 19"/>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100" b="0" i="0">
                <a:solidFill>
                  <a:srgbClr val="172326"/>
                </a:solidFill>
                <a:latin typeface="Calibri"/>
              </a:defRPr>
            </a:pPr>
            <a:r>
              <a:t>Coverage policies developed around diagnoses, gas exchange, testing, and device features.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IV · CURRENT LANDSCAPE</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Overlapping modes, different platforms</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CMS NCD 240.9 [R16] · CMS LCD L33800 [R17] · R18, R20</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S12</a:t>
            </a:r>
          </a:p>
        </p:txBody>
      </p:sp>
      <p:sp>
        <p:nvSpPr>
          <p:cNvPr id="12" name="Rectangle 11"/>
          <p:cNvSpPr/>
          <p:nvPr/>
        </p:nvSpPr>
        <p:spPr>
          <a:xfrm>
            <a:off x="585216" y="1773936"/>
            <a:ext cx="11021567" cy="475488"/>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13232" y="1847088"/>
            <a:ext cx="3246120" cy="365760"/>
          </a:xfrm>
          <a:prstGeom prst="rect">
            <a:avLst/>
          </a:prstGeom>
          <a:noFill/>
        </p:spPr>
        <p:txBody>
          <a:bodyPr wrap="square" lIns="0" rIns="0" tIns="0" bIns="0" anchor="t">
            <a:spAutoFit/>
          </a:bodyPr>
          <a:lstStyle/>
          <a:p>
            <a:pPr algn="l">
              <a:lnSpc>
                <a:spcPct val="106000"/>
              </a:lnSpc>
              <a:spcBef>
                <a:spcPts val="0"/>
              </a:spcBef>
              <a:spcAft>
                <a:spcPts val="0"/>
              </a:spcAft>
              <a:defRPr sz="2100" b="1" i="0">
                <a:solidFill>
                  <a:srgbClr val="172326"/>
                </a:solidFill>
                <a:latin typeface="Calibri"/>
              </a:defRPr>
            </a:pPr>
            <a:r>
              <a:t>Equipment</a:t>
            </a:r>
          </a:p>
        </p:txBody>
      </p:sp>
      <p:sp>
        <p:nvSpPr>
          <p:cNvPr id="14" name="TextBox 13"/>
          <p:cNvSpPr txBox="1"/>
          <p:nvPr/>
        </p:nvSpPr>
        <p:spPr>
          <a:xfrm>
            <a:off x="4215383" y="1847088"/>
            <a:ext cx="5157216" cy="365760"/>
          </a:xfrm>
          <a:prstGeom prst="rect">
            <a:avLst/>
          </a:prstGeom>
          <a:noFill/>
        </p:spPr>
        <p:txBody>
          <a:bodyPr wrap="square" lIns="0" rIns="0" tIns="0" bIns="0" anchor="t">
            <a:spAutoFit/>
          </a:bodyPr>
          <a:lstStyle/>
          <a:p>
            <a:pPr algn="l">
              <a:lnSpc>
                <a:spcPct val="106000"/>
              </a:lnSpc>
              <a:spcBef>
                <a:spcPts val="0"/>
              </a:spcBef>
              <a:spcAft>
                <a:spcPts val="0"/>
              </a:spcAft>
              <a:defRPr sz="2100" b="1" i="0">
                <a:solidFill>
                  <a:srgbClr val="172326"/>
                </a:solidFill>
                <a:latin typeface="Calibri"/>
              </a:defRPr>
            </a:pPr>
            <a:r>
              <a:t>Pressure / support</a:t>
            </a:r>
          </a:p>
        </p:txBody>
      </p:sp>
      <p:sp>
        <p:nvSpPr>
          <p:cNvPr id="15" name="TextBox 14"/>
          <p:cNvSpPr txBox="1"/>
          <p:nvPr/>
        </p:nvSpPr>
        <p:spPr>
          <a:xfrm>
            <a:off x="9628632" y="1847088"/>
            <a:ext cx="1850105" cy="365760"/>
          </a:xfrm>
          <a:prstGeom prst="rect">
            <a:avLst/>
          </a:prstGeom>
          <a:noFill/>
        </p:spPr>
        <p:txBody>
          <a:bodyPr wrap="square" lIns="0" rIns="0" tIns="0" bIns="0" anchor="t">
            <a:spAutoFit/>
          </a:bodyPr>
          <a:lstStyle/>
          <a:p>
            <a:pPr algn="l">
              <a:lnSpc>
                <a:spcPct val="106000"/>
              </a:lnSpc>
              <a:spcBef>
                <a:spcPts val="0"/>
              </a:spcBef>
              <a:spcAft>
                <a:spcPts val="0"/>
              </a:spcAft>
              <a:defRPr sz="2100" b="1" i="0">
                <a:solidFill>
                  <a:srgbClr val="172326"/>
                </a:solidFill>
                <a:latin typeface="Calibri"/>
              </a:defRPr>
            </a:pPr>
            <a:r>
              <a:t>Common code</a:t>
            </a:r>
          </a:p>
        </p:txBody>
      </p:sp>
      <p:cxnSp>
        <p:nvCxnSpPr>
          <p:cNvPr id="16" name="Connector 15"/>
          <p:cNvCxnSpPr/>
          <p:nvPr/>
        </p:nvCxnSpPr>
        <p:spPr>
          <a:xfrm>
            <a:off x="585216" y="2249424"/>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713232" y="2269540"/>
            <a:ext cx="3246120" cy="569671"/>
          </a:xfrm>
          <a:prstGeom prst="rect">
            <a:avLst/>
          </a:prstGeom>
          <a:noFill/>
        </p:spPr>
        <p:txBody>
          <a:bodyPr wrap="square" lIns="0" rIns="0" tIns="0" bIns="0" anchor="ctr">
            <a:spAutoFit/>
          </a:bodyPr>
          <a:lstStyle/>
          <a:p>
            <a:pPr algn="l">
              <a:lnSpc>
                <a:spcPct val="106000"/>
              </a:lnSpc>
              <a:spcBef>
                <a:spcPts val="0"/>
              </a:spcBef>
              <a:spcAft>
                <a:spcPts val="0"/>
              </a:spcAft>
              <a:defRPr sz="2400" b="1" i="0">
                <a:solidFill>
                  <a:srgbClr val="172326"/>
                </a:solidFill>
                <a:latin typeface="Calibri"/>
              </a:defRPr>
            </a:pPr>
            <a:r>
              <a:t>CPAP / APAP</a:t>
            </a:r>
          </a:p>
        </p:txBody>
      </p:sp>
      <p:sp>
        <p:nvSpPr>
          <p:cNvPr id="18" name="TextBox 17"/>
          <p:cNvSpPr txBox="1"/>
          <p:nvPr/>
        </p:nvSpPr>
        <p:spPr>
          <a:xfrm>
            <a:off x="4215383" y="2269540"/>
            <a:ext cx="5157216" cy="569671"/>
          </a:xfrm>
          <a:prstGeom prst="rect">
            <a:avLst/>
          </a:prstGeom>
          <a:noFill/>
        </p:spPr>
        <p:txBody>
          <a:bodyPr wrap="square" lIns="0" rIns="0" tIns="0" bIns="0" anchor="ctr">
            <a:spAutoFit/>
          </a:bodyPr>
          <a:lstStyle/>
          <a:p>
            <a:pPr algn="l">
              <a:lnSpc>
                <a:spcPct val="106000"/>
              </a:lnSpc>
              <a:spcBef>
                <a:spcPts val="0"/>
              </a:spcBef>
              <a:spcAft>
                <a:spcPts val="0"/>
              </a:spcAft>
              <a:defRPr sz="2400" b="0" i="0">
                <a:solidFill>
                  <a:srgbClr val="253438"/>
                </a:solidFill>
                <a:latin typeface="Calibri"/>
              </a:defRPr>
            </a:pPr>
            <a:r>
              <a:t>Single-level airway pressure</a:t>
            </a:r>
          </a:p>
        </p:txBody>
      </p:sp>
      <p:sp>
        <p:nvSpPr>
          <p:cNvPr id="19" name="TextBox 18"/>
          <p:cNvSpPr txBox="1"/>
          <p:nvPr/>
        </p:nvSpPr>
        <p:spPr>
          <a:xfrm>
            <a:off x="9628632" y="2269540"/>
            <a:ext cx="1850105" cy="569671"/>
          </a:xfrm>
          <a:prstGeom prst="rect">
            <a:avLst/>
          </a:prstGeom>
          <a:noFill/>
        </p:spPr>
        <p:txBody>
          <a:bodyPr wrap="square" lIns="0" rIns="0" tIns="0" bIns="0" anchor="ctr">
            <a:spAutoFit/>
          </a:bodyPr>
          <a:lstStyle/>
          <a:p>
            <a:pPr algn="l">
              <a:lnSpc>
                <a:spcPct val="106000"/>
              </a:lnSpc>
              <a:spcBef>
                <a:spcPts val="0"/>
              </a:spcBef>
              <a:spcAft>
                <a:spcPts val="0"/>
              </a:spcAft>
              <a:defRPr sz="2400" b="0" i="0">
                <a:solidFill>
                  <a:srgbClr val="253438"/>
                </a:solidFill>
                <a:latin typeface="Calibri"/>
              </a:defRPr>
            </a:pPr>
            <a:r>
              <a:t>E0601</a:t>
            </a:r>
          </a:p>
        </p:txBody>
      </p:sp>
      <p:sp>
        <p:nvSpPr>
          <p:cNvPr id="20" name="Rectangle 19"/>
          <p:cNvSpPr/>
          <p:nvPr/>
        </p:nvSpPr>
        <p:spPr>
          <a:xfrm>
            <a:off x="585216" y="2860243"/>
            <a:ext cx="11021567" cy="610819"/>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a:off x="585216" y="2860243"/>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713232" y="2880360"/>
            <a:ext cx="3246120" cy="569671"/>
          </a:xfrm>
          <a:prstGeom prst="rect">
            <a:avLst/>
          </a:prstGeom>
          <a:noFill/>
        </p:spPr>
        <p:txBody>
          <a:bodyPr wrap="square" lIns="0" rIns="0" tIns="0" bIns="0" anchor="ctr">
            <a:spAutoFit/>
          </a:bodyPr>
          <a:lstStyle/>
          <a:p>
            <a:pPr algn="l">
              <a:lnSpc>
                <a:spcPct val="106000"/>
              </a:lnSpc>
              <a:spcBef>
                <a:spcPts val="0"/>
              </a:spcBef>
              <a:spcAft>
                <a:spcPts val="0"/>
              </a:spcAft>
              <a:defRPr sz="2400" b="1" i="0">
                <a:solidFill>
                  <a:srgbClr val="172326"/>
                </a:solidFill>
                <a:latin typeface="Calibri"/>
              </a:defRPr>
            </a:pPr>
            <a:r>
              <a:t>Bilevel RAD</a:t>
            </a:r>
          </a:p>
        </p:txBody>
      </p:sp>
      <p:sp>
        <p:nvSpPr>
          <p:cNvPr id="23" name="TextBox 22"/>
          <p:cNvSpPr txBox="1"/>
          <p:nvPr/>
        </p:nvSpPr>
        <p:spPr>
          <a:xfrm>
            <a:off x="4215383" y="2880360"/>
            <a:ext cx="5157216" cy="569671"/>
          </a:xfrm>
          <a:prstGeom prst="rect">
            <a:avLst/>
          </a:prstGeom>
          <a:noFill/>
        </p:spPr>
        <p:txBody>
          <a:bodyPr wrap="square" lIns="0" rIns="0" tIns="0" bIns="0" anchor="ctr">
            <a:spAutoFit/>
          </a:bodyPr>
          <a:lstStyle/>
          <a:p>
            <a:pPr algn="l">
              <a:lnSpc>
                <a:spcPct val="106000"/>
              </a:lnSpc>
              <a:spcBef>
                <a:spcPts val="0"/>
              </a:spcBef>
              <a:spcAft>
                <a:spcPts val="0"/>
              </a:spcAft>
              <a:defRPr sz="2400" b="0" i="0">
                <a:solidFill>
                  <a:srgbClr val="253438"/>
                </a:solidFill>
                <a:latin typeface="Calibri"/>
              </a:defRPr>
            </a:pPr>
            <a:r>
              <a:t>IPAP and EPAP; no backup rate</a:t>
            </a:r>
          </a:p>
        </p:txBody>
      </p:sp>
      <p:sp>
        <p:nvSpPr>
          <p:cNvPr id="24" name="TextBox 23"/>
          <p:cNvSpPr txBox="1"/>
          <p:nvPr/>
        </p:nvSpPr>
        <p:spPr>
          <a:xfrm>
            <a:off x="9628632" y="2880360"/>
            <a:ext cx="1850105" cy="569671"/>
          </a:xfrm>
          <a:prstGeom prst="rect">
            <a:avLst/>
          </a:prstGeom>
          <a:noFill/>
        </p:spPr>
        <p:txBody>
          <a:bodyPr wrap="square" lIns="0" rIns="0" tIns="0" bIns="0" anchor="ctr">
            <a:spAutoFit/>
          </a:bodyPr>
          <a:lstStyle/>
          <a:p>
            <a:pPr algn="l">
              <a:lnSpc>
                <a:spcPct val="106000"/>
              </a:lnSpc>
              <a:spcBef>
                <a:spcPts val="0"/>
              </a:spcBef>
              <a:spcAft>
                <a:spcPts val="0"/>
              </a:spcAft>
              <a:defRPr sz="2400" b="0" i="0">
                <a:solidFill>
                  <a:srgbClr val="253438"/>
                </a:solidFill>
                <a:latin typeface="Calibri"/>
              </a:defRPr>
            </a:pPr>
            <a:r>
              <a:t>E0470</a:t>
            </a:r>
          </a:p>
        </p:txBody>
      </p:sp>
      <p:cxnSp>
        <p:nvCxnSpPr>
          <p:cNvPr id="25" name="Connector 24"/>
          <p:cNvCxnSpPr/>
          <p:nvPr/>
        </p:nvCxnSpPr>
        <p:spPr>
          <a:xfrm>
            <a:off x="585216" y="3471062"/>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713232" y="3491179"/>
            <a:ext cx="3246120" cy="569671"/>
          </a:xfrm>
          <a:prstGeom prst="rect">
            <a:avLst/>
          </a:prstGeom>
          <a:noFill/>
        </p:spPr>
        <p:txBody>
          <a:bodyPr wrap="square" lIns="0" rIns="0" tIns="0" bIns="0" anchor="ctr">
            <a:spAutoFit/>
          </a:bodyPr>
          <a:lstStyle/>
          <a:p>
            <a:pPr algn="l">
              <a:lnSpc>
                <a:spcPct val="106000"/>
              </a:lnSpc>
              <a:spcBef>
                <a:spcPts val="0"/>
              </a:spcBef>
              <a:spcAft>
                <a:spcPts val="0"/>
              </a:spcAft>
              <a:defRPr sz="2400" b="1" i="0">
                <a:solidFill>
                  <a:srgbClr val="172326"/>
                </a:solidFill>
                <a:latin typeface="Calibri"/>
              </a:defRPr>
            </a:pPr>
            <a:r>
              <a:t>Backup-rate RAD</a:t>
            </a:r>
          </a:p>
        </p:txBody>
      </p:sp>
      <p:sp>
        <p:nvSpPr>
          <p:cNvPr id="27" name="TextBox 26"/>
          <p:cNvSpPr txBox="1"/>
          <p:nvPr/>
        </p:nvSpPr>
        <p:spPr>
          <a:xfrm>
            <a:off x="4215383" y="3491179"/>
            <a:ext cx="5157216" cy="569671"/>
          </a:xfrm>
          <a:prstGeom prst="rect">
            <a:avLst/>
          </a:prstGeom>
          <a:noFill/>
        </p:spPr>
        <p:txBody>
          <a:bodyPr wrap="square" lIns="0" rIns="0" tIns="0" bIns="0" anchor="ctr">
            <a:spAutoFit/>
          </a:bodyPr>
          <a:lstStyle/>
          <a:p>
            <a:pPr algn="l">
              <a:lnSpc>
                <a:spcPct val="106000"/>
              </a:lnSpc>
              <a:spcBef>
                <a:spcPts val="0"/>
              </a:spcBef>
              <a:spcAft>
                <a:spcPts val="0"/>
              </a:spcAft>
              <a:defRPr sz="2400" b="0" i="0">
                <a:solidFill>
                  <a:srgbClr val="253438"/>
                </a:solidFill>
                <a:latin typeface="Calibri"/>
              </a:defRPr>
            </a:pPr>
            <a:r>
              <a:t>Bilevel with timed support</a:t>
            </a:r>
          </a:p>
        </p:txBody>
      </p:sp>
      <p:sp>
        <p:nvSpPr>
          <p:cNvPr id="28" name="TextBox 27"/>
          <p:cNvSpPr txBox="1"/>
          <p:nvPr/>
        </p:nvSpPr>
        <p:spPr>
          <a:xfrm>
            <a:off x="9628632" y="3491179"/>
            <a:ext cx="1850105" cy="569671"/>
          </a:xfrm>
          <a:prstGeom prst="rect">
            <a:avLst/>
          </a:prstGeom>
          <a:noFill/>
        </p:spPr>
        <p:txBody>
          <a:bodyPr wrap="square" lIns="0" rIns="0" tIns="0" bIns="0" anchor="ctr">
            <a:spAutoFit/>
          </a:bodyPr>
          <a:lstStyle/>
          <a:p>
            <a:pPr algn="l">
              <a:lnSpc>
                <a:spcPct val="106000"/>
              </a:lnSpc>
              <a:spcBef>
                <a:spcPts val="0"/>
              </a:spcBef>
              <a:spcAft>
                <a:spcPts val="0"/>
              </a:spcAft>
              <a:defRPr sz="2400" b="0" i="0">
                <a:solidFill>
                  <a:srgbClr val="253438"/>
                </a:solidFill>
                <a:latin typeface="Calibri"/>
              </a:defRPr>
            </a:pPr>
            <a:r>
              <a:t>E0471</a:t>
            </a:r>
          </a:p>
        </p:txBody>
      </p:sp>
      <p:sp>
        <p:nvSpPr>
          <p:cNvPr id="29" name="Rectangle 28"/>
          <p:cNvSpPr/>
          <p:nvPr/>
        </p:nvSpPr>
        <p:spPr>
          <a:xfrm>
            <a:off x="585216" y="4081881"/>
            <a:ext cx="11021567" cy="610819"/>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0" name="Connector 29"/>
          <p:cNvCxnSpPr/>
          <p:nvPr/>
        </p:nvCxnSpPr>
        <p:spPr>
          <a:xfrm>
            <a:off x="585216" y="4081881"/>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713232" y="4101998"/>
            <a:ext cx="3246120" cy="569671"/>
          </a:xfrm>
          <a:prstGeom prst="rect">
            <a:avLst/>
          </a:prstGeom>
          <a:noFill/>
        </p:spPr>
        <p:txBody>
          <a:bodyPr wrap="square" lIns="0" rIns="0" tIns="0" bIns="0" anchor="ctr">
            <a:spAutoFit/>
          </a:bodyPr>
          <a:lstStyle/>
          <a:p>
            <a:pPr algn="l">
              <a:lnSpc>
                <a:spcPct val="106000"/>
              </a:lnSpc>
              <a:spcBef>
                <a:spcPts val="0"/>
              </a:spcBef>
              <a:spcAft>
                <a:spcPts val="0"/>
              </a:spcAft>
              <a:defRPr sz="2400" b="1" i="0">
                <a:solidFill>
                  <a:srgbClr val="172326"/>
                </a:solidFill>
                <a:latin typeface="Calibri"/>
              </a:defRPr>
            </a:pPr>
            <a:r>
              <a:t>Noninvasive HMV</a:t>
            </a:r>
          </a:p>
        </p:txBody>
      </p:sp>
      <p:sp>
        <p:nvSpPr>
          <p:cNvPr id="32" name="TextBox 31"/>
          <p:cNvSpPr txBox="1"/>
          <p:nvPr/>
        </p:nvSpPr>
        <p:spPr>
          <a:xfrm>
            <a:off x="4215383" y="4101998"/>
            <a:ext cx="5157216" cy="569671"/>
          </a:xfrm>
          <a:prstGeom prst="rect">
            <a:avLst/>
          </a:prstGeom>
          <a:noFill/>
        </p:spPr>
        <p:txBody>
          <a:bodyPr wrap="square" lIns="0" rIns="0" tIns="0" bIns="0" anchor="ctr">
            <a:spAutoFit/>
          </a:bodyPr>
          <a:lstStyle/>
          <a:p>
            <a:pPr algn="l">
              <a:lnSpc>
                <a:spcPct val="106000"/>
              </a:lnSpc>
              <a:spcBef>
                <a:spcPts val="0"/>
              </a:spcBef>
              <a:spcAft>
                <a:spcPts val="0"/>
              </a:spcAft>
              <a:defRPr sz="2400" b="0" i="0">
                <a:solidFill>
                  <a:srgbClr val="253438"/>
                </a:solidFill>
                <a:latin typeface="Calibri"/>
              </a:defRPr>
            </a:pPr>
            <a:r>
              <a:t>Ventilator-class platform</a:t>
            </a:r>
          </a:p>
        </p:txBody>
      </p:sp>
      <p:sp>
        <p:nvSpPr>
          <p:cNvPr id="33" name="TextBox 32"/>
          <p:cNvSpPr txBox="1"/>
          <p:nvPr/>
        </p:nvSpPr>
        <p:spPr>
          <a:xfrm>
            <a:off x="9628632" y="4101998"/>
            <a:ext cx="1850105" cy="569671"/>
          </a:xfrm>
          <a:prstGeom prst="rect">
            <a:avLst/>
          </a:prstGeom>
          <a:noFill/>
        </p:spPr>
        <p:txBody>
          <a:bodyPr wrap="square" lIns="0" rIns="0" tIns="0" bIns="0" anchor="ctr">
            <a:spAutoFit/>
          </a:bodyPr>
          <a:lstStyle/>
          <a:p>
            <a:pPr algn="l">
              <a:lnSpc>
                <a:spcPct val="106000"/>
              </a:lnSpc>
              <a:spcBef>
                <a:spcPts val="0"/>
              </a:spcBef>
              <a:spcAft>
                <a:spcPts val="0"/>
              </a:spcAft>
              <a:defRPr sz="2400" b="0" i="0">
                <a:solidFill>
                  <a:srgbClr val="253438"/>
                </a:solidFill>
                <a:latin typeface="Calibri"/>
              </a:defRPr>
            </a:pPr>
            <a:r>
              <a:t>E0466</a:t>
            </a:r>
          </a:p>
        </p:txBody>
      </p:sp>
      <p:cxnSp>
        <p:nvCxnSpPr>
          <p:cNvPr id="34" name="Connector 33"/>
          <p:cNvCxnSpPr/>
          <p:nvPr/>
        </p:nvCxnSpPr>
        <p:spPr>
          <a:xfrm>
            <a:off x="585216" y="4692700"/>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713232" y="4712817"/>
            <a:ext cx="3246120" cy="569671"/>
          </a:xfrm>
          <a:prstGeom prst="rect">
            <a:avLst/>
          </a:prstGeom>
          <a:noFill/>
        </p:spPr>
        <p:txBody>
          <a:bodyPr wrap="square" lIns="0" rIns="0" tIns="0" bIns="0" anchor="ctr">
            <a:spAutoFit/>
          </a:bodyPr>
          <a:lstStyle/>
          <a:p>
            <a:pPr algn="l">
              <a:lnSpc>
                <a:spcPct val="106000"/>
              </a:lnSpc>
              <a:spcBef>
                <a:spcPts val="0"/>
              </a:spcBef>
              <a:spcAft>
                <a:spcPts val="0"/>
              </a:spcAft>
              <a:defRPr sz="2400" b="1" i="0">
                <a:solidFill>
                  <a:srgbClr val="172326"/>
                </a:solidFill>
                <a:latin typeface="Calibri"/>
              </a:defRPr>
            </a:pPr>
            <a:r>
              <a:t>Invasive HMV</a:t>
            </a:r>
          </a:p>
        </p:txBody>
      </p:sp>
      <p:sp>
        <p:nvSpPr>
          <p:cNvPr id="36" name="TextBox 35"/>
          <p:cNvSpPr txBox="1"/>
          <p:nvPr/>
        </p:nvSpPr>
        <p:spPr>
          <a:xfrm>
            <a:off x="4215383" y="4712817"/>
            <a:ext cx="5157216" cy="569671"/>
          </a:xfrm>
          <a:prstGeom prst="rect">
            <a:avLst/>
          </a:prstGeom>
          <a:noFill/>
        </p:spPr>
        <p:txBody>
          <a:bodyPr wrap="square" lIns="0" rIns="0" tIns="0" bIns="0" anchor="ctr">
            <a:spAutoFit/>
          </a:bodyPr>
          <a:lstStyle/>
          <a:p>
            <a:pPr algn="l">
              <a:lnSpc>
                <a:spcPct val="106000"/>
              </a:lnSpc>
              <a:spcBef>
                <a:spcPts val="0"/>
              </a:spcBef>
              <a:spcAft>
                <a:spcPts val="0"/>
              </a:spcAft>
              <a:defRPr sz="2400" b="0" i="0">
                <a:solidFill>
                  <a:srgbClr val="253438"/>
                </a:solidFill>
                <a:latin typeface="Calibri"/>
              </a:defRPr>
            </a:pPr>
            <a:r>
              <a:t>Ventilator via invasive interface</a:t>
            </a:r>
          </a:p>
        </p:txBody>
      </p:sp>
      <p:sp>
        <p:nvSpPr>
          <p:cNvPr id="37" name="TextBox 36"/>
          <p:cNvSpPr txBox="1"/>
          <p:nvPr/>
        </p:nvSpPr>
        <p:spPr>
          <a:xfrm>
            <a:off x="9628632" y="4712817"/>
            <a:ext cx="1850105" cy="569671"/>
          </a:xfrm>
          <a:prstGeom prst="rect">
            <a:avLst/>
          </a:prstGeom>
          <a:noFill/>
        </p:spPr>
        <p:txBody>
          <a:bodyPr wrap="square" lIns="0" rIns="0" tIns="0" bIns="0" anchor="ctr">
            <a:spAutoFit/>
          </a:bodyPr>
          <a:lstStyle/>
          <a:p>
            <a:pPr algn="l">
              <a:lnSpc>
                <a:spcPct val="106000"/>
              </a:lnSpc>
              <a:spcBef>
                <a:spcPts val="0"/>
              </a:spcBef>
              <a:spcAft>
                <a:spcPts val="0"/>
              </a:spcAft>
              <a:defRPr sz="2400" b="0" i="0">
                <a:solidFill>
                  <a:srgbClr val="253438"/>
                </a:solidFill>
                <a:latin typeface="Calibri"/>
              </a:defRPr>
            </a:pPr>
            <a:r>
              <a:t>E0465</a:t>
            </a:r>
          </a:p>
        </p:txBody>
      </p:sp>
      <p:cxnSp>
        <p:nvCxnSpPr>
          <p:cNvPr id="38" name="Connector 37"/>
          <p:cNvCxnSpPr/>
          <p:nvPr/>
        </p:nvCxnSpPr>
        <p:spPr>
          <a:xfrm>
            <a:off x="585216" y="5303520"/>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39" name="Rectangle 38"/>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000" b="0" i="0">
                <a:solidFill>
                  <a:srgbClr val="172326"/>
                </a:solidFill>
                <a:latin typeface="Calibri"/>
              </a:defRPr>
            </a:pPr>
            <a:r>
              <a:t>Mode availability overlaps; alarms, power, circuits, and control features remain model-specific.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IV · CURRENT LANDSCAPE</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Sleep-related and multifactorial hypoventilation</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Locke et al. 2024 [R01] · Shah et al. 2023 [R04] · R02</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S13</a:t>
            </a:r>
          </a:p>
        </p:txBody>
      </p:sp>
      <p:cxnSp>
        <p:nvCxnSpPr>
          <p:cNvPr id="12" name="Connector 11"/>
          <p:cNvCxnSpPr/>
          <p:nvPr/>
        </p:nvCxnSpPr>
        <p:spPr>
          <a:xfrm>
            <a:off x="585216" y="2011680"/>
            <a:ext cx="182880" cy="0"/>
          </a:xfrm>
          <a:prstGeom prst="line">
            <a:avLst/>
          </a:prstGeom>
          <a:ln w="25400">
            <a:solidFill>
              <a:srgbClr val="1C6970"/>
            </a:solidFill>
          </a:ln>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932688" y="1920240"/>
            <a:ext cx="4553712" cy="1014983"/>
          </a:xfrm>
          <a:prstGeom prst="rect">
            <a:avLst/>
          </a:prstGeom>
          <a:noFill/>
        </p:spPr>
        <p:txBody>
          <a:bodyPr wrap="square" lIns="0" rIns="0" tIns="0" bIns="0" anchor="t">
            <a:spAutoFit/>
          </a:bodyPr>
          <a:lstStyle/>
          <a:p>
            <a:pPr algn="l">
              <a:lnSpc>
                <a:spcPct val="106000"/>
              </a:lnSpc>
              <a:spcBef>
                <a:spcPts val="0"/>
              </a:spcBef>
              <a:spcAft>
                <a:spcPts val="0"/>
              </a:spcAft>
              <a:defRPr sz="2400" b="0" i="0">
                <a:solidFill>
                  <a:srgbClr val="253438"/>
                </a:solidFill>
                <a:latin typeface="Calibri"/>
              </a:defRPr>
            </a:pPr>
            <a:r>
              <a:t>Reduced compensatory drive and</a:t>
            </a:r>
          </a:p>
          <a:p>
            <a:pPr algn="l">
              <a:lnSpc>
                <a:spcPct val="106000"/>
              </a:lnSpc>
              <a:spcBef>
                <a:spcPts val="0"/>
              </a:spcBef>
              <a:spcAft>
                <a:spcPts val="0"/>
              </a:spcAft>
              <a:defRPr sz="2400" b="0" i="0">
                <a:solidFill>
                  <a:srgbClr val="253438"/>
                </a:solidFill>
                <a:latin typeface="Calibri"/>
              </a:defRPr>
            </a:pPr>
            <a:r>
              <a:t>muscle contribution in sleep</a:t>
            </a:r>
          </a:p>
        </p:txBody>
      </p:sp>
      <p:cxnSp>
        <p:nvCxnSpPr>
          <p:cNvPr id="14" name="Connector 13"/>
          <p:cNvCxnSpPr/>
          <p:nvPr/>
        </p:nvCxnSpPr>
        <p:spPr>
          <a:xfrm>
            <a:off x="585216" y="3063240"/>
            <a:ext cx="182880" cy="0"/>
          </a:xfrm>
          <a:prstGeom prst="line">
            <a:avLst/>
          </a:prstGeom>
          <a:ln w="25400">
            <a:solidFill>
              <a:srgbClr val="1C6970"/>
            </a:solidFill>
          </a:ln>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932688" y="2971800"/>
            <a:ext cx="4553712" cy="1014983"/>
          </a:xfrm>
          <a:prstGeom prst="rect">
            <a:avLst/>
          </a:prstGeom>
          <a:noFill/>
        </p:spPr>
        <p:txBody>
          <a:bodyPr wrap="square" lIns="0" rIns="0" tIns="0" bIns="0" anchor="t">
            <a:spAutoFit/>
          </a:bodyPr>
          <a:lstStyle/>
          <a:p>
            <a:pPr algn="l">
              <a:lnSpc>
                <a:spcPct val="106000"/>
              </a:lnSpc>
              <a:spcBef>
                <a:spcPts val="0"/>
              </a:spcBef>
              <a:spcAft>
                <a:spcPts val="0"/>
              </a:spcAft>
              <a:defRPr sz="2400" b="0" i="0">
                <a:solidFill>
                  <a:srgbClr val="253438"/>
                </a:solidFill>
                <a:latin typeface="Calibri"/>
              </a:defRPr>
            </a:pPr>
            <a:r>
              <a:t>CO₂ accumulation during</a:t>
            </a:r>
          </a:p>
          <a:p>
            <a:pPr algn="l">
              <a:lnSpc>
                <a:spcPct val="106000"/>
              </a:lnSpc>
              <a:spcBef>
                <a:spcPts val="0"/>
              </a:spcBef>
              <a:spcAft>
                <a:spcPts val="0"/>
              </a:spcAft>
              <a:defRPr sz="2400" b="0" i="0">
                <a:solidFill>
                  <a:srgbClr val="253438"/>
                </a:solidFill>
                <a:latin typeface="Calibri"/>
              </a:defRPr>
            </a:pPr>
            <a:r>
              <a:t>obstructive events</a:t>
            </a:r>
          </a:p>
        </p:txBody>
      </p:sp>
      <p:cxnSp>
        <p:nvCxnSpPr>
          <p:cNvPr id="16" name="Connector 15"/>
          <p:cNvCxnSpPr/>
          <p:nvPr/>
        </p:nvCxnSpPr>
        <p:spPr>
          <a:xfrm>
            <a:off x="585216" y="4114800"/>
            <a:ext cx="182880" cy="0"/>
          </a:xfrm>
          <a:prstGeom prst="line">
            <a:avLst/>
          </a:prstGeom>
          <a:ln w="25400">
            <a:solidFill>
              <a:srgbClr val="1C6970"/>
            </a:solidFill>
          </a:ln>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932688" y="4023360"/>
            <a:ext cx="4553712" cy="1014983"/>
          </a:xfrm>
          <a:prstGeom prst="rect">
            <a:avLst/>
          </a:prstGeom>
          <a:noFill/>
        </p:spPr>
        <p:txBody>
          <a:bodyPr wrap="square" lIns="0" rIns="0" tIns="0" bIns="0" anchor="t">
            <a:spAutoFit/>
          </a:bodyPr>
          <a:lstStyle/>
          <a:p>
            <a:pPr algn="l">
              <a:lnSpc>
                <a:spcPct val="106000"/>
              </a:lnSpc>
              <a:spcBef>
                <a:spcPts val="0"/>
              </a:spcBef>
              <a:spcAft>
                <a:spcPts val="0"/>
              </a:spcAft>
              <a:defRPr sz="2400" b="0" i="0">
                <a:solidFill>
                  <a:srgbClr val="253438"/>
                </a:solidFill>
                <a:latin typeface="Calibri"/>
              </a:defRPr>
            </a:pPr>
            <a:r>
              <a:t>Incomplete inter-event ventilation</a:t>
            </a:r>
          </a:p>
          <a:p>
            <a:pPr algn="l">
              <a:lnSpc>
                <a:spcPct val="106000"/>
              </a:lnSpc>
              <a:spcBef>
                <a:spcPts val="0"/>
              </a:spcBef>
              <a:spcAft>
                <a:spcPts val="0"/>
              </a:spcAft>
              <a:defRPr sz="2400" b="0" i="0">
                <a:solidFill>
                  <a:srgbClr val="253438"/>
                </a:solidFill>
                <a:latin typeface="Calibri"/>
              </a:defRPr>
            </a:pPr>
            <a:r>
              <a:t>in susceptible patients</a:t>
            </a:r>
          </a:p>
        </p:txBody>
      </p:sp>
      <p:cxnSp>
        <p:nvCxnSpPr>
          <p:cNvPr id="18" name="Connector 17"/>
          <p:cNvCxnSpPr/>
          <p:nvPr/>
        </p:nvCxnSpPr>
        <p:spPr>
          <a:xfrm>
            <a:off x="6318504" y="2148840"/>
            <a:ext cx="0" cy="2907792"/>
          </a:xfrm>
          <a:prstGeom prst="line">
            <a:avLst/>
          </a:prstGeom>
          <a:ln w="12700">
            <a:solidFill>
              <a:srgbClr val="CBD5D8"/>
            </a:solidFill>
          </a:ln>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6318504" y="5056632"/>
            <a:ext cx="4617720" cy="0"/>
          </a:xfrm>
          <a:prstGeom prst="line">
            <a:avLst/>
          </a:prstGeom>
          <a:ln w="12700">
            <a:solidFill>
              <a:srgbClr val="CBD5D8"/>
            </a:solidFill>
          </a:ln>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6281928" y="1773936"/>
            <a:ext cx="914400" cy="320040"/>
          </a:xfrm>
          <a:prstGeom prst="rect">
            <a:avLst/>
          </a:prstGeom>
          <a:noFill/>
        </p:spPr>
        <p:txBody>
          <a:bodyPr wrap="square" lIns="0" rIns="0" tIns="0" bIns="0" anchor="t">
            <a:spAutoFit/>
          </a:bodyPr>
          <a:lstStyle/>
          <a:p>
            <a:pPr algn="l">
              <a:lnSpc>
                <a:spcPct val="106000"/>
              </a:lnSpc>
              <a:spcBef>
                <a:spcPts val="0"/>
              </a:spcBef>
              <a:spcAft>
                <a:spcPts val="0"/>
              </a:spcAft>
              <a:defRPr sz="2000" b="1" i="0">
                <a:solidFill>
                  <a:srgbClr val="253438"/>
                </a:solidFill>
                <a:latin typeface="Calibri"/>
              </a:defRPr>
            </a:pPr>
            <a:r>
              <a:t>CO₂</a:t>
            </a:r>
          </a:p>
        </p:txBody>
      </p:sp>
      <p:sp>
        <p:nvSpPr>
          <p:cNvPr id="21" name="TextBox 20"/>
          <p:cNvSpPr txBox="1"/>
          <p:nvPr/>
        </p:nvSpPr>
        <p:spPr>
          <a:xfrm>
            <a:off x="10021824" y="5111496"/>
            <a:ext cx="914400" cy="274320"/>
          </a:xfrm>
          <a:prstGeom prst="rect">
            <a:avLst/>
          </a:prstGeom>
          <a:noFill/>
        </p:spPr>
        <p:txBody>
          <a:bodyPr wrap="square" lIns="0" rIns="0" tIns="0" bIns="0" anchor="t">
            <a:spAutoFit/>
          </a:bodyPr>
          <a:lstStyle/>
          <a:p>
            <a:pPr algn="l">
              <a:lnSpc>
                <a:spcPct val="106000"/>
              </a:lnSpc>
              <a:spcBef>
                <a:spcPts val="0"/>
              </a:spcBef>
              <a:spcAft>
                <a:spcPts val="0"/>
              </a:spcAft>
              <a:defRPr sz="1600" b="0" i="0">
                <a:solidFill>
                  <a:srgbClr val="596A70"/>
                </a:solidFill>
                <a:latin typeface="Calibri"/>
              </a:defRPr>
            </a:pPr>
            <a:r>
              <a:t>Sleep</a:t>
            </a:r>
          </a:p>
        </p:txBody>
      </p:sp>
      <p:sp>
        <p:nvSpPr>
          <p:cNvPr id="22" name="Freeform 21"/>
          <p:cNvSpPr/>
          <p:nvPr/>
        </p:nvSpPr>
        <p:spPr>
          <a:xfrm>
            <a:off x="6318504" y="2649474"/>
            <a:ext cx="4617720" cy="2110892"/>
          </a:xfrm>
          <a:custGeom>
            <a:avLst/>
            <a:gdLst/>
            <a:ahLst/>
            <a:cxnLst/>
            <a:rect l="l" t="t" r="r" b="b"/>
            <a:pathLst>
              <a:path w="4617720" h="2110892">
                <a:moveTo>
                  <a:pt x="0" y="2110892"/>
                </a:moveTo>
                <a:lnTo>
                  <a:pt x="461772" y="2098548"/>
                </a:lnTo>
                <a:lnTo>
                  <a:pt x="646480" y="1604772"/>
                </a:lnTo>
                <a:lnTo>
                  <a:pt x="1015898" y="1913382"/>
                </a:lnTo>
                <a:lnTo>
                  <a:pt x="1385316" y="1394917"/>
                </a:lnTo>
                <a:lnTo>
                  <a:pt x="1754733" y="1654149"/>
                </a:lnTo>
                <a:lnTo>
                  <a:pt x="2124151" y="1148029"/>
                </a:lnTo>
                <a:lnTo>
                  <a:pt x="2493568" y="1370228"/>
                </a:lnTo>
                <a:lnTo>
                  <a:pt x="2909163" y="765352"/>
                </a:lnTo>
                <a:lnTo>
                  <a:pt x="3324758" y="950518"/>
                </a:lnTo>
                <a:lnTo>
                  <a:pt x="3740353" y="370332"/>
                </a:lnTo>
                <a:lnTo>
                  <a:pt x="4063593" y="543153"/>
                </a:lnTo>
                <a:lnTo>
                  <a:pt x="4617720" y="0"/>
                </a:lnTo>
              </a:path>
            </a:pathLst>
          </a:custGeom>
          <a:noFill/>
          <a:ln w="38100">
            <a:solidFill>
              <a:srgbClr val="1C697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720840" y="2414016"/>
            <a:ext cx="3959352" cy="841248"/>
          </a:xfrm>
          <a:prstGeom prst="rect">
            <a:avLst/>
          </a:prstGeom>
          <a:noFill/>
        </p:spPr>
        <p:txBody>
          <a:bodyPr wrap="square" lIns="0" rIns="0" tIns="0" bIns="0" anchor="t">
            <a:spAutoFit/>
          </a:bodyPr>
          <a:lstStyle/>
          <a:p>
            <a:pPr algn="l">
              <a:lnSpc>
                <a:spcPct val="106000"/>
              </a:lnSpc>
              <a:spcBef>
                <a:spcPts val="0"/>
              </a:spcBef>
              <a:spcAft>
                <a:spcPts val="0"/>
              </a:spcAft>
              <a:defRPr sz="2300" b="1" i="0">
                <a:solidFill>
                  <a:srgbClr val="1C6970"/>
                </a:solidFill>
                <a:latin typeface="Calibri"/>
              </a:defRPr>
            </a:pPr>
            <a:r>
              <a:t>Accumulation with incomplete</a:t>
            </a:r>
          </a:p>
          <a:p>
            <a:pPr algn="l">
              <a:lnSpc>
                <a:spcPct val="106000"/>
              </a:lnSpc>
              <a:spcBef>
                <a:spcPts val="0"/>
              </a:spcBef>
              <a:spcAft>
                <a:spcPts val="0"/>
              </a:spcAft>
              <a:defRPr sz="2300" b="1" i="0">
                <a:solidFill>
                  <a:srgbClr val="1C6970"/>
                </a:solidFill>
                <a:latin typeface="Calibri"/>
              </a:defRPr>
            </a:pPr>
            <a:r>
              <a:t>inter-event compensation</a:t>
            </a:r>
          </a:p>
        </p:txBody>
      </p:sp>
      <p:sp>
        <p:nvSpPr>
          <p:cNvPr id="24" name="TextBox 23"/>
          <p:cNvSpPr txBox="1"/>
          <p:nvPr/>
        </p:nvSpPr>
        <p:spPr>
          <a:xfrm>
            <a:off x="6309360" y="5340096"/>
            <a:ext cx="4846320" cy="219456"/>
          </a:xfrm>
          <a:prstGeom prst="rect">
            <a:avLst/>
          </a:prstGeom>
          <a:noFill/>
        </p:spPr>
        <p:txBody>
          <a:bodyPr wrap="square" lIns="0" rIns="0" tIns="0" bIns="0" anchor="t">
            <a:spAutoFit/>
          </a:bodyPr>
          <a:lstStyle/>
          <a:p>
            <a:pPr algn="l">
              <a:lnSpc>
                <a:spcPct val="106000"/>
              </a:lnSpc>
              <a:spcBef>
                <a:spcPts val="0"/>
              </a:spcBef>
              <a:spcAft>
                <a:spcPts val="0"/>
              </a:spcAft>
              <a:defRPr sz="1200" b="0" i="0">
                <a:solidFill>
                  <a:srgbClr val="596A70"/>
                </a:solidFill>
                <a:latin typeface="Calibri"/>
              </a:defRPr>
            </a:pPr>
            <a:r>
              <a:t>Conceptual course; not patient data.</a:t>
            </a:r>
          </a:p>
        </p:txBody>
      </p:sp>
      <p:sp>
        <p:nvSpPr>
          <p:cNvPr id="25" name="Rectangle 24"/>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000" b="0" i="0">
                <a:solidFill>
                  <a:srgbClr val="172326"/>
                </a:solidFill>
                <a:latin typeface="Calibri"/>
              </a:defRPr>
            </a:pPr>
            <a:r>
              <a:t>Nocturnal impairment, daytime hypercapnia, and a single causal diagnosis are not equivalent.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IV · CURRENT LANDSCAPE</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Current uses: OSA, OHS, and central apnea</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AASM PAP 2019 [R24] · ATS OHS 2019 [R25] · R33</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S14</a:t>
            </a:r>
          </a:p>
        </p:txBody>
      </p:sp>
      <p:sp>
        <p:nvSpPr>
          <p:cNvPr id="12" name="Rectangle 11"/>
          <p:cNvSpPr/>
          <p:nvPr/>
        </p:nvSpPr>
        <p:spPr>
          <a:xfrm>
            <a:off x="585216" y="1773936"/>
            <a:ext cx="11021567" cy="475488"/>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13232" y="1847088"/>
            <a:ext cx="4837176" cy="365760"/>
          </a:xfrm>
          <a:prstGeom prst="rect">
            <a:avLst/>
          </a:prstGeom>
          <a:noFill/>
        </p:spPr>
        <p:txBody>
          <a:bodyPr wrap="square" lIns="0" rIns="0" tIns="0" bIns="0" anchor="t">
            <a:spAutoFit/>
          </a:bodyPr>
          <a:lstStyle/>
          <a:p>
            <a:pPr algn="l">
              <a:lnSpc>
                <a:spcPct val="106000"/>
              </a:lnSpc>
              <a:spcBef>
                <a:spcPts val="0"/>
              </a:spcBef>
              <a:spcAft>
                <a:spcPts val="0"/>
              </a:spcAft>
              <a:defRPr sz="2100" b="1" i="0">
                <a:solidFill>
                  <a:srgbClr val="172326"/>
                </a:solidFill>
                <a:latin typeface="Calibri"/>
              </a:defRPr>
            </a:pPr>
            <a:r>
              <a:t>Clinical group</a:t>
            </a:r>
          </a:p>
        </p:txBody>
      </p:sp>
      <p:sp>
        <p:nvSpPr>
          <p:cNvPr id="14" name="TextBox 13"/>
          <p:cNvSpPr txBox="1"/>
          <p:nvPr/>
        </p:nvSpPr>
        <p:spPr>
          <a:xfrm>
            <a:off x="5806440" y="1847088"/>
            <a:ext cx="5672297" cy="365760"/>
          </a:xfrm>
          <a:prstGeom prst="rect">
            <a:avLst/>
          </a:prstGeom>
          <a:noFill/>
        </p:spPr>
        <p:txBody>
          <a:bodyPr wrap="square" lIns="0" rIns="0" tIns="0" bIns="0" anchor="t">
            <a:spAutoFit/>
          </a:bodyPr>
          <a:lstStyle/>
          <a:p>
            <a:pPr algn="l">
              <a:lnSpc>
                <a:spcPct val="106000"/>
              </a:lnSpc>
              <a:spcBef>
                <a:spcPts val="0"/>
              </a:spcBef>
              <a:spcAft>
                <a:spcPts val="0"/>
              </a:spcAft>
              <a:defRPr sz="2100" b="1" i="0">
                <a:solidFill>
                  <a:srgbClr val="172326"/>
                </a:solidFill>
                <a:latin typeface="Calibri"/>
              </a:defRPr>
            </a:pPr>
            <a:r>
              <a:t>Guideline-supported approach</a:t>
            </a:r>
          </a:p>
        </p:txBody>
      </p:sp>
      <p:cxnSp>
        <p:nvCxnSpPr>
          <p:cNvPr id="15" name="Connector 14"/>
          <p:cNvCxnSpPr/>
          <p:nvPr/>
        </p:nvCxnSpPr>
        <p:spPr>
          <a:xfrm>
            <a:off x="585216" y="2249424"/>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13232" y="2269540"/>
            <a:ext cx="4837176" cy="722375"/>
          </a:xfrm>
          <a:prstGeom prst="rect">
            <a:avLst/>
          </a:prstGeom>
          <a:noFill/>
        </p:spPr>
        <p:txBody>
          <a:bodyPr wrap="square" lIns="0" rIns="0" tIns="0" bIns="0" anchor="ctr">
            <a:spAutoFit/>
          </a:bodyPr>
          <a:lstStyle/>
          <a:p>
            <a:pPr algn="l">
              <a:lnSpc>
                <a:spcPct val="106000"/>
              </a:lnSpc>
              <a:spcBef>
                <a:spcPts val="0"/>
              </a:spcBef>
              <a:spcAft>
                <a:spcPts val="0"/>
              </a:spcAft>
              <a:defRPr sz="2500" b="1" i="0">
                <a:solidFill>
                  <a:srgbClr val="172326"/>
                </a:solidFill>
                <a:latin typeface="Calibri"/>
              </a:defRPr>
            </a:pPr>
            <a:r>
              <a:t>Routine adult OSA</a:t>
            </a:r>
          </a:p>
        </p:txBody>
      </p:sp>
      <p:sp>
        <p:nvSpPr>
          <p:cNvPr id="17" name="TextBox 16"/>
          <p:cNvSpPr txBox="1"/>
          <p:nvPr/>
        </p:nvSpPr>
        <p:spPr>
          <a:xfrm>
            <a:off x="5806440" y="2269540"/>
            <a:ext cx="5672297" cy="722375"/>
          </a:xfrm>
          <a:prstGeom prst="rect">
            <a:avLst/>
          </a:prstGeom>
          <a:noFill/>
        </p:spPr>
        <p:txBody>
          <a:bodyPr wrap="square" lIns="0" rIns="0" tIns="0" bIns="0" anchor="ctr">
            <a:spAutoFit/>
          </a:bodyPr>
          <a:lstStyle/>
          <a:p>
            <a:pPr algn="l">
              <a:lnSpc>
                <a:spcPct val="106000"/>
              </a:lnSpc>
              <a:spcBef>
                <a:spcPts val="0"/>
              </a:spcBef>
              <a:spcAft>
                <a:spcPts val="0"/>
              </a:spcAft>
              <a:defRPr sz="2500" b="0" i="0">
                <a:solidFill>
                  <a:srgbClr val="253438"/>
                </a:solidFill>
                <a:latin typeface="Calibri"/>
              </a:defRPr>
            </a:pPr>
            <a:r>
              <a:t>CPAP or APAP</a:t>
            </a:r>
          </a:p>
        </p:txBody>
      </p:sp>
      <p:sp>
        <p:nvSpPr>
          <p:cNvPr id="18" name="Rectangle 17"/>
          <p:cNvSpPr/>
          <p:nvPr/>
        </p:nvSpPr>
        <p:spPr>
          <a:xfrm>
            <a:off x="585216" y="3012948"/>
            <a:ext cx="11021567" cy="763524"/>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 name="Connector 18"/>
          <p:cNvCxnSpPr/>
          <p:nvPr/>
        </p:nvCxnSpPr>
        <p:spPr>
          <a:xfrm>
            <a:off x="585216" y="3012948"/>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713232" y="3033064"/>
            <a:ext cx="4837176" cy="722375"/>
          </a:xfrm>
          <a:prstGeom prst="rect">
            <a:avLst/>
          </a:prstGeom>
          <a:noFill/>
        </p:spPr>
        <p:txBody>
          <a:bodyPr wrap="square" lIns="0" rIns="0" tIns="0" bIns="0" anchor="ctr">
            <a:spAutoFit/>
          </a:bodyPr>
          <a:lstStyle/>
          <a:p>
            <a:pPr algn="l">
              <a:lnSpc>
                <a:spcPct val="106000"/>
              </a:lnSpc>
              <a:spcBef>
                <a:spcPts val="0"/>
              </a:spcBef>
              <a:spcAft>
                <a:spcPts val="0"/>
              </a:spcAft>
              <a:defRPr sz="2500" b="1" i="0">
                <a:solidFill>
                  <a:srgbClr val="172326"/>
                </a:solidFill>
                <a:latin typeface="Calibri"/>
              </a:defRPr>
            </a:pPr>
            <a:r>
              <a:t>Stable OHS + severe OSA</a:t>
            </a:r>
          </a:p>
        </p:txBody>
      </p:sp>
      <p:sp>
        <p:nvSpPr>
          <p:cNvPr id="21" name="TextBox 20"/>
          <p:cNvSpPr txBox="1"/>
          <p:nvPr/>
        </p:nvSpPr>
        <p:spPr>
          <a:xfrm>
            <a:off x="5806440" y="3033064"/>
            <a:ext cx="5672297" cy="722375"/>
          </a:xfrm>
          <a:prstGeom prst="rect">
            <a:avLst/>
          </a:prstGeom>
          <a:noFill/>
        </p:spPr>
        <p:txBody>
          <a:bodyPr wrap="square" lIns="0" rIns="0" tIns="0" bIns="0" anchor="ctr">
            <a:spAutoFit/>
          </a:bodyPr>
          <a:lstStyle/>
          <a:p>
            <a:pPr algn="l">
              <a:lnSpc>
                <a:spcPct val="106000"/>
              </a:lnSpc>
              <a:spcBef>
                <a:spcPts val="0"/>
              </a:spcBef>
              <a:spcAft>
                <a:spcPts val="0"/>
              </a:spcAft>
              <a:defRPr sz="2500" b="0" i="0">
                <a:solidFill>
                  <a:srgbClr val="253438"/>
                </a:solidFill>
                <a:latin typeface="Calibri"/>
              </a:defRPr>
            </a:pPr>
            <a:r>
              <a:t>CPAP as initial therapy</a:t>
            </a:r>
          </a:p>
        </p:txBody>
      </p:sp>
      <p:cxnSp>
        <p:nvCxnSpPr>
          <p:cNvPr id="22" name="Connector 21"/>
          <p:cNvCxnSpPr/>
          <p:nvPr/>
        </p:nvCxnSpPr>
        <p:spPr>
          <a:xfrm>
            <a:off x="585216" y="3776472"/>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713232" y="3796588"/>
            <a:ext cx="4837176" cy="722375"/>
          </a:xfrm>
          <a:prstGeom prst="rect">
            <a:avLst/>
          </a:prstGeom>
          <a:noFill/>
        </p:spPr>
        <p:txBody>
          <a:bodyPr wrap="square" lIns="0" rIns="0" tIns="0" bIns="0" anchor="ctr">
            <a:spAutoFit/>
          </a:bodyPr>
          <a:lstStyle/>
          <a:p>
            <a:pPr algn="l">
              <a:lnSpc>
                <a:spcPct val="106000"/>
              </a:lnSpc>
              <a:spcBef>
                <a:spcPts val="0"/>
              </a:spcBef>
              <a:spcAft>
                <a:spcPts val="0"/>
              </a:spcAft>
              <a:defRPr sz="2500" b="1" i="0">
                <a:solidFill>
                  <a:srgbClr val="172326"/>
                </a:solidFill>
                <a:latin typeface="Calibri"/>
              </a:defRPr>
            </a:pPr>
            <a:r>
              <a:t>Hospitalized respiratory failure</a:t>
            </a:r>
          </a:p>
          <a:p>
            <a:pPr algn="l">
              <a:lnSpc>
                <a:spcPct val="106000"/>
              </a:lnSpc>
              <a:spcBef>
                <a:spcPts val="0"/>
              </a:spcBef>
              <a:spcAft>
                <a:spcPts val="0"/>
              </a:spcAft>
              <a:defRPr sz="2500" b="1" i="0">
                <a:solidFill>
                  <a:srgbClr val="172326"/>
                </a:solidFill>
                <a:latin typeface="Calibri"/>
              </a:defRPr>
            </a:pPr>
            <a:r>
              <a:t>with suspected OHS</a:t>
            </a:r>
          </a:p>
        </p:txBody>
      </p:sp>
      <p:sp>
        <p:nvSpPr>
          <p:cNvPr id="24" name="TextBox 23"/>
          <p:cNvSpPr txBox="1"/>
          <p:nvPr/>
        </p:nvSpPr>
        <p:spPr>
          <a:xfrm>
            <a:off x="5806440" y="3796588"/>
            <a:ext cx="5672297" cy="722375"/>
          </a:xfrm>
          <a:prstGeom prst="rect">
            <a:avLst/>
          </a:prstGeom>
          <a:noFill/>
        </p:spPr>
        <p:txBody>
          <a:bodyPr wrap="square" lIns="0" rIns="0" tIns="0" bIns="0" anchor="ctr">
            <a:spAutoFit/>
          </a:bodyPr>
          <a:lstStyle/>
          <a:p>
            <a:pPr algn="l">
              <a:lnSpc>
                <a:spcPct val="106000"/>
              </a:lnSpc>
              <a:spcBef>
                <a:spcPts val="0"/>
              </a:spcBef>
              <a:spcAft>
                <a:spcPts val="0"/>
              </a:spcAft>
              <a:defRPr sz="2500" b="0" i="0">
                <a:solidFill>
                  <a:srgbClr val="253438"/>
                </a:solidFill>
                <a:latin typeface="Calibri"/>
              </a:defRPr>
            </a:pPr>
            <a:r>
              <a:t>Discharge NIV pending evaluation</a:t>
            </a:r>
          </a:p>
        </p:txBody>
      </p:sp>
      <p:sp>
        <p:nvSpPr>
          <p:cNvPr id="25" name="Rectangle 24"/>
          <p:cNvSpPr/>
          <p:nvPr/>
        </p:nvSpPr>
        <p:spPr>
          <a:xfrm>
            <a:off x="585216" y="4539996"/>
            <a:ext cx="11021567" cy="763524"/>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6" name="Connector 25"/>
          <p:cNvCxnSpPr/>
          <p:nvPr/>
        </p:nvCxnSpPr>
        <p:spPr>
          <a:xfrm>
            <a:off x="585216" y="4539996"/>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713232" y="4560112"/>
            <a:ext cx="4837176" cy="722375"/>
          </a:xfrm>
          <a:prstGeom prst="rect">
            <a:avLst/>
          </a:prstGeom>
          <a:noFill/>
        </p:spPr>
        <p:txBody>
          <a:bodyPr wrap="square" lIns="0" rIns="0" tIns="0" bIns="0" anchor="ctr">
            <a:spAutoFit/>
          </a:bodyPr>
          <a:lstStyle/>
          <a:p>
            <a:pPr algn="l">
              <a:lnSpc>
                <a:spcPct val="106000"/>
              </a:lnSpc>
              <a:spcBef>
                <a:spcPts val="0"/>
              </a:spcBef>
              <a:spcAft>
                <a:spcPts val="0"/>
              </a:spcAft>
              <a:defRPr sz="2500" b="1" i="0">
                <a:solidFill>
                  <a:srgbClr val="172326"/>
                </a:solidFill>
                <a:latin typeface="Calibri"/>
              </a:defRPr>
            </a:pPr>
            <a:r>
              <a:t>Central sleep apnea</a:t>
            </a:r>
          </a:p>
        </p:txBody>
      </p:sp>
      <p:sp>
        <p:nvSpPr>
          <p:cNvPr id="28" name="TextBox 27"/>
          <p:cNvSpPr txBox="1"/>
          <p:nvPr/>
        </p:nvSpPr>
        <p:spPr>
          <a:xfrm>
            <a:off x="5806440" y="4560112"/>
            <a:ext cx="5672297" cy="722375"/>
          </a:xfrm>
          <a:prstGeom prst="rect">
            <a:avLst/>
          </a:prstGeom>
          <a:noFill/>
        </p:spPr>
        <p:txBody>
          <a:bodyPr wrap="square" lIns="0" rIns="0" tIns="0" bIns="0" anchor="ctr">
            <a:spAutoFit/>
          </a:bodyPr>
          <a:lstStyle/>
          <a:p>
            <a:pPr algn="l">
              <a:lnSpc>
                <a:spcPct val="106000"/>
              </a:lnSpc>
              <a:spcBef>
                <a:spcPts val="0"/>
              </a:spcBef>
              <a:spcAft>
                <a:spcPts val="0"/>
              </a:spcAft>
              <a:defRPr sz="2500" b="0" i="0">
                <a:solidFill>
                  <a:srgbClr val="253438"/>
                </a:solidFill>
                <a:latin typeface="Calibri"/>
              </a:defRPr>
            </a:pPr>
            <a:r>
              <a:t>Etiology-specific CPAP,</a:t>
            </a:r>
          </a:p>
          <a:p>
            <a:pPr algn="l">
              <a:lnSpc>
                <a:spcPct val="106000"/>
              </a:lnSpc>
              <a:spcBef>
                <a:spcPts val="0"/>
              </a:spcBef>
              <a:spcAft>
                <a:spcPts val="0"/>
              </a:spcAft>
              <a:defRPr sz="2500" b="0" i="0">
                <a:solidFill>
                  <a:srgbClr val="253438"/>
                </a:solidFill>
                <a:latin typeface="Calibri"/>
              </a:defRPr>
            </a:pPr>
            <a:r>
              <a:t>backup-rate bilevel, or ASV</a:t>
            </a:r>
          </a:p>
        </p:txBody>
      </p:sp>
      <p:cxnSp>
        <p:nvCxnSpPr>
          <p:cNvPr id="29" name="Connector 28"/>
          <p:cNvCxnSpPr/>
          <p:nvPr/>
        </p:nvCxnSpPr>
        <p:spPr>
          <a:xfrm>
            <a:off x="585216" y="5303520"/>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30" name="Rectangle 29"/>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000" b="0" i="0">
                <a:solidFill>
                  <a:srgbClr val="172326"/>
                </a:solidFill>
                <a:latin typeface="Calibri"/>
              </a:defRPr>
            </a:pPr>
            <a:r>
              <a:t>These are clinical guideline statements, not automatic equipment coverage.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IV · CURRENT LANDSCAPE</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COPD: trial populations and outcomes</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Köhnlein et al. 2014 [R30] · Struik et al. 2014 [R31] · R32, R26</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S15</a:t>
            </a:r>
          </a:p>
        </p:txBody>
      </p:sp>
      <p:sp>
        <p:nvSpPr>
          <p:cNvPr id="12" name="Rectangle 11"/>
          <p:cNvSpPr/>
          <p:nvPr/>
        </p:nvSpPr>
        <p:spPr>
          <a:xfrm>
            <a:off x="585216" y="1773936"/>
            <a:ext cx="11021567" cy="475488"/>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13232" y="1847088"/>
            <a:ext cx="2304287" cy="365760"/>
          </a:xfrm>
          <a:prstGeom prst="rect">
            <a:avLst/>
          </a:prstGeom>
          <a:noFill/>
        </p:spPr>
        <p:txBody>
          <a:bodyPr wrap="square" lIns="0" rIns="0" tIns="0" bIns="0" anchor="t">
            <a:spAutoFit/>
          </a:bodyPr>
          <a:lstStyle/>
          <a:p>
            <a:pPr algn="l">
              <a:lnSpc>
                <a:spcPct val="106000"/>
              </a:lnSpc>
              <a:spcBef>
                <a:spcPts val="0"/>
              </a:spcBef>
              <a:spcAft>
                <a:spcPts val="0"/>
              </a:spcAft>
              <a:defRPr sz="2100" b="1" i="0">
                <a:solidFill>
                  <a:srgbClr val="172326"/>
                </a:solidFill>
                <a:latin typeface="Calibri"/>
              </a:defRPr>
            </a:pPr>
            <a:r>
              <a:t>Trial</a:t>
            </a:r>
          </a:p>
        </p:txBody>
      </p:sp>
      <p:sp>
        <p:nvSpPr>
          <p:cNvPr id="14" name="TextBox 13"/>
          <p:cNvSpPr txBox="1"/>
          <p:nvPr/>
        </p:nvSpPr>
        <p:spPr>
          <a:xfrm>
            <a:off x="3273552" y="1847088"/>
            <a:ext cx="4041648" cy="365760"/>
          </a:xfrm>
          <a:prstGeom prst="rect">
            <a:avLst/>
          </a:prstGeom>
          <a:noFill/>
        </p:spPr>
        <p:txBody>
          <a:bodyPr wrap="square" lIns="0" rIns="0" tIns="0" bIns="0" anchor="t">
            <a:spAutoFit/>
          </a:bodyPr>
          <a:lstStyle/>
          <a:p>
            <a:pPr algn="l">
              <a:lnSpc>
                <a:spcPct val="106000"/>
              </a:lnSpc>
              <a:spcBef>
                <a:spcPts val="0"/>
              </a:spcBef>
              <a:spcAft>
                <a:spcPts val="0"/>
              </a:spcAft>
              <a:defRPr sz="2100" b="1" i="0">
                <a:solidFill>
                  <a:srgbClr val="172326"/>
                </a:solidFill>
                <a:latin typeface="Calibri"/>
              </a:defRPr>
            </a:pPr>
            <a:r>
              <a:t>Population / timing</a:t>
            </a:r>
          </a:p>
        </p:txBody>
      </p:sp>
      <p:sp>
        <p:nvSpPr>
          <p:cNvPr id="15" name="TextBox 14"/>
          <p:cNvSpPr txBox="1"/>
          <p:nvPr/>
        </p:nvSpPr>
        <p:spPr>
          <a:xfrm>
            <a:off x="7571232" y="1847088"/>
            <a:ext cx="3907505" cy="365760"/>
          </a:xfrm>
          <a:prstGeom prst="rect">
            <a:avLst/>
          </a:prstGeom>
          <a:noFill/>
        </p:spPr>
        <p:txBody>
          <a:bodyPr wrap="square" lIns="0" rIns="0" tIns="0" bIns="0" anchor="t">
            <a:spAutoFit/>
          </a:bodyPr>
          <a:lstStyle/>
          <a:p>
            <a:pPr algn="l">
              <a:lnSpc>
                <a:spcPct val="106000"/>
              </a:lnSpc>
              <a:spcBef>
                <a:spcPts val="0"/>
              </a:spcBef>
              <a:spcAft>
                <a:spcPts val="0"/>
              </a:spcAft>
              <a:defRPr sz="2100" b="1" i="0">
                <a:solidFill>
                  <a:srgbClr val="172326"/>
                </a:solidFill>
                <a:latin typeface="Calibri"/>
              </a:defRPr>
            </a:pPr>
            <a:r>
              <a:t>Main result</a:t>
            </a:r>
          </a:p>
        </p:txBody>
      </p:sp>
      <p:cxnSp>
        <p:nvCxnSpPr>
          <p:cNvPr id="16" name="Connector 15"/>
          <p:cNvCxnSpPr/>
          <p:nvPr/>
        </p:nvCxnSpPr>
        <p:spPr>
          <a:xfrm>
            <a:off x="585216" y="2249424"/>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713232" y="2269540"/>
            <a:ext cx="2304287" cy="976884"/>
          </a:xfrm>
          <a:prstGeom prst="rect">
            <a:avLst/>
          </a:prstGeom>
          <a:noFill/>
        </p:spPr>
        <p:txBody>
          <a:bodyPr wrap="square" lIns="0" rIns="0" tIns="0" bIns="0" anchor="ctr">
            <a:spAutoFit/>
          </a:bodyPr>
          <a:lstStyle/>
          <a:p>
            <a:pPr algn="l">
              <a:lnSpc>
                <a:spcPct val="106000"/>
              </a:lnSpc>
              <a:spcBef>
                <a:spcPts val="0"/>
              </a:spcBef>
              <a:spcAft>
                <a:spcPts val="0"/>
              </a:spcAft>
              <a:defRPr sz="2400" b="1" i="0">
                <a:solidFill>
                  <a:srgbClr val="172326"/>
                </a:solidFill>
                <a:latin typeface="Calibri"/>
              </a:defRPr>
            </a:pPr>
            <a:r>
              <a:t>Köhnlein 2014</a:t>
            </a:r>
          </a:p>
        </p:txBody>
      </p:sp>
      <p:sp>
        <p:nvSpPr>
          <p:cNvPr id="18" name="TextBox 17"/>
          <p:cNvSpPr txBox="1"/>
          <p:nvPr/>
        </p:nvSpPr>
        <p:spPr>
          <a:xfrm>
            <a:off x="3273552" y="2269540"/>
            <a:ext cx="4041648" cy="976884"/>
          </a:xfrm>
          <a:prstGeom prst="rect">
            <a:avLst/>
          </a:prstGeom>
          <a:noFill/>
        </p:spPr>
        <p:txBody>
          <a:bodyPr wrap="square" lIns="0" rIns="0" tIns="0" bIns="0" anchor="ctr">
            <a:spAutoFit/>
          </a:bodyPr>
          <a:lstStyle/>
          <a:p>
            <a:pPr algn="l">
              <a:lnSpc>
                <a:spcPct val="106000"/>
              </a:lnSpc>
              <a:spcBef>
                <a:spcPts val="0"/>
              </a:spcBef>
              <a:spcAft>
                <a:spcPts val="0"/>
              </a:spcAft>
              <a:defRPr sz="2400" b="0" i="0">
                <a:solidFill>
                  <a:srgbClr val="253438"/>
                </a:solidFill>
                <a:latin typeface="Calibri"/>
              </a:defRPr>
            </a:pPr>
            <a:r>
              <a:t>Stable severe</a:t>
            </a:r>
          </a:p>
          <a:p>
            <a:pPr algn="l">
              <a:lnSpc>
                <a:spcPct val="106000"/>
              </a:lnSpc>
              <a:spcBef>
                <a:spcPts val="0"/>
              </a:spcBef>
              <a:spcAft>
                <a:spcPts val="0"/>
              </a:spcAft>
              <a:defRPr sz="2400" b="0" i="0">
                <a:solidFill>
                  <a:srgbClr val="253438"/>
                </a:solidFill>
                <a:latin typeface="Calibri"/>
              </a:defRPr>
            </a:pPr>
            <a:r>
              <a:t>hypercapnic COPD</a:t>
            </a:r>
          </a:p>
        </p:txBody>
      </p:sp>
      <p:sp>
        <p:nvSpPr>
          <p:cNvPr id="19" name="TextBox 18"/>
          <p:cNvSpPr txBox="1"/>
          <p:nvPr/>
        </p:nvSpPr>
        <p:spPr>
          <a:xfrm>
            <a:off x="7571232" y="2269540"/>
            <a:ext cx="3907505" cy="976884"/>
          </a:xfrm>
          <a:prstGeom prst="rect">
            <a:avLst/>
          </a:prstGeom>
          <a:noFill/>
        </p:spPr>
        <p:txBody>
          <a:bodyPr wrap="square" lIns="0" rIns="0" tIns="0" bIns="0" anchor="ctr">
            <a:spAutoFit/>
          </a:bodyPr>
          <a:lstStyle/>
          <a:p>
            <a:pPr algn="l">
              <a:lnSpc>
                <a:spcPct val="106000"/>
              </a:lnSpc>
              <a:spcBef>
                <a:spcPts val="0"/>
              </a:spcBef>
              <a:spcAft>
                <a:spcPts val="0"/>
              </a:spcAft>
              <a:defRPr sz="2400" b="0" i="0">
                <a:solidFill>
                  <a:srgbClr val="253438"/>
                </a:solidFill>
                <a:latin typeface="Calibri"/>
              </a:defRPr>
            </a:pPr>
            <a:r>
              <a:t>1-year mortality</a:t>
            </a:r>
          </a:p>
          <a:p>
            <a:pPr algn="l">
              <a:lnSpc>
                <a:spcPct val="106000"/>
              </a:lnSpc>
              <a:spcBef>
                <a:spcPts val="0"/>
              </a:spcBef>
              <a:spcAft>
                <a:spcPts val="0"/>
              </a:spcAft>
              <a:defRPr sz="2400" b="0" i="0">
                <a:solidFill>
                  <a:srgbClr val="253438"/>
                </a:solidFill>
                <a:latin typeface="Calibri"/>
              </a:defRPr>
            </a:pPr>
            <a:r>
              <a:t>12% vs 33%</a:t>
            </a:r>
          </a:p>
        </p:txBody>
      </p:sp>
      <p:sp>
        <p:nvSpPr>
          <p:cNvPr id="20" name="Rectangle 19"/>
          <p:cNvSpPr/>
          <p:nvPr/>
        </p:nvSpPr>
        <p:spPr>
          <a:xfrm>
            <a:off x="585216" y="3267456"/>
            <a:ext cx="11021567" cy="1018032"/>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a:off x="585216" y="3267456"/>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713232" y="3287572"/>
            <a:ext cx="2304287" cy="976884"/>
          </a:xfrm>
          <a:prstGeom prst="rect">
            <a:avLst/>
          </a:prstGeom>
          <a:noFill/>
        </p:spPr>
        <p:txBody>
          <a:bodyPr wrap="square" lIns="0" rIns="0" tIns="0" bIns="0" anchor="ctr">
            <a:spAutoFit/>
          </a:bodyPr>
          <a:lstStyle/>
          <a:p>
            <a:pPr algn="l">
              <a:lnSpc>
                <a:spcPct val="106000"/>
              </a:lnSpc>
              <a:spcBef>
                <a:spcPts val="0"/>
              </a:spcBef>
              <a:spcAft>
                <a:spcPts val="0"/>
              </a:spcAft>
              <a:defRPr sz="2400" b="1" i="0">
                <a:solidFill>
                  <a:srgbClr val="172326"/>
                </a:solidFill>
                <a:latin typeface="Calibri"/>
              </a:defRPr>
            </a:pPr>
            <a:r>
              <a:t>RESCUE 2014</a:t>
            </a:r>
          </a:p>
        </p:txBody>
      </p:sp>
      <p:sp>
        <p:nvSpPr>
          <p:cNvPr id="23" name="TextBox 22"/>
          <p:cNvSpPr txBox="1"/>
          <p:nvPr/>
        </p:nvSpPr>
        <p:spPr>
          <a:xfrm>
            <a:off x="3273552" y="3287572"/>
            <a:ext cx="4041648" cy="976884"/>
          </a:xfrm>
          <a:prstGeom prst="rect">
            <a:avLst/>
          </a:prstGeom>
          <a:noFill/>
        </p:spPr>
        <p:txBody>
          <a:bodyPr wrap="square" lIns="0" rIns="0" tIns="0" bIns="0" anchor="ctr">
            <a:spAutoFit/>
          </a:bodyPr>
          <a:lstStyle/>
          <a:p>
            <a:pPr algn="l">
              <a:lnSpc>
                <a:spcPct val="106000"/>
              </a:lnSpc>
              <a:spcBef>
                <a:spcPts val="0"/>
              </a:spcBef>
              <a:spcAft>
                <a:spcPts val="0"/>
              </a:spcAft>
              <a:defRPr sz="2400" b="0" i="0">
                <a:solidFill>
                  <a:srgbClr val="253438"/>
                </a:solidFill>
                <a:latin typeface="Calibri"/>
              </a:defRPr>
            </a:pPr>
            <a:r>
              <a:t>Hypercapnia &gt;48 h after</a:t>
            </a:r>
          </a:p>
          <a:p>
            <a:pPr algn="l">
              <a:lnSpc>
                <a:spcPct val="106000"/>
              </a:lnSpc>
              <a:spcBef>
                <a:spcPts val="0"/>
              </a:spcBef>
              <a:spcAft>
                <a:spcPts val="0"/>
              </a:spcAft>
              <a:defRPr sz="2400" b="0" i="0">
                <a:solidFill>
                  <a:srgbClr val="253438"/>
                </a:solidFill>
                <a:latin typeface="Calibri"/>
              </a:defRPr>
            </a:pPr>
            <a:r>
              <a:t>acute support stopped</a:t>
            </a:r>
          </a:p>
        </p:txBody>
      </p:sp>
      <p:sp>
        <p:nvSpPr>
          <p:cNvPr id="24" name="TextBox 23"/>
          <p:cNvSpPr txBox="1"/>
          <p:nvPr/>
        </p:nvSpPr>
        <p:spPr>
          <a:xfrm>
            <a:off x="7571232" y="3287572"/>
            <a:ext cx="3907505" cy="976884"/>
          </a:xfrm>
          <a:prstGeom prst="rect">
            <a:avLst/>
          </a:prstGeom>
          <a:noFill/>
        </p:spPr>
        <p:txBody>
          <a:bodyPr wrap="square" lIns="0" rIns="0" tIns="0" bIns="0" anchor="ctr">
            <a:spAutoFit/>
          </a:bodyPr>
          <a:lstStyle/>
          <a:p>
            <a:pPr algn="l">
              <a:lnSpc>
                <a:spcPct val="106000"/>
              </a:lnSpc>
              <a:spcBef>
                <a:spcPts val="0"/>
              </a:spcBef>
              <a:spcAft>
                <a:spcPts val="0"/>
              </a:spcAft>
              <a:defRPr sz="2400" b="0" i="0">
                <a:solidFill>
                  <a:srgbClr val="253438"/>
                </a:solidFill>
                <a:latin typeface="Calibri"/>
              </a:defRPr>
            </a:pPr>
            <a:r>
              <a:t>No primary readmission /</a:t>
            </a:r>
          </a:p>
          <a:p>
            <a:pPr algn="l">
              <a:lnSpc>
                <a:spcPct val="106000"/>
              </a:lnSpc>
              <a:spcBef>
                <a:spcPts val="0"/>
              </a:spcBef>
              <a:spcAft>
                <a:spcPts val="0"/>
              </a:spcAft>
              <a:defRPr sz="2400" b="0" i="0">
                <a:solidFill>
                  <a:srgbClr val="253438"/>
                </a:solidFill>
                <a:latin typeface="Calibri"/>
              </a:defRPr>
            </a:pPr>
            <a:r>
              <a:t>death benefit</a:t>
            </a:r>
          </a:p>
        </p:txBody>
      </p:sp>
      <p:cxnSp>
        <p:nvCxnSpPr>
          <p:cNvPr id="25" name="Connector 24"/>
          <p:cNvCxnSpPr/>
          <p:nvPr/>
        </p:nvCxnSpPr>
        <p:spPr>
          <a:xfrm>
            <a:off x="585216" y="4285488"/>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713232" y="4305604"/>
            <a:ext cx="2304287" cy="976884"/>
          </a:xfrm>
          <a:prstGeom prst="rect">
            <a:avLst/>
          </a:prstGeom>
          <a:noFill/>
        </p:spPr>
        <p:txBody>
          <a:bodyPr wrap="square" lIns="0" rIns="0" tIns="0" bIns="0" anchor="ctr">
            <a:spAutoFit/>
          </a:bodyPr>
          <a:lstStyle/>
          <a:p>
            <a:pPr algn="l">
              <a:lnSpc>
                <a:spcPct val="106000"/>
              </a:lnSpc>
              <a:spcBef>
                <a:spcPts val="0"/>
              </a:spcBef>
              <a:spcAft>
                <a:spcPts val="0"/>
              </a:spcAft>
              <a:defRPr sz="2400" b="1" i="0">
                <a:solidFill>
                  <a:srgbClr val="172326"/>
                </a:solidFill>
                <a:latin typeface="Calibri"/>
              </a:defRPr>
            </a:pPr>
            <a:r>
              <a:t>HOT-HMV 2017</a:t>
            </a:r>
          </a:p>
        </p:txBody>
      </p:sp>
      <p:sp>
        <p:nvSpPr>
          <p:cNvPr id="27" name="TextBox 26"/>
          <p:cNvSpPr txBox="1"/>
          <p:nvPr/>
        </p:nvSpPr>
        <p:spPr>
          <a:xfrm>
            <a:off x="3273552" y="4305604"/>
            <a:ext cx="4041648" cy="976884"/>
          </a:xfrm>
          <a:prstGeom prst="rect">
            <a:avLst/>
          </a:prstGeom>
          <a:noFill/>
        </p:spPr>
        <p:txBody>
          <a:bodyPr wrap="square" lIns="0" rIns="0" tIns="0" bIns="0" anchor="ctr">
            <a:spAutoFit/>
          </a:bodyPr>
          <a:lstStyle/>
          <a:p>
            <a:pPr algn="l">
              <a:lnSpc>
                <a:spcPct val="106000"/>
              </a:lnSpc>
              <a:spcBef>
                <a:spcPts val="0"/>
              </a:spcBef>
              <a:spcAft>
                <a:spcPts val="0"/>
              </a:spcAft>
              <a:defRPr sz="2400" b="0" i="0">
                <a:solidFill>
                  <a:srgbClr val="253438"/>
                </a:solidFill>
                <a:latin typeface="Calibri"/>
              </a:defRPr>
            </a:pPr>
            <a:r>
              <a:t>Persistent hypercapnia</a:t>
            </a:r>
          </a:p>
          <a:p>
            <a:pPr algn="l">
              <a:lnSpc>
                <a:spcPct val="106000"/>
              </a:lnSpc>
              <a:spcBef>
                <a:spcPts val="0"/>
              </a:spcBef>
              <a:spcAft>
                <a:spcPts val="0"/>
              </a:spcAft>
              <a:defRPr sz="2400" b="0" i="0">
                <a:solidFill>
                  <a:srgbClr val="253438"/>
                </a:solidFill>
                <a:latin typeface="Calibri"/>
              </a:defRPr>
            </a:pPr>
            <a:r>
              <a:t>2–4 weeks after acidosis</a:t>
            </a:r>
          </a:p>
        </p:txBody>
      </p:sp>
      <p:sp>
        <p:nvSpPr>
          <p:cNvPr id="28" name="TextBox 27"/>
          <p:cNvSpPr txBox="1"/>
          <p:nvPr/>
        </p:nvSpPr>
        <p:spPr>
          <a:xfrm>
            <a:off x="7571232" y="4305604"/>
            <a:ext cx="3907505" cy="976884"/>
          </a:xfrm>
          <a:prstGeom prst="rect">
            <a:avLst/>
          </a:prstGeom>
          <a:noFill/>
        </p:spPr>
        <p:txBody>
          <a:bodyPr wrap="square" lIns="0" rIns="0" tIns="0" bIns="0" anchor="ctr">
            <a:spAutoFit/>
          </a:bodyPr>
          <a:lstStyle/>
          <a:p>
            <a:pPr algn="l">
              <a:lnSpc>
                <a:spcPct val="106000"/>
              </a:lnSpc>
              <a:spcBef>
                <a:spcPts val="0"/>
              </a:spcBef>
              <a:spcAft>
                <a:spcPts val="0"/>
              </a:spcAft>
              <a:defRPr sz="2400" b="0" i="0">
                <a:solidFill>
                  <a:srgbClr val="253438"/>
                </a:solidFill>
                <a:latin typeface="Calibri"/>
              </a:defRPr>
            </a:pPr>
            <a:r>
              <a:t>Readmission / death</a:t>
            </a:r>
          </a:p>
          <a:p>
            <a:pPr algn="l">
              <a:lnSpc>
                <a:spcPct val="106000"/>
              </a:lnSpc>
              <a:spcBef>
                <a:spcPts val="0"/>
              </a:spcBef>
              <a:spcAft>
                <a:spcPts val="0"/>
              </a:spcAft>
              <a:defRPr sz="2400" b="0" i="0">
                <a:solidFill>
                  <a:srgbClr val="253438"/>
                </a:solidFill>
                <a:latin typeface="Calibri"/>
              </a:defRPr>
            </a:pPr>
            <a:r>
              <a:t>HR 0.49 (0.31–0.77)</a:t>
            </a:r>
          </a:p>
        </p:txBody>
      </p:sp>
      <p:cxnSp>
        <p:nvCxnSpPr>
          <p:cNvPr id="29" name="Connector 28"/>
          <p:cNvCxnSpPr/>
          <p:nvPr/>
        </p:nvCxnSpPr>
        <p:spPr>
          <a:xfrm>
            <a:off x="585216" y="5303520"/>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30" name="Rectangle 29"/>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000" b="0" i="0">
                <a:solidFill>
                  <a:srgbClr val="172326"/>
                </a:solidFill>
                <a:latin typeface="Calibri"/>
              </a:defRPr>
            </a:pPr>
            <a:r>
              <a:t>Treatment strategies and selected populations, not E0471-versus-E0466 comparisons.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IV · CURRENT LANDSCAPE</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Nocturnal and mixed-disease evidence</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Ward et al. 2005 [R28] · Zheng et al. 2022 [R29] · R27, R02</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S16</a:t>
            </a:r>
          </a:p>
        </p:txBody>
      </p:sp>
      <p:sp>
        <p:nvSpPr>
          <p:cNvPr id="12" name="Rectangle 11"/>
          <p:cNvSpPr/>
          <p:nvPr/>
        </p:nvSpPr>
        <p:spPr>
          <a:xfrm>
            <a:off x="585216" y="1801368"/>
            <a:ext cx="5355335" cy="2679192"/>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585216" y="1801368"/>
            <a:ext cx="5355335" cy="4114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77240" y="1965960"/>
            <a:ext cx="4971287" cy="434340"/>
          </a:xfrm>
          <a:prstGeom prst="rect">
            <a:avLst/>
          </a:prstGeom>
          <a:noFill/>
        </p:spPr>
        <p:txBody>
          <a:bodyPr wrap="square" lIns="0" rIns="0" tIns="0" bIns="0" anchor="t">
            <a:spAutoFit/>
          </a:bodyPr>
          <a:lstStyle/>
          <a:p>
            <a:pPr algn="l">
              <a:lnSpc>
                <a:spcPct val="106000"/>
              </a:lnSpc>
              <a:spcBef>
                <a:spcPts val="0"/>
              </a:spcBef>
              <a:spcAft>
                <a:spcPts val="0"/>
              </a:spcAft>
              <a:defRPr sz="2900" b="1" i="0">
                <a:solidFill>
                  <a:srgbClr val="172326"/>
                </a:solidFill>
                <a:latin typeface="Calibri"/>
              </a:defRPr>
            </a:pPr>
            <a:r>
              <a:t>Ward 2005</a:t>
            </a:r>
          </a:p>
        </p:txBody>
      </p:sp>
      <p:sp>
        <p:nvSpPr>
          <p:cNvPr id="15" name="TextBox 14"/>
          <p:cNvSpPr txBox="1"/>
          <p:nvPr/>
        </p:nvSpPr>
        <p:spPr>
          <a:xfrm>
            <a:off x="777240" y="2510028"/>
            <a:ext cx="4971287" cy="1815084"/>
          </a:xfrm>
          <a:prstGeom prst="rect">
            <a:avLst/>
          </a:prstGeom>
          <a:noFill/>
        </p:spPr>
        <p:txBody>
          <a:bodyPr wrap="square" lIns="0" rIns="0" tIns="0" bIns="0" anchor="t">
            <a:spAutoFit/>
          </a:bodyPr>
          <a:lstStyle/>
          <a:p>
            <a:pPr algn="l">
              <a:lnSpc>
                <a:spcPct val="106000"/>
              </a:lnSpc>
              <a:spcBef>
                <a:spcPts val="0"/>
              </a:spcBef>
              <a:spcAft>
                <a:spcPts val="0"/>
              </a:spcAft>
              <a:defRPr sz="2350" b="0" i="0">
                <a:solidFill>
                  <a:srgbClr val="253438"/>
                </a:solidFill>
                <a:latin typeface="Calibri"/>
              </a:defRPr>
            </a:pPr>
            <a:r>
              <a:t>26 randomized</a:t>
            </a:r>
          </a:p>
          <a:p>
            <a:pPr algn="l">
              <a:lnSpc>
                <a:spcPct val="106000"/>
              </a:lnSpc>
              <a:spcBef>
                <a:spcPts val="0"/>
              </a:spcBef>
              <a:spcAft>
                <a:spcPts val="0"/>
              </a:spcAft>
              <a:defRPr sz="2350" b="0" i="0">
                <a:solidFill>
                  <a:srgbClr val="253438"/>
                </a:solidFill>
                <a:latin typeface="Calibri"/>
              </a:defRPr>
            </a:pPr>
            <a:r>
              <a:t>NMD / chest-wall disease</a:t>
            </a:r>
          </a:p>
          <a:p>
            <a:pPr algn="l">
              <a:lnSpc>
                <a:spcPct val="106000"/>
              </a:lnSpc>
              <a:spcBef>
                <a:spcPts val="0"/>
              </a:spcBef>
              <a:spcAft>
                <a:spcPts val="0"/>
              </a:spcAft>
              <a:defRPr sz="2350" b="0" i="0">
                <a:solidFill>
                  <a:srgbClr val="253438"/>
                </a:solidFill>
                <a:latin typeface="Calibri"/>
              </a:defRPr>
            </a:pPr>
            <a:r>
              <a:t>Nocturnal hypercapnia; normal</a:t>
            </a:r>
          </a:p>
          <a:p>
            <a:pPr algn="l">
              <a:lnSpc>
                <a:spcPct val="106000"/>
              </a:lnSpc>
              <a:spcBef>
                <a:spcPts val="0"/>
              </a:spcBef>
              <a:spcAft>
                <a:spcPts val="0"/>
              </a:spcAft>
              <a:defRPr sz="2350" b="0" i="0">
                <a:solidFill>
                  <a:srgbClr val="253438"/>
                </a:solidFill>
                <a:latin typeface="Calibri"/>
              </a:defRPr>
            </a:pPr>
            <a:r>
              <a:t>daytime CO₂</a:t>
            </a:r>
          </a:p>
        </p:txBody>
      </p:sp>
      <p:cxnSp>
        <p:nvCxnSpPr>
          <p:cNvPr id="16" name="Connector 15"/>
          <p:cNvCxnSpPr/>
          <p:nvPr/>
        </p:nvCxnSpPr>
        <p:spPr>
          <a:xfrm>
            <a:off x="585216" y="4599432"/>
            <a:ext cx="5355335" cy="0"/>
          </a:xfrm>
          <a:prstGeom prst="line">
            <a:avLst/>
          </a:prstGeom>
          <a:ln w="17780">
            <a:solidFill>
              <a:srgbClr val="1C6970"/>
            </a:solidFill>
          </a:ln>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585216" y="4754880"/>
            <a:ext cx="5355335" cy="649224"/>
          </a:xfrm>
          <a:prstGeom prst="rect">
            <a:avLst/>
          </a:prstGeom>
          <a:noFill/>
        </p:spPr>
        <p:txBody>
          <a:bodyPr wrap="square" lIns="0" rIns="0" tIns="0" bIns="0" anchor="t">
            <a:spAutoFit/>
          </a:bodyPr>
          <a:lstStyle/>
          <a:p>
            <a:pPr algn="l">
              <a:lnSpc>
                <a:spcPct val="106000"/>
              </a:lnSpc>
              <a:spcBef>
                <a:spcPts val="0"/>
              </a:spcBef>
              <a:spcAft>
                <a:spcPts val="0"/>
              </a:spcAft>
              <a:defRPr sz="2400" b="1" i="0">
                <a:solidFill>
                  <a:srgbClr val="1C6970"/>
                </a:solidFill>
                <a:latin typeface="Calibri"/>
              </a:defRPr>
            </a:pPr>
            <a:r>
              <a:t>Improved nocturnal gas exchange</a:t>
            </a:r>
          </a:p>
        </p:txBody>
      </p:sp>
      <p:sp>
        <p:nvSpPr>
          <p:cNvPr id="18" name="Rectangle 17"/>
          <p:cNvSpPr/>
          <p:nvPr/>
        </p:nvSpPr>
        <p:spPr>
          <a:xfrm>
            <a:off x="6251447" y="1801368"/>
            <a:ext cx="5355335" cy="2679192"/>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6251447" y="1801368"/>
            <a:ext cx="5355335" cy="4114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443471" y="1965960"/>
            <a:ext cx="4971287" cy="434340"/>
          </a:xfrm>
          <a:prstGeom prst="rect">
            <a:avLst/>
          </a:prstGeom>
          <a:noFill/>
        </p:spPr>
        <p:txBody>
          <a:bodyPr wrap="square" lIns="0" rIns="0" tIns="0" bIns="0" anchor="t">
            <a:spAutoFit/>
          </a:bodyPr>
          <a:lstStyle/>
          <a:p>
            <a:pPr algn="l">
              <a:lnSpc>
                <a:spcPct val="106000"/>
              </a:lnSpc>
              <a:spcBef>
                <a:spcPts val="0"/>
              </a:spcBef>
              <a:spcAft>
                <a:spcPts val="0"/>
              </a:spcAft>
              <a:defRPr sz="2900" b="1" i="0">
                <a:solidFill>
                  <a:srgbClr val="172326"/>
                </a:solidFill>
                <a:latin typeface="Calibri"/>
              </a:defRPr>
            </a:pPr>
            <a:r>
              <a:t>Zheng 2022</a:t>
            </a:r>
          </a:p>
        </p:txBody>
      </p:sp>
      <p:sp>
        <p:nvSpPr>
          <p:cNvPr id="21" name="TextBox 20"/>
          <p:cNvSpPr txBox="1"/>
          <p:nvPr/>
        </p:nvSpPr>
        <p:spPr>
          <a:xfrm>
            <a:off x="6443471" y="2510028"/>
            <a:ext cx="4971287" cy="1815084"/>
          </a:xfrm>
          <a:prstGeom prst="rect">
            <a:avLst/>
          </a:prstGeom>
          <a:noFill/>
        </p:spPr>
        <p:txBody>
          <a:bodyPr wrap="square" lIns="0" rIns="0" tIns="0" bIns="0" anchor="t">
            <a:spAutoFit/>
          </a:bodyPr>
          <a:lstStyle/>
          <a:p>
            <a:pPr algn="l">
              <a:lnSpc>
                <a:spcPct val="106000"/>
              </a:lnSpc>
              <a:spcBef>
                <a:spcPts val="0"/>
              </a:spcBef>
              <a:spcAft>
                <a:spcPts val="0"/>
              </a:spcAft>
              <a:defRPr sz="2350" b="0" i="0">
                <a:solidFill>
                  <a:srgbClr val="253438"/>
                </a:solidFill>
                <a:latin typeface="Calibri"/>
              </a:defRPr>
            </a:pPr>
            <a:r>
              <a:t>32 patients</a:t>
            </a:r>
          </a:p>
          <a:p>
            <a:pPr algn="l">
              <a:lnSpc>
                <a:spcPct val="106000"/>
              </a:lnSpc>
              <a:spcBef>
                <a:spcPts val="0"/>
              </a:spcBef>
              <a:spcAft>
                <a:spcPts val="0"/>
              </a:spcAft>
              <a:defRPr sz="2350" b="0" i="0">
                <a:solidFill>
                  <a:srgbClr val="253438"/>
                </a:solidFill>
                <a:latin typeface="Calibri"/>
              </a:defRPr>
            </a:pPr>
            <a:r>
              <a:t>Obesity + obstructive airways disease</a:t>
            </a:r>
          </a:p>
          <a:p>
            <a:pPr algn="l">
              <a:lnSpc>
                <a:spcPct val="106000"/>
              </a:lnSpc>
              <a:spcBef>
                <a:spcPts val="0"/>
              </a:spcBef>
              <a:spcAft>
                <a:spcPts val="0"/>
              </a:spcAft>
              <a:defRPr sz="2350" b="0" i="0">
                <a:solidFill>
                  <a:srgbClr val="253438"/>
                </a:solidFill>
                <a:latin typeface="Calibri"/>
              </a:defRPr>
            </a:pPr>
            <a:r>
              <a:t>Chronic hypercapnia</a:t>
            </a:r>
          </a:p>
        </p:txBody>
      </p:sp>
      <p:cxnSp>
        <p:nvCxnSpPr>
          <p:cNvPr id="22" name="Connector 21"/>
          <p:cNvCxnSpPr/>
          <p:nvPr/>
        </p:nvCxnSpPr>
        <p:spPr>
          <a:xfrm>
            <a:off x="6251447" y="4599432"/>
            <a:ext cx="5355336" cy="0"/>
          </a:xfrm>
          <a:prstGeom prst="line">
            <a:avLst/>
          </a:prstGeom>
          <a:ln w="17780">
            <a:solidFill>
              <a:srgbClr val="1C6970"/>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6251447" y="4754880"/>
            <a:ext cx="5355335" cy="649224"/>
          </a:xfrm>
          <a:prstGeom prst="rect">
            <a:avLst/>
          </a:prstGeom>
          <a:noFill/>
        </p:spPr>
        <p:txBody>
          <a:bodyPr wrap="square" lIns="0" rIns="0" tIns="0" bIns="0" anchor="t">
            <a:spAutoFit/>
          </a:bodyPr>
          <a:lstStyle/>
          <a:p>
            <a:pPr algn="l">
              <a:lnSpc>
                <a:spcPct val="106000"/>
              </a:lnSpc>
              <a:spcBef>
                <a:spcPts val="0"/>
              </a:spcBef>
              <a:spcAft>
                <a:spcPts val="0"/>
              </a:spcAft>
              <a:defRPr sz="2400" b="1" i="0">
                <a:solidFill>
                  <a:srgbClr val="1C6970"/>
                </a:solidFill>
                <a:latin typeface="Calibri"/>
              </a:defRPr>
            </a:pPr>
            <a:r>
              <a:t>Bilevel-S favored for 3-month CO₂</a:t>
            </a:r>
          </a:p>
        </p:txBody>
      </p:sp>
      <p:sp>
        <p:nvSpPr>
          <p:cNvPr id="24" name="Rectangle 23"/>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1950" b="0" i="0">
                <a:solidFill>
                  <a:srgbClr val="172326"/>
                </a:solidFill>
                <a:latin typeface="Calibri"/>
              </a:defRPr>
            </a:pPr>
            <a:r>
              <a:t>Neither study establishes a universal treatment rule for isolated nocturnal or multifactorial</a:t>
            </a:r>
          </a:p>
          <a:p>
            <a:pPr algn="l">
              <a:lnSpc>
                <a:spcPct val="106000"/>
              </a:lnSpc>
              <a:spcBef>
                <a:spcPts val="0"/>
              </a:spcBef>
              <a:spcAft>
                <a:spcPts val="0"/>
              </a:spcAft>
              <a:defRPr sz="1950" b="0" i="0">
                <a:solidFill>
                  <a:srgbClr val="172326"/>
                </a:solidFill>
                <a:latin typeface="Calibri"/>
              </a:defRPr>
            </a:pPr>
            <a:r>
              <a:t>hypoventilation.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IV · CURRENT LANDSCAPE</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Noninvasive ventilator claims, 2009–2015</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HHS OIG, full report 2016 [R47]</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S17</a:t>
            </a:r>
          </a:p>
        </p:txBody>
      </p:sp>
      <p:sp>
        <p:nvSpPr>
          <p:cNvPr id="12" name="TextBox 11"/>
          <p:cNvSpPr txBox="1"/>
          <p:nvPr/>
        </p:nvSpPr>
        <p:spPr>
          <a:xfrm>
            <a:off x="585216" y="1719072"/>
            <a:ext cx="5303520" cy="384048"/>
          </a:xfrm>
          <a:prstGeom prst="rect">
            <a:avLst/>
          </a:prstGeom>
          <a:noFill/>
        </p:spPr>
        <p:txBody>
          <a:bodyPr wrap="square" lIns="0" rIns="0" tIns="0" bIns="0" anchor="t">
            <a:spAutoFit/>
          </a:bodyPr>
          <a:lstStyle/>
          <a:p>
            <a:pPr algn="l">
              <a:lnSpc>
                <a:spcPct val="106000"/>
              </a:lnSpc>
              <a:spcBef>
                <a:spcPts val="0"/>
              </a:spcBef>
              <a:spcAft>
                <a:spcPts val="0"/>
              </a:spcAft>
              <a:defRPr sz="2300" b="1" i="0">
                <a:solidFill>
                  <a:srgbClr val="253438"/>
                </a:solidFill>
                <a:latin typeface="Calibri"/>
              </a:defRPr>
            </a:pPr>
            <a:r>
              <a:t>E0464 claims</a:t>
            </a:r>
          </a:p>
        </p:txBody>
      </p:sp>
      <p:cxnSp>
        <p:nvCxnSpPr>
          <p:cNvPr id="13" name="Connector 12"/>
          <p:cNvCxnSpPr/>
          <p:nvPr/>
        </p:nvCxnSpPr>
        <p:spPr>
          <a:xfrm>
            <a:off x="1261872" y="4974336"/>
            <a:ext cx="5349240"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85216" y="4864608"/>
            <a:ext cx="530352" cy="274320"/>
          </a:xfrm>
          <a:prstGeom prst="rect">
            <a:avLst/>
          </a:prstGeom>
          <a:noFill/>
        </p:spPr>
        <p:txBody>
          <a:bodyPr wrap="square" lIns="0" rIns="0" tIns="0" bIns="0" anchor="t">
            <a:spAutoFit/>
          </a:bodyPr>
          <a:lstStyle/>
          <a:p>
            <a:pPr algn="r">
              <a:lnSpc>
                <a:spcPct val="106000"/>
              </a:lnSpc>
              <a:spcBef>
                <a:spcPts val="0"/>
              </a:spcBef>
              <a:spcAft>
                <a:spcPts val="0"/>
              </a:spcAft>
              <a:defRPr sz="1300" b="0" i="0">
                <a:solidFill>
                  <a:srgbClr val="596A70"/>
                </a:solidFill>
                <a:latin typeface="Calibri"/>
              </a:defRPr>
            </a:pPr>
            <a:r>
              <a:t>0</a:t>
            </a:r>
          </a:p>
        </p:txBody>
      </p:sp>
      <p:cxnSp>
        <p:nvCxnSpPr>
          <p:cNvPr id="15" name="Connector 14"/>
          <p:cNvCxnSpPr/>
          <p:nvPr/>
        </p:nvCxnSpPr>
        <p:spPr>
          <a:xfrm>
            <a:off x="1261872" y="3702304"/>
            <a:ext cx="5349240"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585216" y="3592576"/>
            <a:ext cx="530352" cy="274320"/>
          </a:xfrm>
          <a:prstGeom prst="rect">
            <a:avLst/>
          </a:prstGeom>
          <a:noFill/>
        </p:spPr>
        <p:txBody>
          <a:bodyPr wrap="square" lIns="0" rIns="0" tIns="0" bIns="0" anchor="t">
            <a:spAutoFit/>
          </a:bodyPr>
          <a:lstStyle/>
          <a:p>
            <a:pPr algn="r">
              <a:lnSpc>
                <a:spcPct val="106000"/>
              </a:lnSpc>
              <a:spcBef>
                <a:spcPts val="0"/>
              </a:spcBef>
              <a:spcAft>
                <a:spcPts val="0"/>
              </a:spcAft>
              <a:defRPr sz="1300" b="0" i="0">
                <a:solidFill>
                  <a:srgbClr val="596A70"/>
                </a:solidFill>
                <a:latin typeface="Calibri"/>
              </a:defRPr>
            </a:pPr>
            <a:r>
              <a:t>100k</a:t>
            </a:r>
          </a:p>
        </p:txBody>
      </p:sp>
      <p:cxnSp>
        <p:nvCxnSpPr>
          <p:cNvPr id="17" name="Connector 16"/>
          <p:cNvCxnSpPr/>
          <p:nvPr/>
        </p:nvCxnSpPr>
        <p:spPr>
          <a:xfrm>
            <a:off x="1261872" y="2430272"/>
            <a:ext cx="5349240"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585216" y="2320544"/>
            <a:ext cx="530352" cy="274320"/>
          </a:xfrm>
          <a:prstGeom prst="rect">
            <a:avLst/>
          </a:prstGeom>
          <a:noFill/>
        </p:spPr>
        <p:txBody>
          <a:bodyPr wrap="square" lIns="0" rIns="0" tIns="0" bIns="0" anchor="t">
            <a:spAutoFit/>
          </a:bodyPr>
          <a:lstStyle/>
          <a:p>
            <a:pPr algn="r">
              <a:lnSpc>
                <a:spcPct val="106000"/>
              </a:lnSpc>
              <a:spcBef>
                <a:spcPts val="0"/>
              </a:spcBef>
              <a:spcAft>
                <a:spcPts val="0"/>
              </a:spcAft>
              <a:defRPr sz="1300" b="0" i="0">
                <a:solidFill>
                  <a:srgbClr val="596A70"/>
                </a:solidFill>
                <a:latin typeface="Calibri"/>
              </a:defRPr>
            </a:pPr>
            <a:r>
              <a:t>200k</a:t>
            </a:r>
          </a:p>
        </p:txBody>
      </p:sp>
      <p:sp>
        <p:nvSpPr>
          <p:cNvPr id="19" name="Rectangle 18"/>
          <p:cNvSpPr/>
          <p:nvPr/>
        </p:nvSpPr>
        <p:spPr>
          <a:xfrm>
            <a:off x="1874519" y="4942179"/>
            <a:ext cx="1225296" cy="36576"/>
          </a:xfrm>
          <a:prstGeom prst="rect">
            <a:avLst/>
          </a:prstGeom>
          <a:solidFill>
            <a:srgbClr val="9BA7A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673351" y="4558131"/>
            <a:ext cx="1700784" cy="320040"/>
          </a:xfrm>
          <a:prstGeom prst="rect">
            <a:avLst/>
          </a:prstGeom>
          <a:noFill/>
        </p:spPr>
        <p:txBody>
          <a:bodyPr wrap="square" lIns="0" rIns="0" tIns="0" bIns="0" anchor="t">
            <a:spAutoFit/>
          </a:bodyPr>
          <a:lstStyle/>
          <a:p>
            <a:pPr algn="ctr">
              <a:lnSpc>
                <a:spcPct val="106000"/>
              </a:lnSpc>
              <a:spcBef>
                <a:spcPts val="0"/>
              </a:spcBef>
              <a:spcAft>
                <a:spcPts val="0"/>
              </a:spcAft>
              <a:defRPr sz="2300" b="1" i="0">
                <a:solidFill>
                  <a:srgbClr val="172326"/>
                </a:solidFill>
                <a:latin typeface="Calibri"/>
              </a:defRPr>
            </a:pPr>
            <a:r>
              <a:t>2,528</a:t>
            </a:r>
          </a:p>
        </p:txBody>
      </p:sp>
      <p:sp>
        <p:nvSpPr>
          <p:cNvPr id="21" name="TextBox 20"/>
          <p:cNvSpPr txBox="1"/>
          <p:nvPr/>
        </p:nvSpPr>
        <p:spPr>
          <a:xfrm>
            <a:off x="1737360" y="5093208"/>
            <a:ext cx="1508760" cy="320040"/>
          </a:xfrm>
          <a:prstGeom prst="rect">
            <a:avLst/>
          </a:prstGeom>
          <a:noFill/>
        </p:spPr>
        <p:txBody>
          <a:bodyPr wrap="square" lIns="0" rIns="0" tIns="0" bIns="0" anchor="t">
            <a:spAutoFit/>
          </a:bodyPr>
          <a:lstStyle/>
          <a:p>
            <a:pPr algn="ctr">
              <a:lnSpc>
                <a:spcPct val="106000"/>
              </a:lnSpc>
              <a:spcBef>
                <a:spcPts val="0"/>
              </a:spcBef>
              <a:spcAft>
                <a:spcPts val="0"/>
              </a:spcAft>
              <a:defRPr sz="2300" b="1" i="0">
                <a:solidFill>
                  <a:srgbClr val="172326"/>
                </a:solidFill>
                <a:latin typeface="Calibri"/>
              </a:defRPr>
            </a:pPr>
            <a:r>
              <a:t>2009</a:t>
            </a:r>
          </a:p>
        </p:txBody>
      </p:sp>
      <p:sp>
        <p:nvSpPr>
          <p:cNvPr id="22" name="Rectangle 21"/>
          <p:cNvSpPr/>
          <p:nvPr/>
        </p:nvSpPr>
        <p:spPr>
          <a:xfrm>
            <a:off x="4133087" y="2234646"/>
            <a:ext cx="1225296" cy="2739689"/>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3931920" y="1850598"/>
            <a:ext cx="1700784" cy="320040"/>
          </a:xfrm>
          <a:prstGeom prst="rect">
            <a:avLst/>
          </a:prstGeom>
          <a:noFill/>
        </p:spPr>
        <p:txBody>
          <a:bodyPr wrap="square" lIns="0" rIns="0" tIns="0" bIns="0" anchor="t">
            <a:spAutoFit/>
          </a:bodyPr>
          <a:lstStyle/>
          <a:p>
            <a:pPr algn="ctr">
              <a:lnSpc>
                <a:spcPct val="106000"/>
              </a:lnSpc>
              <a:spcBef>
                <a:spcPts val="0"/>
              </a:spcBef>
              <a:spcAft>
                <a:spcPts val="0"/>
              </a:spcAft>
              <a:defRPr sz="2300" b="1" i="0">
                <a:solidFill>
                  <a:srgbClr val="172326"/>
                </a:solidFill>
                <a:latin typeface="Calibri"/>
              </a:defRPr>
            </a:pPr>
            <a:r>
              <a:t>215,379</a:t>
            </a:r>
          </a:p>
        </p:txBody>
      </p:sp>
      <p:sp>
        <p:nvSpPr>
          <p:cNvPr id="24" name="TextBox 23"/>
          <p:cNvSpPr txBox="1"/>
          <p:nvPr/>
        </p:nvSpPr>
        <p:spPr>
          <a:xfrm>
            <a:off x="3995927" y="5093208"/>
            <a:ext cx="1508760" cy="320040"/>
          </a:xfrm>
          <a:prstGeom prst="rect">
            <a:avLst/>
          </a:prstGeom>
          <a:noFill/>
        </p:spPr>
        <p:txBody>
          <a:bodyPr wrap="square" lIns="0" rIns="0" tIns="0" bIns="0" anchor="t">
            <a:spAutoFit/>
          </a:bodyPr>
          <a:lstStyle/>
          <a:p>
            <a:pPr algn="ctr">
              <a:lnSpc>
                <a:spcPct val="106000"/>
              </a:lnSpc>
              <a:spcBef>
                <a:spcPts val="0"/>
              </a:spcBef>
              <a:spcAft>
                <a:spcPts val="0"/>
              </a:spcAft>
              <a:defRPr sz="2300" b="1" i="0">
                <a:solidFill>
                  <a:srgbClr val="172326"/>
                </a:solidFill>
                <a:latin typeface="Calibri"/>
              </a:defRPr>
            </a:pPr>
            <a:r>
              <a:t>2015</a:t>
            </a:r>
          </a:p>
        </p:txBody>
      </p:sp>
      <p:sp>
        <p:nvSpPr>
          <p:cNvPr id="25" name="TextBox 24"/>
          <p:cNvSpPr txBox="1"/>
          <p:nvPr/>
        </p:nvSpPr>
        <p:spPr>
          <a:xfrm>
            <a:off x="7406640" y="1828800"/>
            <a:ext cx="3977639" cy="603504"/>
          </a:xfrm>
          <a:prstGeom prst="rect">
            <a:avLst/>
          </a:prstGeom>
          <a:noFill/>
        </p:spPr>
        <p:txBody>
          <a:bodyPr wrap="square" lIns="0" rIns="0" tIns="0" bIns="0" anchor="t">
            <a:spAutoFit/>
          </a:bodyPr>
          <a:lstStyle/>
          <a:p>
            <a:pPr algn="l">
              <a:lnSpc>
                <a:spcPct val="106000"/>
              </a:lnSpc>
              <a:spcBef>
                <a:spcPts val="0"/>
              </a:spcBef>
              <a:spcAft>
                <a:spcPts val="0"/>
              </a:spcAft>
              <a:defRPr sz="3600" b="1" i="0">
                <a:solidFill>
                  <a:srgbClr val="1C6970"/>
                </a:solidFill>
                <a:latin typeface="Calibri"/>
              </a:defRPr>
            </a:pPr>
            <a:r>
              <a:t>85×</a:t>
            </a:r>
          </a:p>
        </p:txBody>
      </p:sp>
      <p:sp>
        <p:nvSpPr>
          <p:cNvPr id="26" name="TextBox 25"/>
          <p:cNvSpPr txBox="1"/>
          <p:nvPr/>
        </p:nvSpPr>
        <p:spPr>
          <a:xfrm>
            <a:off x="7406640" y="2432304"/>
            <a:ext cx="3931920" cy="566928"/>
          </a:xfrm>
          <a:prstGeom prst="rect">
            <a:avLst/>
          </a:prstGeom>
          <a:noFill/>
        </p:spPr>
        <p:txBody>
          <a:bodyPr wrap="square" lIns="0" rIns="0" tIns="0" bIns="0" anchor="t">
            <a:spAutoFit/>
          </a:bodyPr>
          <a:lstStyle/>
          <a:p>
            <a:pPr algn="l">
              <a:lnSpc>
                <a:spcPct val="106000"/>
              </a:lnSpc>
              <a:spcBef>
                <a:spcPts val="0"/>
              </a:spcBef>
              <a:spcAft>
                <a:spcPts val="0"/>
              </a:spcAft>
              <a:defRPr sz="1950" b="0" i="0">
                <a:solidFill>
                  <a:srgbClr val="253438"/>
                </a:solidFill>
                <a:latin typeface="Calibri"/>
              </a:defRPr>
            </a:pPr>
            <a:r>
              <a:t>E0464 claims</a:t>
            </a:r>
          </a:p>
        </p:txBody>
      </p:sp>
      <p:sp>
        <p:nvSpPr>
          <p:cNvPr id="27" name="TextBox 26"/>
          <p:cNvSpPr txBox="1"/>
          <p:nvPr/>
        </p:nvSpPr>
        <p:spPr>
          <a:xfrm>
            <a:off x="7406640" y="2971800"/>
            <a:ext cx="3977639" cy="603504"/>
          </a:xfrm>
          <a:prstGeom prst="rect">
            <a:avLst/>
          </a:prstGeom>
          <a:noFill/>
        </p:spPr>
        <p:txBody>
          <a:bodyPr wrap="square" lIns="0" rIns="0" tIns="0" bIns="0" anchor="t">
            <a:spAutoFit/>
          </a:bodyPr>
          <a:lstStyle/>
          <a:p>
            <a:pPr algn="l">
              <a:lnSpc>
                <a:spcPct val="106000"/>
              </a:lnSpc>
              <a:spcBef>
                <a:spcPts val="0"/>
              </a:spcBef>
              <a:spcAft>
                <a:spcPts val="0"/>
              </a:spcAft>
              <a:defRPr sz="2900" b="1" i="0">
                <a:solidFill>
                  <a:srgbClr val="1C6970"/>
                </a:solidFill>
                <a:latin typeface="Calibri"/>
              </a:defRPr>
            </a:pPr>
            <a:r>
              <a:t>$3.8M → $340M</a:t>
            </a:r>
          </a:p>
        </p:txBody>
      </p:sp>
      <p:sp>
        <p:nvSpPr>
          <p:cNvPr id="28" name="TextBox 27"/>
          <p:cNvSpPr txBox="1"/>
          <p:nvPr/>
        </p:nvSpPr>
        <p:spPr>
          <a:xfrm>
            <a:off x="7406640" y="3575304"/>
            <a:ext cx="3931920" cy="566928"/>
          </a:xfrm>
          <a:prstGeom prst="rect">
            <a:avLst/>
          </a:prstGeom>
          <a:noFill/>
        </p:spPr>
        <p:txBody>
          <a:bodyPr wrap="square" lIns="0" rIns="0" tIns="0" bIns="0" anchor="t">
            <a:spAutoFit/>
          </a:bodyPr>
          <a:lstStyle/>
          <a:p>
            <a:pPr algn="l">
              <a:lnSpc>
                <a:spcPct val="106000"/>
              </a:lnSpc>
              <a:spcBef>
                <a:spcPts val="0"/>
              </a:spcBef>
              <a:spcAft>
                <a:spcPts val="0"/>
              </a:spcAft>
              <a:defRPr sz="1950" b="0" i="0">
                <a:solidFill>
                  <a:srgbClr val="253438"/>
                </a:solidFill>
                <a:latin typeface="Calibri"/>
              </a:defRPr>
            </a:pPr>
            <a:r>
              <a:t>Medicare + beneficiary expenditures</a:t>
            </a:r>
          </a:p>
        </p:txBody>
      </p:sp>
      <p:sp>
        <p:nvSpPr>
          <p:cNvPr id="29" name="TextBox 28"/>
          <p:cNvSpPr txBox="1"/>
          <p:nvPr/>
        </p:nvSpPr>
        <p:spPr>
          <a:xfrm>
            <a:off x="7406640" y="4114800"/>
            <a:ext cx="3977639" cy="603504"/>
          </a:xfrm>
          <a:prstGeom prst="rect">
            <a:avLst/>
          </a:prstGeom>
          <a:noFill/>
        </p:spPr>
        <p:txBody>
          <a:bodyPr wrap="square" lIns="0" rIns="0" tIns="0" bIns="0" anchor="t">
            <a:spAutoFit/>
          </a:bodyPr>
          <a:lstStyle/>
          <a:p>
            <a:pPr algn="l">
              <a:lnSpc>
                <a:spcPct val="106000"/>
              </a:lnSpc>
              <a:spcBef>
                <a:spcPts val="0"/>
              </a:spcBef>
              <a:spcAft>
                <a:spcPts val="0"/>
              </a:spcAft>
              <a:defRPr sz="2900" b="1" i="0">
                <a:solidFill>
                  <a:srgbClr val="1C6970"/>
                </a:solidFill>
                <a:latin typeface="Calibri"/>
              </a:defRPr>
            </a:pPr>
            <a:r>
              <a:t>415 → 32,848</a:t>
            </a:r>
          </a:p>
        </p:txBody>
      </p:sp>
      <p:sp>
        <p:nvSpPr>
          <p:cNvPr id="30" name="TextBox 29"/>
          <p:cNvSpPr txBox="1"/>
          <p:nvPr/>
        </p:nvSpPr>
        <p:spPr>
          <a:xfrm>
            <a:off x="7406640" y="4718304"/>
            <a:ext cx="3931920" cy="566928"/>
          </a:xfrm>
          <a:prstGeom prst="rect">
            <a:avLst/>
          </a:prstGeom>
          <a:noFill/>
        </p:spPr>
        <p:txBody>
          <a:bodyPr wrap="square" lIns="0" rIns="0" tIns="0" bIns="0" anchor="t">
            <a:spAutoFit/>
          </a:bodyPr>
          <a:lstStyle/>
          <a:p>
            <a:pPr algn="l">
              <a:lnSpc>
                <a:spcPct val="106000"/>
              </a:lnSpc>
              <a:spcBef>
                <a:spcPts val="0"/>
              </a:spcBef>
              <a:spcAft>
                <a:spcPts val="0"/>
              </a:spcAft>
              <a:defRPr sz="1950" b="0" i="0">
                <a:solidFill>
                  <a:srgbClr val="253438"/>
                </a:solidFill>
                <a:latin typeface="Calibri"/>
              </a:defRPr>
            </a:pPr>
            <a:r>
              <a:t>Beneficiaries with claims</a:t>
            </a:r>
          </a:p>
        </p:txBody>
      </p:sp>
      <p:sp>
        <p:nvSpPr>
          <p:cNvPr id="31" name="Rectangle 30"/>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1950" b="0" i="0">
                <a:solidFill>
                  <a:srgbClr val="172326"/>
                </a:solidFill>
                <a:latin typeface="Calibri"/>
              </a:defRPr>
            </a:pPr>
            <a:r>
              <a:t>Historical Medicare claims analysis. Claims, beneficiaries, and clinical overuse are different measures.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IV · CURRENT LANDSCAPE</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Access barriers and inappropriate billing</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HHS OIG, full report 2016 [R47] · ONMAP 2021 [R14] · R10</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S18</a:t>
            </a:r>
          </a:p>
        </p:txBody>
      </p:sp>
      <p:sp>
        <p:nvSpPr>
          <p:cNvPr id="12" name="Rectangle 11"/>
          <p:cNvSpPr/>
          <p:nvPr/>
        </p:nvSpPr>
        <p:spPr>
          <a:xfrm>
            <a:off x="585216" y="1755648"/>
            <a:ext cx="5346191" cy="3639312"/>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86384" y="1938528"/>
            <a:ext cx="4943855" cy="804672"/>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OIG findings, 2016</a:t>
            </a:r>
          </a:p>
        </p:txBody>
      </p:sp>
      <p:sp>
        <p:nvSpPr>
          <p:cNvPr id="14" name="TextBox 13"/>
          <p:cNvSpPr txBox="1"/>
          <p:nvPr/>
        </p:nvSpPr>
        <p:spPr>
          <a:xfrm>
            <a:off x="786384" y="2743200"/>
            <a:ext cx="4943855" cy="835152"/>
          </a:xfrm>
          <a:prstGeom prst="rect">
            <a:avLst/>
          </a:prstGeom>
          <a:noFill/>
        </p:spPr>
        <p:txBody>
          <a:bodyPr wrap="square" lIns="0" rIns="0" tIns="0" bIns="0" anchor="t">
            <a:spAutoFit/>
          </a:bodyPr>
          <a:lstStyle/>
          <a:p>
            <a:pPr algn="l">
              <a:lnSpc>
                <a:spcPct val="106000"/>
              </a:lnSpc>
              <a:spcBef>
                <a:spcPts val="0"/>
              </a:spcBef>
              <a:spcAft>
                <a:spcPts val="0"/>
              </a:spcAft>
              <a:defRPr sz="2300" b="0" i="0">
                <a:solidFill>
                  <a:srgbClr val="253438"/>
                </a:solidFill>
                <a:latin typeface="Calibri"/>
              </a:defRPr>
            </a:pPr>
            <a:r>
              <a:t>$25M with indicators of inappropriate</a:t>
            </a:r>
          </a:p>
          <a:p>
            <a:pPr algn="l">
              <a:lnSpc>
                <a:spcPct val="106000"/>
              </a:lnSpc>
              <a:spcBef>
                <a:spcPts val="0"/>
              </a:spcBef>
              <a:spcAft>
                <a:spcPts val="0"/>
              </a:spcAft>
              <a:defRPr sz="2300" b="0" i="0">
                <a:solidFill>
                  <a:srgbClr val="253438"/>
                </a:solidFill>
                <a:latin typeface="Calibri"/>
              </a:defRPr>
            </a:pPr>
            <a:r>
              <a:t>billing</a:t>
            </a:r>
          </a:p>
        </p:txBody>
      </p:sp>
      <p:sp>
        <p:nvSpPr>
          <p:cNvPr id="15" name="TextBox 14"/>
          <p:cNvSpPr txBox="1"/>
          <p:nvPr/>
        </p:nvSpPr>
        <p:spPr>
          <a:xfrm>
            <a:off x="786384" y="3605784"/>
            <a:ext cx="4943855" cy="835152"/>
          </a:xfrm>
          <a:prstGeom prst="rect">
            <a:avLst/>
          </a:prstGeom>
          <a:noFill/>
        </p:spPr>
        <p:txBody>
          <a:bodyPr wrap="square" lIns="0" rIns="0" tIns="0" bIns="0" anchor="t">
            <a:spAutoFit/>
          </a:bodyPr>
          <a:lstStyle/>
          <a:p>
            <a:pPr algn="l">
              <a:lnSpc>
                <a:spcPct val="106000"/>
              </a:lnSpc>
              <a:spcBef>
                <a:spcPts val="0"/>
              </a:spcBef>
              <a:spcAft>
                <a:spcPts val="0"/>
              </a:spcAft>
              <a:defRPr sz="2300" b="0" i="0">
                <a:solidFill>
                  <a:srgbClr val="253438"/>
                </a:solidFill>
                <a:latin typeface="Calibri"/>
              </a:defRPr>
            </a:pPr>
            <a:r>
              <a:t>Examples: OSA treatment and</a:t>
            </a:r>
          </a:p>
          <a:p>
            <a:pPr algn="l">
              <a:lnSpc>
                <a:spcPct val="106000"/>
              </a:lnSpc>
              <a:spcBef>
                <a:spcPts val="0"/>
              </a:spcBef>
              <a:spcAft>
                <a:spcPts val="0"/>
              </a:spcAft>
              <a:defRPr sz="2300" b="0" i="0">
                <a:solidFill>
                  <a:srgbClr val="253438"/>
                </a:solidFill>
                <a:latin typeface="Calibri"/>
              </a:defRPr>
            </a:pPr>
            <a:r>
              <a:t>overlapping device claims</a:t>
            </a:r>
          </a:p>
        </p:txBody>
      </p:sp>
      <p:sp>
        <p:nvSpPr>
          <p:cNvPr id="16" name="TextBox 15"/>
          <p:cNvSpPr txBox="1"/>
          <p:nvPr/>
        </p:nvSpPr>
        <p:spPr>
          <a:xfrm>
            <a:off x="786384" y="4468368"/>
            <a:ext cx="4943855" cy="835152"/>
          </a:xfrm>
          <a:prstGeom prst="rect">
            <a:avLst/>
          </a:prstGeom>
          <a:noFill/>
        </p:spPr>
        <p:txBody>
          <a:bodyPr wrap="square" lIns="0" rIns="0" tIns="0" bIns="0" anchor="t">
            <a:spAutoFit/>
          </a:bodyPr>
          <a:lstStyle/>
          <a:p>
            <a:pPr algn="l">
              <a:lnSpc>
                <a:spcPct val="106000"/>
              </a:lnSpc>
              <a:spcBef>
                <a:spcPts val="0"/>
              </a:spcBef>
              <a:spcAft>
                <a:spcPts val="0"/>
              </a:spcAft>
              <a:defRPr sz="2300" b="0" i="0">
                <a:solidFill>
                  <a:srgbClr val="253438"/>
                </a:solidFill>
                <a:latin typeface="Calibri"/>
              </a:defRPr>
            </a:pPr>
            <a:r>
              <a:t>No population-wide clinical overuse</a:t>
            </a:r>
          </a:p>
          <a:p>
            <a:pPr algn="l">
              <a:lnSpc>
                <a:spcPct val="106000"/>
              </a:lnSpc>
              <a:spcBef>
                <a:spcPts val="0"/>
              </a:spcBef>
              <a:spcAft>
                <a:spcPts val="0"/>
              </a:spcAft>
              <a:defRPr sz="2300" b="0" i="0">
                <a:solidFill>
                  <a:srgbClr val="253438"/>
                </a:solidFill>
                <a:latin typeface="Calibri"/>
              </a:defRPr>
            </a:pPr>
            <a:r>
              <a:t>rate</a:t>
            </a:r>
          </a:p>
        </p:txBody>
      </p:sp>
      <p:sp>
        <p:nvSpPr>
          <p:cNvPr id="17" name="Rectangle 16"/>
          <p:cNvSpPr/>
          <p:nvPr/>
        </p:nvSpPr>
        <p:spPr>
          <a:xfrm>
            <a:off x="6260591" y="1755648"/>
            <a:ext cx="5346191" cy="3639312"/>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938528"/>
            <a:ext cx="4943855" cy="804672"/>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ONMAP account, 2021</a:t>
            </a:r>
          </a:p>
        </p:txBody>
      </p:sp>
      <p:sp>
        <p:nvSpPr>
          <p:cNvPr id="19" name="TextBox 18"/>
          <p:cNvSpPr txBox="1"/>
          <p:nvPr/>
        </p:nvSpPr>
        <p:spPr>
          <a:xfrm>
            <a:off x="6461759" y="2743200"/>
            <a:ext cx="4943855" cy="835152"/>
          </a:xfrm>
          <a:prstGeom prst="rect">
            <a:avLst/>
          </a:prstGeom>
          <a:noFill/>
        </p:spPr>
        <p:txBody>
          <a:bodyPr wrap="square" lIns="0" rIns="0" tIns="0" bIns="0" anchor="t">
            <a:spAutoFit/>
          </a:bodyPr>
          <a:lstStyle/>
          <a:p>
            <a:pPr algn="l">
              <a:lnSpc>
                <a:spcPct val="106000"/>
              </a:lnSpc>
              <a:spcBef>
                <a:spcPts val="0"/>
              </a:spcBef>
              <a:spcAft>
                <a:spcPts val="0"/>
              </a:spcAft>
              <a:defRPr sz="2300" b="0" i="0">
                <a:solidFill>
                  <a:srgbClr val="253438"/>
                </a:solidFill>
                <a:latin typeface="Calibri"/>
              </a:defRPr>
            </a:pPr>
            <a:r>
              <a:t>Detailed RAD qualification barriers</a:t>
            </a:r>
          </a:p>
        </p:txBody>
      </p:sp>
      <p:sp>
        <p:nvSpPr>
          <p:cNvPr id="20" name="TextBox 19"/>
          <p:cNvSpPr txBox="1"/>
          <p:nvPr/>
        </p:nvSpPr>
        <p:spPr>
          <a:xfrm>
            <a:off x="6461759" y="3605784"/>
            <a:ext cx="4943855" cy="835152"/>
          </a:xfrm>
          <a:prstGeom prst="rect">
            <a:avLst/>
          </a:prstGeom>
          <a:noFill/>
        </p:spPr>
        <p:txBody>
          <a:bodyPr wrap="square" lIns="0" rIns="0" tIns="0" bIns="0" anchor="t">
            <a:spAutoFit/>
          </a:bodyPr>
          <a:lstStyle/>
          <a:p>
            <a:pPr algn="l">
              <a:lnSpc>
                <a:spcPct val="106000"/>
              </a:lnSpc>
              <a:spcBef>
                <a:spcPts val="0"/>
              </a:spcBef>
              <a:spcAft>
                <a:spcPts val="0"/>
              </a:spcAft>
              <a:defRPr sz="2300" b="0" i="0">
                <a:solidFill>
                  <a:srgbClr val="253438"/>
                </a:solidFill>
                <a:latin typeface="Calibri"/>
              </a:defRPr>
            </a:pPr>
            <a:r>
              <a:t>Reports of easier access to some</a:t>
            </a:r>
          </a:p>
          <a:p>
            <a:pPr algn="l">
              <a:lnSpc>
                <a:spcPct val="106000"/>
              </a:lnSpc>
              <a:spcBef>
                <a:spcPts val="0"/>
              </a:spcBef>
              <a:spcAft>
                <a:spcPts val="0"/>
              </a:spcAft>
              <a:defRPr sz="2300" b="0" i="0">
                <a:solidFill>
                  <a:srgbClr val="253438"/>
                </a:solidFill>
                <a:latin typeface="Calibri"/>
              </a:defRPr>
            </a:pPr>
            <a:r>
              <a:t>ventilators</a:t>
            </a:r>
          </a:p>
        </p:txBody>
      </p:sp>
      <p:sp>
        <p:nvSpPr>
          <p:cNvPr id="21" name="TextBox 20"/>
          <p:cNvSpPr txBox="1"/>
          <p:nvPr/>
        </p:nvSpPr>
        <p:spPr>
          <a:xfrm>
            <a:off x="6461759" y="4468368"/>
            <a:ext cx="4943855" cy="835152"/>
          </a:xfrm>
          <a:prstGeom prst="rect">
            <a:avLst/>
          </a:prstGeom>
          <a:noFill/>
        </p:spPr>
        <p:txBody>
          <a:bodyPr wrap="square" lIns="0" rIns="0" tIns="0" bIns="0" anchor="t">
            <a:spAutoFit/>
          </a:bodyPr>
          <a:lstStyle/>
          <a:p>
            <a:pPr algn="l">
              <a:lnSpc>
                <a:spcPct val="106000"/>
              </a:lnSpc>
              <a:spcBef>
                <a:spcPts val="0"/>
              </a:spcBef>
              <a:spcAft>
                <a:spcPts val="0"/>
              </a:spcAft>
              <a:defRPr sz="2300" b="0" i="0">
                <a:solidFill>
                  <a:srgbClr val="253438"/>
                </a:solidFill>
                <a:latin typeface="Calibri"/>
              </a:defRPr>
            </a:pPr>
            <a:r>
              <a:t>Concern about ongoing clinical support</a:t>
            </a:r>
          </a:p>
        </p:txBody>
      </p:sp>
      <p:sp>
        <p:nvSpPr>
          <p:cNvPr id="22" name="Rectangle 21"/>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000" b="0" i="0">
                <a:solidFill>
                  <a:srgbClr val="172326"/>
                </a:solidFill>
                <a:latin typeface="Calibri"/>
              </a:defRPr>
            </a:pPr>
            <a:r>
              <a:t>Reported access barriers and billing concerns coexist; claims growth alone does not establish</a:t>
            </a:r>
          </a:p>
          <a:p>
            <a:pPr algn="l">
              <a:lnSpc>
                <a:spcPct val="106000"/>
              </a:lnSpc>
              <a:spcBef>
                <a:spcPts val="0"/>
              </a:spcBef>
              <a:spcAft>
                <a:spcPts val="0"/>
              </a:spcAft>
              <a:defRPr sz="2000" b="0" i="0">
                <a:solidFill>
                  <a:srgbClr val="172326"/>
                </a:solidFill>
                <a:latin typeface="Calibri"/>
              </a:defRPr>
            </a:pPr>
            <a:r>
              <a:t>causation.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IV · CURRENT LANDSCAPE</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Medicare coverage terminology</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CMS coverage process [R40] · CMS A55426 [R19] · R16</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S19</a:t>
            </a:r>
          </a:p>
        </p:txBody>
      </p:sp>
      <p:sp>
        <p:nvSpPr>
          <p:cNvPr id="12" name="Rectangle 11"/>
          <p:cNvSpPr/>
          <p:nvPr/>
        </p:nvSpPr>
        <p:spPr>
          <a:xfrm>
            <a:off x="585216" y="1773936"/>
            <a:ext cx="11021567" cy="475488"/>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13232" y="1847088"/>
            <a:ext cx="1984248" cy="365760"/>
          </a:xfrm>
          <a:prstGeom prst="rect">
            <a:avLst/>
          </a:prstGeom>
          <a:noFill/>
        </p:spPr>
        <p:txBody>
          <a:bodyPr wrap="square" lIns="0" rIns="0" tIns="0" bIns="0" anchor="t">
            <a:spAutoFit/>
          </a:bodyPr>
          <a:lstStyle/>
          <a:p>
            <a:pPr algn="l">
              <a:lnSpc>
                <a:spcPct val="106000"/>
              </a:lnSpc>
              <a:spcBef>
                <a:spcPts val="0"/>
              </a:spcBef>
              <a:spcAft>
                <a:spcPts val="0"/>
              </a:spcAft>
              <a:defRPr sz="2100" b="1" i="0">
                <a:solidFill>
                  <a:srgbClr val="172326"/>
                </a:solidFill>
                <a:latin typeface="Calibri"/>
              </a:defRPr>
            </a:pPr>
            <a:r>
              <a:t>Term</a:t>
            </a:r>
          </a:p>
        </p:txBody>
      </p:sp>
      <p:sp>
        <p:nvSpPr>
          <p:cNvPr id="14" name="TextBox 13"/>
          <p:cNvSpPr txBox="1"/>
          <p:nvPr/>
        </p:nvSpPr>
        <p:spPr>
          <a:xfrm>
            <a:off x="2953512" y="1847088"/>
            <a:ext cx="8525225" cy="365760"/>
          </a:xfrm>
          <a:prstGeom prst="rect">
            <a:avLst/>
          </a:prstGeom>
          <a:noFill/>
        </p:spPr>
        <p:txBody>
          <a:bodyPr wrap="square" lIns="0" rIns="0" tIns="0" bIns="0" anchor="t">
            <a:spAutoFit/>
          </a:bodyPr>
          <a:lstStyle/>
          <a:p>
            <a:pPr algn="l">
              <a:lnSpc>
                <a:spcPct val="106000"/>
              </a:lnSpc>
              <a:spcBef>
                <a:spcPts val="0"/>
              </a:spcBef>
              <a:spcAft>
                <a:spcPts val="0"/>
              </a:spcAft>
              <a:defRPr sz="2100" b="1" i="0">
                <a:solidFill>
                  <a:srgbClr val="172326"/>
                </a:solidFill>
                <a:latin typeface="Calibri"/>
              </a:defRPr>
            </a:pPr>
            <a:r>
              <a:t>Role</a:t>
            </a:r>
          </a:p>
        </p:txBody>
      </p:sp>
      <p:cxnSp>
        <p:nvCxnSpPr>
          <p:cNvPr id="15" name="Connector 14"/>
          <p:cNvCxnSpPr/>
          <p:nvPr/>
        </p:nvCxnSpPr>
        <p:spPr>
          <a:xfrm>
            <a:off x="585216" y="2249424"/>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13232" y="2269540"/>
            <a:ext cx="1984248" cy="569671"/>
          </a:xfrm>
          <a:prstGeom prst="rect">
            <a:avLst/>
          </a:prstGeom>
          <a:noFill/>
        </p:spPr>
        <p:txBody>
          <a:bodyPr wrap="square" lIns="0" rIns="0" tIns="0" bIns="0" anchor="ctr">
            <a:spAutoFit/>
          </a:bodyPr>
          <a:lstStyle/>
          <a:p>
            <a:pPr algn="l">
              <a:lnSpc>
                <a:spcPct val="106000"/>
              </a:lnSpc>
              <a:spcBef>
                <a:spcPts val="0"/>
              </a:spcBef>
              <a:spcAft>
                <a:spcPts val="0"/>
              </a:spcAft>
              <a:defRPr sz="2350" b="1" i="0">
                <a:solidFill>
                  <a:srgbClr val="172326"/>
                </a:solidFill>
                <a:latin typeface="Calibri"/>
              </a:defRPr>
            </a:pPr>
            <a:r>
              <a:t>CMS</a:t>
            </a:r>
          </a:p>
        </p:txBody>
      </p:sp>
      <p:sp>
        <p:nvSpPr>
          <p:cNvPr id="17" name="TextBox 16"/>
          <p:cNvSpPr txBox="1"/>
          <p:nvPr/>
        </p:nvSpPr>
        <p:spPr>
          <a:xfrm>
            <a:off x="2953512" y="2269540"/>
            <a:ext cx="8525225" cy="569671"/>
          </a:xfrm>
          <a:prstGeom prst="rect">
            <a:avLst/>
          </a:prstGeom>
          <a:noFill/>
        </p:spPr>
        <p:txBody>
          <a:bodyPr wrap="square" lIns="0" rIns="0" tIns="0" bIns="0" anchor="ctr">
            <a:spAutoFit/>
          </a:bodyPr>
          <a:lstStyle/>
          <a:p>
            <a:pPr algn="l">
              <a:lnSpc>
                <a:spcPct val="106000"/>
              </a:lnSpc>
              <a:spcBef>
                <a:spcPts val="0"/>
              </a:spcBef>
              <a:spcAft>
                <a:spcPts val="0"/>
              </a:spcAft>
              <a:defRPr sz="2350" b="0" i="0">
                <a:solidFill>
                  <a:srgbClr val="253438"/>
                </a:solidFill>
                <a:latin typeface="Calibri"/>
              </a:defRPr>
            </a:pPr>
            <a:r>
              <a:t>Centers for Medicare &amp; Medicaid Services</a:t>
            </a:r>
          </a:p>
        </p:txBody>
      </p:sp>
      <p:sp>
        <p:nvSpPr>
          <p:cNvPr id="18" name="Rectangle 17"/>
          <p:cNvSpPr/>
          <p:nvPr/>
        </p:nvSpPr>
        <p:spPr>
          <a:xfrm>
            <a:off x="585216" y="2860243"/>
            <a:ext cx="11021567" cy="610819"/>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 name="Connector 18"/>
          <p:cNvCxnSpPr/>
          <p:nvPr/>
        </p:nvCxnSpPr>
        <p:spPr>
          <a:xfrm>
            <a:off x="585216" y="2860243"/>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713232" y="2880360"/>
            <a:ext cx="1984248" cy="569671"/>
          </a:xfrm>
          <a:prstGeom prst="rect">
            <a:avLst/>
          </a:prstGeom>
          <a:noFill/>
        </p:spPr>
        <p:txBody>
          <a:bodyPr wrap="square" lIns="0" rIns="0" tIns="0" bIns="0" anchor="ctr">
            <a:spAutoFit/>
          </a:bodyPr>
          <a:lstStyle/>
          <a:p>
            <a:pPr algn="l">
              <a:lnSpc>
                <a:spcPct val="106000"/>
              </a:lnSpc>
              <a:spcBef>
                <a:spcPts val="0"/>
              </a:spcBef>
              <a:spcAft>
                <a:spcPts val="0"/>
              </a:spcAft>
              <a:defRPr sz="2350" b="1" i="0">
                <a:solidFill>
                  <a:srgbClr val="172326"/>
                </a:solidFill>
                <a:latin typeface="Calibri"/>
              </a:defRPr>
            </a:pPr>
            <a:r>
              <a:t>NCD</a:t>
            </a:r>
          </a:p>
        </p:txBody>
      </p:sp>
      <p:sp>
        <p:nvSpPr>
          <p:cNvPr id="21" name="TextBox 20"/>
          <p:cNvSpPr txBox="1"/>
          <p:nvPr/>
        </p:nvSpPr>
        <p:spPr>
          <a:xfrm>
            <a:off x="2953512" y="2880360"/>
            <a:ext cx="8525225" cy="569671"/>
          </a:xfrm>
          <a:prstGeom prst="rect">
            <a:avLst/>
          </a:prstGeom>
          <a:noFill/>
        </p:spPr>
        <p:txBody>
          <a:bodyPr wrap="square" lIns="0" rIns="0" tIns="0" bIns="0" anchor="ctr">
            <a:spAutoFit/>
          </a:bodyPr>
          <a:lstStyle/>
          <a:p>
            <a:pPr algn="l">
              <a:lnSpc>
                <a:spcPct val="106000"/>
              </a:lnSpc>
              <a:spcBef>
                <a:spcPts val="0"/>
              </a:spcBef>
              <a:spcAft>
                <a:spcPts val="0"/>
              </a:spcAft>
              <a:defRPr sz="2350" b="0" i="0">
                <a:solidFill>
                  <a:srgbClr val="253438"/>
                </a:solidFill>
                <a:latin typeface="Calibri"/>
              </a:defRPr>
            </a:pPr>
            <a:r>
              <a:t>National Coverage Determination: national coverage policy</a:t>
            </a:r>
          </a:p>
        </p:txBody>
      </p:sp>
      <p:cxnSp>
        <p:nvCxnSpPr>
          <p:cNvPr id="22" name="Connector 21"/>
          <p:cNvCxnSpPr/>
          <p:nvPr/>
        </p:nvCxnSpPr>
        <p:spPr>
          <a:xfrm>
            <a:off x="585216" y="3471062"/>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713232" y="3491179"/>
            <a:ext cx="1984248" cy="569671"/>
          </a:xfrm>
          <a:prstGeom prst="rect">
            <a:avLst/>
          </a:prstGeom>
          <a:noFill/>
        </p:spPr>
        <p:txBody>
          <a:bodyPr wrap="square" lIns="0" rIns="0" tIns="0" bIns="0" anchor="ctr">
            <a:spAutoFit/>
          </a:bodyPr>
          <a:lstStyle/>
          <a:p>
            <a:pPr algn="l">
              <a:lnSpc>
                <a:spcPct val="106000"/>
              </a:lnSpc>
              <a:spcBef>
                <a:spcPts val="0"/>
              </a:spcBef>
              <a:spcAft>
                <a:spcPts val="0"/>
              </a:spcAft>
              <a:defRPr sz="2350" b="1" i="0">
                <a:solidFill>
                  <a:srgbClr val="172326"/>
                </a:solidFill>
                <a:latin typeface="Calibri"/>
              </a:defRPr>
            </a:pPr>
            <a:r>
              <a:t>MAC / LCD</a:t>
            </a:r>
          </a:p>
        </p:txBody>
      </p:sp>
      <p:sp>
        <p:nvSpPr>
          <p:cNvPr id="24" name="TextBox 23"/>
          <p:cNvSpPr txBox="1"/>
          <p:nvPr/>
        </p:nvSpPr>
        <p:spPr>
          <a:xfrm>
            <a:off x="2953512" y="3491179"/>
            <a:ext cx="8525225" cy="569671"/>
          </a:xfrm>
          <a:prstGeom prst="rect">
            <a:avLst/>
          </a:prstGeom>
          <a:noFill/>
        </p:spPr>
        <p:txBody>
          <a:bodyPr wrap="square" lIns="0" rIns="0" tIns="0" bIns="0" anchor="ctr">
            <a:spAutoFit/>
          </a:bodyPr>
          <a:lstStyle/>
          <a:p>
            <a:pPr algn="l">
              <a:lnSpc>
                <a:spcPct val="106000"/>
              </a:lnSpc>
              <a:spcBef>
                <a:spcPts val="0"/>
              </a:spcBef>
              <a:spcAft>
                <a:spcPts val="0"/>
              </a:spcAft>
              <a:defRPr sz="2350" b="0" i="0">
                <a:solidFill>
                  <a:srgbClr val="253438"/>
                </a:solidFill>
                <a:latin typeface="Calibri"/>
              </a:defRPr>
            </a:pPr>
            <a:r>
              <a:t>Medicare contractor / contractor-level coverage policy</a:t>
            </a:r>
          </a:p>
        </p:txBody>
      </p:sp>
      <p:sp>
        <p:nvSpPr>
          <p:cNvPr id="25" name="Rectangle 24"/>
          <p:cNvSpPr/>
          <p:nvPr/>
        </p:nvSpPr>
        <p:spPr>
          <a:xfrm>
            <a:off x="585216" y="4081881"/>
            <a:ext cx="11021567" cy="610819"/>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6" name="Connector 25"/>
          <p:cNvCxnSpPr/>
          <p:nvPr/>
        </p:nvCxnSpPr>
        <p:spPr>
          <a:xfrm>
            <a:off x="585216" y="4081881"/>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713232" y="4101998"/>
            <a:ext cx="1984248" cy="569671"/>
          </a:xfrm>
          <a:prstGeom prst="rect">
            <a:avLst/>
          </a:prstGeom>
          <a:noFill/>
        </p:spPr>
        <p:txBody>
          <a:bodyPr wrap="square" lIns="0" rIns="0" tIns="0" bIns="0" anchor="ctr">
            <a:spAutoFit/>
          </a:bodyPr>
          <a:lstStyle/>
          <a:p>
            <a:pPr algn="l">
              <a:lnSpc>
                <a:spcPct val="106000"/>
              </a:lnSpc>
              <a:spcBef>
                <a:spcPts val="0"/>
              </a:spcBef>
              <a:spcAft>
                <a:spcPts val="0"/>
              </a:spcAft>
              <a:defRPr sz="2350" b="1" i="0">
                <a:solidFill>
                  <a:srgbClr val="172326"/>
                </a:solidFill>
                <a:latin typeface="Calibri"/>
              </a:defRPr>
            </a:pPr>
            <a:r>
              <a:t>DME supplier</a:t>
            </a:r>
          </a:p>
        </p:txBody>
      </p:sp>
      <p:sp>
        <p:nvSpPr>
          <p:cNvPr id="28" name="TextBox 27"/>
          <p:cNvSpPr txBox="1"/>
          <p:nvPr/>
        </p:nvSpPr>
        <p:spPr>
          <a:xfrm>
            <a:off x="2953512" y="4101998"/>
            <a:ext cx="8525225" cy="569671"/>
          </a:xfrm>
          <a:prstGeom prst="rect">
            <a:avLst/>
          </a:prstGeom>
          <a:noFill/>
        </p:spPr>
        <p:txBody>
          <a:bodyPr wrap="square" lIns="0" rIns="0" tIns="0" bIns="0" anchor="ctr">
            <a:spAutoFit/>
          </a:bodyPr>
          <a:lstStyle/>
          <a:p>
            <a:pPr algn="l">
              <a:lnSpc>
                <a:spcPct val="106000"/>
              </a:lnSpc>
              <a:spcBef>
                <a:spcPts val="0"/>
              </a:spcBef>
              <a:spcAft>
                <a:spcPts val="0"/>
              </a:spcAft>
              <a:defRPr sz="2350" b="0" i="0">
                <a:solidFill>
                  <a:srgbClr val="253438"/>
                </a:solidFill>
                <a:latin typeface="Calibri"/>
              </a:defRPr>
            </a:pPr>
            <a:r>
              <a:t>Company furnishing equipment and related services</a:t>
            </a:r>
          </a:p>
        </p:txBody>
      </p:sp>
      <p:cxnSp>
        <p:nvCxnSpPr>
          <p:cNvPr id="29" name="Connector 28"/>
          <p:cNvCxnSpPr/>
          <p:nvPr/>
        </p:nvCxnSpPr>
        <p:spPr>
          <a:xfrm>
            <a:off x="585216" y="4692700"/>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713232" y="4712817"/>
            <a:ext cx="1984248" cy="569671"/>
          </a:xfrm>
          <a:prstGeom prst="rect">
            <a:avLst/>
          </a:prstGeom>
          <a:noFill/>
        </p:spPr>
        <p:txBody>
          <a:bodyPr wrap="square" lIns="0" rIns="0" tIns="0" bIns="0" anchor="ctr">
            <a:spAutoFit/>
          </a:bodyPr>
          <a:lstStyle/>
          <a:p>
            <a:pPr algn="l">
              <a:lnSpc>
                <a:spcPct val="106000"/>
              </a:lnSpc>
              <a:spcBef>
                <a:spcPts val="0"/>
              </a:spcBef>
              <a:spcAft>
                <a:spcPts val="0"/>
              </a:spcAft>
              <a:defRPr sz="2350" b="1" i="0">
                <a:solidFill>
                  <a:srgbClr val="172326"/>
                </a:solidFill>
                <a:latin typeface="Calibri"/>
              </a:defRPr>
            </a:pPr>
            <a:r>
              <a:t>HCPCS</a:t>
            </a:r>
          </a:p>
        </p:txBody>
      </p:sp>
      <p:sp>
        <p:nvSpPr>
          <p:cNvPr id="31" name="TextBox 30"/>
          <p:cNvSpPr txBox="1"/>
          <p:nvPr/>
        </p:nvSpPr>
        <p:spPr>
          <a:xfrm>
            <a:off x="2953512" y="4712817"/>
            <a:ext cx="8525225" cy="569671"/>
          </a:xfrm>
          <a:prstGeom prst="rect">
            <a:avLst/>
          </a:prstGeom>
          <a:noFill/>
        </p:spPr>
        <p:txBody>
          <a:bodyPr wrap="square" lIns="0" rIns="0" tIns="0" bIns="0" anchor="ctr">
            <a:spAutoFit/>
          </a:bodyPr>
          <a:lstStyle/>
          <a:p>
            <a:pPr algn="l">
              <a:lnSpc>
                <a:spcPct val="106000"/>
              </a:lnSpc>
              <a:spcBef>
                <a:spcPts val="0"/>
              </a:spcBef>
              <a:spcAft>
                <a:spcPts val="0"/>
              </a:spcAft>
              <a:defRPr sz="2350" b="0" i="0">
                <a:solidFill>
                  <a:srgbClr val="253438"/>
                </a:solidFill>
                <a:latin typeface="Calibri"/>
              </a:defRPr>
            </a:pPr>
            <a:r>
              <a:t>Equipment or service billing code</a:t>
            </a:r>
          </a:p>
        </p:txBody>
      </p:sp>
      <p:cxnSp>
        <p:nvCxnSpPr>
          <p:cNvPr id="32" name="Connector 31"/>
          <p:cNvCxnSpPr/>
          <p:nvPr/>
        </p:nvCxnSpPr>
        <p:spPr>
          <a:xfrm>
            <a:off x="585216" y="5303520"/>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33" name="Rectangle 32"/>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ectangle 33"/>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000" b="0" i="0">
                <a:solidFill>
                  <a:srgbClr val="172326"/>
                </a:solidFill>
                <a:latin typeface="Calibri"/>
              </a:defRPr>
            </a:pPr>
            <a:r>
              <a:t>A DME supplier provides equipment. A DME MAC administers Medicare claims.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IV · CURRENT LANDSCAPE</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COPD national coverage, 2025</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CMS NCD 240.9 [R16] · CMS LCD L33800 [R17] · R41, R14</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S20</a:t>
            </a:r>
          </a:p>
        </p:txBody>
      </p:sp>
      <p:sp>
        <p:nvSpPr>
          <p:cNvPr id="12" name="TextBox 11"/>
          <p:cNvSpPr txBox="1"/>
          <p:nvPr/>
        </p:nvSpPr>
        <p:spPr>
          <a:xfrm>
            <a:off x="585216" y="1920240"/>
            <a:ext cx="4160520" cy="1371600"/>
          </a:xfrm>
          <a:prstGeom prst="rect">
            <a:avLst/>
          </a:prstGeom>
          <a:noFill/>
        </p:spPr>
        <p:txBody>
          <a:bodyPr wrap="square" lIns="0" rIns="0" tIns="0" bIns="0" anchor="t">
            <a:spAutoFit/>
          </a:bodyPr>
          <a:lstStyle/>
          <a:p>
            <a:pPr algn="l">
              <a:lnSpc>
                <a:spcPct val="106000"/>
              </a:lnSpc>
              <a:spcBef>
                <a:spcPts val="0"/>
              </a:spcBef>
              <a:spcAft>
                <a:spcPts val="0"/>
              </a:spcAft>
              <a:defRPr sz="7400" b="1" i="0">
                <a:solidFill>
                  <a:srgbClr val="1C6970"/>
                </a:solidFill>
                <a:latin typeface="Calibri"/>
              </a:defRPr>
            </a:pPr>
            <a:r>
              <a:t>240.9</a:t>
            </a:r>
          </a:p>
        </p:txBody>
      </p:sp>
      <p:sp>
        <p:nvSpPr>
          <p:cNvPr id="13" name="TextBox 12"/>
          <p:cNvSpPr txBox="1"/>
          <p:nvPr/>
        </p:nvSpPr>
        <p:spPr>
          <a:xfrm>
            <a:off x="585216" y="3310128"/>
            <a:ext cx="4251960" cy="923544"/>
          </a:xfrm>
          <a:prstGeom prst="rect">
            <a:avLst/>
          </a:prstGeom>
          <a:noFill/>
        </p:spPr>
        <p:txBody>
          <a:bodyPr wrap="square" lIns="0" rIns="0" tIns="0" bIns="0" anchor="t">
            <a:spAutoFit/>
          </a:bodyPr>
          <a:lstStyle/>
          <a:p>
            <a:pPr algn="l">
              <a:lnSpc>
                <a:spcPct val="106000"/>
              </a:lnSpc>
              <a:spcBef>
                <a:spcPts val="0"/>
              </a:spcBef>
              <a:spcAft>
                <a:spcPts val="0"/>
              </a:spcAft>
              <a:defRPr sz="2900" b="1" i="0">
                <a:solidFill>
                  <a:srgbClr val="253438"/>
                </a:solidFill>
                <a:latin typeface="Calibri"/>
              </a:defRPr>
            </a:pPr>
            <a:r>
              <a:t>National Coverage</a:t>
            </a:r>
          </a:p>
          <a:p>
            <a:pPr algn="l">
              <a:lnSpc>
                <a:spcPct val="106000"/>
              </a:lnSpc>
              <a:spcBef>
                <a:spcPts val="0"/>
              </a:spcBef>
              <a:spcAft>
                <a:spcPts val="0"/>
              </a:spcAft>
              <a:defRPr sz="2900" b="1" i="0">
                <a:solidFill>
                  <a:srgbClr val="253438"/>
                </a:solidFill>
                <a:latin typeface="Calibri"/>
              </a:defRPr>
            </a:pPr>
            <a:r>
              <a:t>Determination</a:t>
            </a:r>
          </a:p>
        </p:txBody>
      </p:sp>
      <p:sp>
        <p:nvSpPr>
          <p:cNvPr id="14" name="TextBox 13"/>
          <p:cNvSpPr txBox="1"/>
          <p:nvPr/>
        </p:nvSpPr>
        <p:spPr>
          <a:xfrm>
            <a:off x="585216" y="4507992"/>
            <a:ext cx="4389120" cy="777240"/>
          </a:xfrm>
          <a:prstGeom prst="rect">
            <a:avLst/>
          </a:prstGeom>
          <a:noFill/>
        </p:spPr>
        <p:txBody>
          <a:bodyPr wrap="square" lIns="0" rIns="0" tIns="0" bIns="0" anchor="t">
            <a:spAutoFit/>
          </a:bodyPr>
          <a:lstStyle/>
          <a:p>
            <a:pPr algn="l">
              <a:lnSpc>
                <a:spcPct val="106000"/>
              </a:lnSpc>
              <a:spcBef>
                <a:spcPts val="0"/>
              </a:spcBef>
              <a:spcAft>
                <a:spcPts val="0"/>
              </a:spcAft>
              <a:defRPr sz="2400" b="0" i="0">
                <a:solidFill>
                  <a:srgbClr val="253438"/>
                </a:solidFill>
                <a:latin typeface="Calibri"/>
              </a:defRPr>
            </a:pPr>
            <a:r>
              <a:t>Chronic respiratory failure</a:t>
            </a:r>
          </a:p>
          <a:p>
            <a:pPr algn="l">
              <a:lnSpc>
                <a:spcPct val="106000"/>
              </a:lnSpc>
              <a:spcBef>
                <a:spcPts val="0"/>
              </a:spcBef>
              <a:spcAft>
                <a:spcPts val="0"/>
              </a:spcAft>
              <a:defRPr sz="2400" b="0" i="0">
                <a:solidFill>
                  <a:srgbClr val="253438"/>
                </a:solidFill>
                <a:latin typeface="Calibri"/>
              </a:defRPr>
            </a:pPr>
            <a:r>
              <a:t>consequent to COPD</a:t>
            </a:r>
          </a:p>
        </p:txBody>
      </p:sp>
      <p:cxnSp>
        <p:nvCxnSpPr>
          <p:cNvPr id="15" name="Connector 14"/>
          <p:cNvCxnSpPr/>
          <p:nvPr/>
        </p:nvCxnSpPr>
        <p:spPr>
          <a:xfrm>
            <a:off x="5870448" y="2121408"/>
            <a:ext cx="182880" cy="0"/>
          </a:xfrm>
          <a:prstGeom prst="line">
            <a:avLst/>
          </a:prstGeom>
          <a:ln w="25400">
            <a:solidFill>
              <a:srgbClr val="1C6970"/>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217920" y="2029967"/>
            <a:ext cx="5321808" cy="777240"/>
          </a:xfrm>
          <a:prstGeom prst="rect">
            <a:avLst/>
          </a:prstGeom>
          <a:noFill/>
        </p:spPr>
        <p:txBody>
          <a:bodyPr wrap="square" lIns="0" rIns="0" tIns="0" bIns="0" anchor="t">
            <a:spAutoFit/>
          </a:bodyPr>
          <a:lstStyle/>
          <a:p>
            <a:pPr algn="l">
              <a:lnSpc>
                <a:spcPct val="106000"/>
              </a:lnSpc>
              <a:spcBef>
                <a:spcPts val="0"/>
              </a:spcBef>
              <a:spcAft>
                <a:spcPts val="0"/>
              </a:spcAft>
              <a:defRPr sz="2600" b="0" i="0">
                <a:solidFill>
                  <a:srgbClr val="253438"/>
                </a:solidFill>
                <a:latin typeface="Calibri"/>
              </a:defRPr>
            </a:pPr>
            <a:r>
              <a:t>Effective June 9, 2025</a:t>
            </a:r>
          </a:p>
        </p:txBody>
      </p:sp>
      <p:cxnSp>
        <p:nvCxnSpPr>
          <p:cNvPr id="17" name="Connector 16"/>
          <p:cNvCxnSpPr/>
          <p:nvPr/>
        </p:nvCxnSpPr>
        <p:spPr>
          <a:xfrm>
            <a:off x="5870448" y="2935224"/>
            <a:ext cx="182880" cy="0"/>
          </a:xfrm>
          <a:prstGeom prst="line">
            <a:avLst/>
          </a:prstGeom>
          <a:ln w="25400">
            <a:solidFill>
              <a:srgbClr val="1C6970"/>
            </a:solidFill>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6217920" y="2843784"/>
            <a:ext cx="5321808" cy="777240"/>
          </a:xfrm>
          <a:prstGeom prst="rect">
            <a:avLst/>
          </a:prstGeom>
          <a:noFill/>
        </p:spPr>
        <p:txBody>
          <a:bodyPr wrap="square" lIns="0" rIns="0" tIns="0" bIns="0" anchor="t">
            <a:spAutoFit/>
          </a:bodyPr>
          <a:lstStyle/>
          <a:p>
            <a:pPr algn="l">
              <a:lnSpc>
                <a:spcPct val="106000"/>
              </a:lnSpc>
              <a:spcBef>
                <a:spcPts val="0"/>
              </a:spcBef>
              <a:spcAft>
                <a:spcPts val="0"/>
              </a:spcAft>
              <a:defRPr sz="2600" b="0" i="0">
                <a:solidFill>
                  <a:srgbClr val="253438"/>
                </a:solidFill>
                <a:latin typeface="Calibri"/>
              </a:defRPr>
            </a:pPr>
            <a:r>
              <a:t>RAD and HMV criteria in one national</a:t>
            </a:r>
          </a:p>
          <a:p>
            <a:pPr algn="l">
              <a:lnSpc>
                <a:spcPct val="106000"/>
              </a:lnSpc>
              <a:spcBef>
                <a:spcPts val="0"/>
              </a:spcBef>
              <a:spcAft>
                <a:spcPts val="0"/>
              </a:spcAft>
              <a:defRPr sz="2600" b="0" i="0">
                <a:solidFill>
                  <a:srgbClr val="253438"/>
                </a:solidFill>
                <a:latin typeface="Calibri"/>
              </a:defRPr>
            </a:pPr>
            <a:r>
              <a:t>document</a:t>
            </a:r>
          </a:p>
        </p:txBody>
      </p:sp>
      <p:cxnSp>
        <p:nvCxnSpPr>
          <p:cNvPr id="19" name="Connector 18"/>
          <p:cNvCxnSpPr/>
          <p:nvPr/>
        </p:nvCxnSpPr>
        <p:spPr>
          <a:xfrm>
            <a:off x="5870448" y="3749039"/>
            <a:ext cx="182880" cy="0"/>
          </a:xfrm>
          <a:prstGeom prst="line">
            <a:avLst/>
          </a:prstGeom>
          <a:ln w="25400">
            <a:solidFill>
              <a:srgbClr val="1C6970"/>
            </a:solidFill>
          </a:ln>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6217920" y="3657600"/>
            <a:ext cx="5321808" cy="777240"/>
          </a:xfrm>
          <a:prstGeom prst="rect">
            <a:avLst/>
          </a:prstGeom>
          <a:noFill/>
        </p:spPr>
        <p:txBody>
          <a:bodyPr wrap="square" lIns="0" rIns="0" tIns="0" bIns="0" anchor="t">
            <a:spAutoFit/>
          </a:bodyPr>
          <a:lstStyle/>
          <a:p>
            <a:pPr algn="l">
              <a:lnSpc>
                <a:spcPct val="106000"/>
              </a:lnSpc>
              <a:spcBef>
                <a:spcPts val="0"/>
              </a:spcBef>
              <a:spcAft>
                <a:spcPts val="0"/>
              </a:spcAft>
              <a:defRPr sz="2600" b="0" i="0">
                <a:solidFill>
                  <a:srgbClr val="253438"/>
                </a:solidFill>
                <a:latin typeface="Calibri"/>
              </a:defRPr>
            </a:pPr>
            <a:r>
              <a:t>Separate standard and</a:t>
            </a:r>
          </a:p>
          <a:p>
            <a:pPr algn="l">
              <a:lnSpc>
                <a:spcPct val="106000"/>
              </a:lnSpc>
              <a:spcBef>
                <a:spcPts val="0"/>
              </a:spcBef>
              <a:spcAft>
                <a:spcPts val="0"/>
              </a:spcAft>
              <a:defRPr sz="2600" b="0" i="0">
                <a:solidFill>
                  <a:srgbClr val="253438"/>
                </a:solidFill>
                <a:latin typeface="Calibri"/>
              </a:defRPr>
            </a:pPr>
            <a:r>
              <a:t>hospital-discharge routes</a:t>
            </a:r>
          </a:p>
        </p:txBody>
      </p:sp>
      <p:cxnSp>
        <p:nvCxnSpPr>
          <p:cNvPr id="21" name="Connector 20"/>
          <p:cNvCxnSpPr/>
          <p:nvPr/>
        </p:nvCxnSpPr>
        <p:spPr>
          <a:xfrm>
            <a:off x="5870448" y="4562856"/>
            <a:ext cx="182880" cy="0"/>
          </a:xfrm>
          <a:prstGeom prst="line">
            <a:avLst/>
          </a:prstGeom>
          <a:ln w="25400">
            <a:solidFill>
              <a:srgbClr val="1C6970"/>
            </a:solidFill>
          </a:ln>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6217920" y="4471416"/>
            <a:ext cx="5321808" cy="777240"/>
          </a:xfrm>
          <a:prstGeom prst="rect">
            <a:avLst/>
          </a:prstGeom>
          <a:noFill/>
        </p:spPr>
        <p:txBody>
          <a:bodyPr wrap="square" lIns="0" rIns="0" tIns="0" bIns="0" anchor="t">
            <a:spAutoFit/>
          </a:bodyPr>
          <a:lstStyle/>
          <a:p>
            <a:pPr algn="l">
              <a:lnSpc>
                <a:spcPct val="106000"/>
              </a:lnSpc>
              <a:spcBef>
                <a:spcPts val="0"/>
              </a:spcBef>
              <a:spcAft>
                <a:spcPts val="0"/>
              </a:spcAft>
              <a:defRPr sz="2600" b="0" i="0">
                <a:solidFill>
                  <a:srgbClr val="253438"/>
                </a:solidFill>
                <a:latin typeface="Calibri"/>
              </a:defRPr>
            </a:pPr>
            <a:r>
              <a:t>Non-COPD pathways remain separate</a:t>
            </a:r>
          </a:p>
        </p:txBody>
      </p:sp>
      <p:sp>
        <p:nvSpPr>
          <p:cNvPr id="23" name="Rectangle 22"/>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000" b="0" i="0">
                <a:solidFill>
                  <a:srgbClr val="172326"/>
                </a:solidFill>
                <a:latin typeface="Calibri"/>
              </a:defRPr>
            </a:pPr>
            <a:r>
              <a:t>ONMAP recommendations, national coverage, and claims implementation are distinct documents.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IV · CURRENT LANDSCAPE</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NCD 240.9: RAD pathways</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CMS NCD 240.9 [R16]</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S21</a:t>
            </a:r>
          </a:p>
        </p:txBody>
      </p:sp>
      <p:sp>
        <p:nvSpPr>
          <p:cNvPr id="12" name="Rectangle 11"/>
          <p:cNvSpPr/>
          <p:nvPr/>
        </p:nvSpPr>
        <p:spPr>
          <a:xfrm>
            <a:off x="585216" y="1755648"/>
            <a:ext cx="5346191" cy="3639312"/>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86384" y="1938528"/>
            <a:ext cx="4943855" cy="804672"/>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Standard backup-rate route</a:t>
            </a:r>
          </a:p>
        </p:txBody>
      </p:sp>
      <p:sp>
        <p:nvSpPr>
          <p:cNvPr id="14" name="TextBox 13"/>
          <p:cNvSpPr txBox="1"/>
          <p:nvPr/>
        </p:nvSpPr>
        <p:spPr>
          <a:xfrm>
            <a:off x="786384" y="2743200"/>
            <a:ext cx="4943855" cy="835152"/>
          </a:xfrm>
          <a:prstGeom prst="rect">
            <a:avLst/>
          </a:prstGeom>
          <a:noFill/>
        </p:spPr>
        <p:txBody>
          <a:bodyPr wrap="square" lIns="0" rIns="0" tIns="0" bIns="0" anchor="t">
            <a:spAutoFit/>
          </a:bodyPr>
          <a:lstStyle/>
          <a:p>
            <a:pPr algn="l">
              <a:lnSpc>
                <a:spcPct val="106000"/>
              </a:lnSpc>
              <a:spcBef>
                <a:spcPts val="0"/>
              </a:spcBef>
              <a:spcAft>
                <a:spcPts val="0"/>
              </a:spcAft>
              <a:defRPr sz="2400" b="0" i="0">
                <a:solidFill>
                  <a:srgbClr val="253438"/>
                </a:solidFill>
                <a:latin typeface="Calibri"/>
              </a:defRPr>
            </a:pPr>
            <a:r>
              <a:t>Awake arterial PaCO₂ ≥52 mmHg</a:t>
            </a:r>
          </a:p>
        </p:txBody>
      </p:sp>
      <p:sp>
        <p:nvSpPr>
          <p:cNvPr id="15" name="TextBox 14"/>
          <p:cNvSpPr txBox="1"/>
          <p:nvPr/>
        </p:nvSpPr>
        <p:spPr>
          <a:xfrm>
            <a:off x="786384" y="3605784"/>
            <a:ext cx="4943855" cy="835152"/>
          </a:xfrm>
          <a:prstGeom prst="rect">
            <a:avLst/>
          </a:prstGeom>
          <a:noFill/>
        </p:spPr>
        <p:txBody>
          <a:bodyPr wrap="square" lIns="0" rIns="0" tIns="0" bIns="0" anchor="t">
            <a:spAutoFit/>
          </a:bodyPr>
          <a:lstStyle/>
          <a:p>
            <a:pPr algn="l">
              <a:lnSpc>
                <a:spcPct val="106000"/>
              </a:lnSpc>
              <a:spcBef>
                <a:spcPts val="0"/>
              </a:spcBef>
              <a:spcAft>
                <a:spcPts val="0"/>
              </a:spcAft>
              <a:defRPr sz="2400" b="0" i="0">
                <a:solidFill>
                  <a:srgbClr val="253438"/>
                </a:solidFill>
                <a:latin typeface="Calibri"/>
              </a:defRPr>
            </a:pPr>
            <a:r>
              <a:t>Sleep apnea not the predominant</a:t>
            </a:r>
          </a:p>
          <a:p>
            <a:pPr algn="l">
              <a:lnSpc>
                <a:spcPct val="106000"/>
              </a:lnSpc>
              <a:spcBef>
                <a:spcPts val="0"/>
              </a:spcBef>
              <a:spcAft>
                <a:spcPts val="0"/>
              </a:spcAft>
              <a:defRPr sz="2400" b="0" i="0">
                <a:solidFill>
                  <a:srgbClr val="253438"/>
                </a:solidFill>
                <a:latin typeface="Calibri"/>
              </a:defRPr>
            </a:pPr>
            <a:r>
              <a:t>cause</a:t>
            </a:r>
          </a:p>
        </p:txBody>
      </p:sp>
      <p:sp>
        <p:nvSpPr>
          <p:cNvPr id="16" name="TextBox 15"/>
          <p:cNvSpPr txBox="1"/>
          <p:nvPr/>
        </p:nvSpPr>
        <p:spPr>
          <a:xfrm>
            <a:off x="786384" y="4468368"/>
            <a:ext cx="4943855" cy="835152"/>
          </a:xfrm>
          <a:prstGeom prst="rect">
            <a:avLst/>
          </a:prstGeom>
          <a:noFill/>
        </p:spPr>
        <p:txBody>
          <a:bodyPr wrap="square" lIns="0" rIns="0" tIns="0" bIns="0" anchor="t">
            <a:spAutoFit/>
          </a:bodyPr>
          <a:lstStyle/>
          <a:p>
            <a:pPr algn="l">
              <a:lnSpc>
                <a:spcPct val="106000"/>
              </a:lnSpc>
              <a:spcBef>
                <a:spcPts val="0"/>
              </a:spcBef>
              <a:spcAft>
                <a:spcPts val="0"/>
              </a:spcAft>
              <a:defRPr sz="2400" b="0" i="0">
                <a:solidFill>
                  <a:srgbClr val="253438"/>
                </a:solidFill>
                <a:latin typeface="Calibri"/>
              </a:defRPr>
            </a:pPr>
            <a:r>
              <a:t>Stable COPD or persistent hypercapnia</a:t>
            </a:r>
          </a:p>
          <a:p>
            <a:pPr algn="l">
              <a:lnSpc>
                <a:spcPct val="106000"/>
              </a:lnSpc>
              <a:spcBef>
                <a:spcPts val="0"/>
              </a:spcBef>
              <a:spcAft>
                <a:spcPts val="0"/>
              </a:spcAft>
              <a:defRPr sz="2400" b="0" i="0">
                <a:solidFill>
                  <a:srgbClr val="253438"/>
                </a:solidFill>
                <a:latin typeface="Calibri"/>
              </a:defRPr>
            </a:pPr>
            <a:r>
              <a:t>≥2 weeks after hospitalization</a:t>
            </a:r>
          </a:p>
        </p:txBody>
      </p:sp>
      <p:sp>
        <p:nvSpPr>
          <p:cNvPr id="17" name="Rectangle 16"/>
          <p:cNvSpPr/>
          <p:nvPr/>
        </p:nvSpPr>
        <p:spPr>
          <a:xfrm>
            <a:off x="6260591" y="1755648"/>
            <a:ext cx="5346191" cy="3639312"/>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61759" y="1938528"/>
            <a:ext cx="4943855" cy="804672"/>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Immediate discharge route</a:t>
            </a:r>
          </a:p>
        </p:txBody>
      </p:sp>
      <p:sp>
        <p:nvSpPr>
          <p:cNvPr id="19" name="TextBox 18"/>
          <p:cNvSpPr txBox="1"/>
          <p:nvPr/>
        </p:nvSpPr>
        <p:spPr>
          <a:xfrm>
            <a:off x="6461759" y="2743200"/>
            <a:ext cx="4943855" cy="835152"/>
          </a:xfrm>
          <a:prstGeom prst="rect">
            <a:avLst/>
          </a:prstGeom>
          <a:noFill/>
        </p:spPr>
        <p:txBody>
          <a:bodyPr wrap="square" lIns="0" rIns="0" tIns="0" bIns="0" anchor="t">
            <a:spAutoFit/>
          </a:bodyPr>
          <a:lstStyle/>
          <a:p>
            <a:pPr algn="l">
              <a:lnSpc>
                <a:spcPct val="106000"/>
              </a:lnSpc>
              <a:spcBef>
                <a:spcPts val="0"/>
              </a:spcBef>
              <a:spcAft>
                <a:spcPts val="0"/>
              </a:spcAft>
              <a:defRPr sz="2400" b="0" i="0">
                <a:solidFill>
                  <a:srgbClr val="253438"/>
                </a:solidFill>
                <a:latin typeface="Calibri"/>
              </a:defRPr>
            </a:pPr>
            <a:r>
              <a:t>Acute-on-chronic respiratory failure</a:t>
            </a:r>
          </a:p>
          <a:p>
            <a:pPr algn="l">
              <a:lnSpc>
                <a:spcPct val="106000"/>
              </a:lnSpc>
              <a:spcBef>
                <a:spcPts val="0"/>
              </a:spcBef>
              <a:spcAft>
                <a:spcPts val="0"/>
              </a:spcAft>
              <a:defRPr sz="2400" b="0" i="0">
                <a:solidFill>
                  <a:srgbClr val="253438"/>
                </a:solidFill>
                <a:latin typeface="Calibri"/>
              </a:defRPr>
            </a:pPr>
            <a:r>
              <a:t>due to COPD</a:t>
            </a:r>
          </a:p>
        </p:txBody>
      </p:sp>
      <p:sp>
        <p:nvSpPr>
          <p:cNvPr id="20" name="TextBox 19"/>
          <p:cNvSpPr txBox="1"/>
          <p:nvPr/>
        </p:nvSpPr>
        <p:spPr>
          <a:xfrm>
            <a:off x="6461759" y="3605784"/>
            <a:ext cx="4943855" cy="835152"/>
          </a:xfrm>
          <a:prstGeom prst="rect">
            <a:avLst/>
          </a:prstGeom>
          <a:noFill/>
        </p:spPr>
        <p:txBody>
          <a:bodyPr wrap="square" lIns="0" rIns="0" tIns="0" bIns="0" anchor="t">
            <a:spAutoFit/>
          </a:bodyPr>
          <a:lstStyle/>
          <a:p>
            <a:pPr algn="l">
              <a:lnSpc>
                <a:spcPct val="106000"/>
              </a:lnSpc>
              <a:spcBef>
                <a:spcPts val="0"/>
              </a:spcBef>
              <a:spcAft>
                <a:spcPts val="0"/>
              </a:spcAft>
              <a:defRPr sz="2400" b="0" i="0">
                <a:solidFill>
                  <a:srgbClr val="253438"/>
                </a:solidFill>
                <a:latin typeface="Calibri"/>
              </a:defRPr>
            </a:pPr>
            <a:r>
              <a:t>RAD or ventilator required within</a:t>
            </a:r>
          </a:p>
          <a:p>
            <a:pPr algn="l">
              <a:lnSpc>
                <a:spcPct val="106000"/>
              </a:lnSpc>
              <a:spcBef>
                <a:spcPts val="0"/>
              </a:spcBef>
              <a:spcAft>
                <a:spcPts val="0"/>
              </a:spcAft>
              <a:defRPr sz="2400" b="0" i="0">
                <a:solidFill>
                  <a:srgbClr val="253438"/>
                </a:solidFill>
                <a:latin typeface="Calibri"/>
              </a:defRPr>
            </a:pPr>
            <a:r>
              <a:t>prior 24 hours</a:t>
            </a:r>
          </a:p>
        </p:txBody>
      </p:sp>
      <p:sp>
        <p:nvSpPr>
          <p:cNvPr id="21" name="TextBox 20"/>
          <p:cNvSpPr txBox="1"/>
          <p:nvPr/>
        </p:nvSpPr>
        <p:spPr>
          <a:xfrm>
            <a:off x="6461759" y="4468368"/>
            <a:ext cx="4943855" cy="835152"/>
          </a:xfrm>
          <a:prstGeom prst="rect">
            <a:avLst/>
          </a:prstGeom>
          <a:noFill/>
        </p:spPr>
        <p:txBody>
          <a:bodyPr wrap="square" lIns="0" rIns="0" tIns="0" bIns="0" anchor="t">
            <a:spAutoFit/>
          </a:bodyPr>
          <a:lstStyle/>
          <a:p>
            <a:pPr algn="l">
              <a:lnSpc>
                <a:spcPct val="106000"/>
              </a:lnSpc>
              <a:spcBef>
                <a:spcPts val="0"/>
              </a:spcBef>
              <a:spcAft>
                <a:spcPts val="0"/>
              </a:spcAft>
              <a:defRPr sz="2400" b="0" i="0">
                <a:solidFill>
                  <a:srgbClr val="253438"/>
                </a:solidFill>
                <a:latin typeface="Calibri"/>
              </a:defRPr>
            </a:pPr>
            <a:r>
              <a:t>Clinician-assessed risk of rapid</a:t>
            </a:r>
          </a:p>
          <a:p>
            <a:pPr algn="l">
              <a:lnSpc>
                <a:spcPct val="106000"/>
              </a:lnSpc>
              <a:spcBef>
                <a:spcPts val="0"/>
              </a:spcBef>
              <a:spcAft>
                <a:spcPts val="0"/>
              </a:spcAft>
              <a:defRPr sz="2400" b="0" i="0">
                <a:solidFill>
                  <a:srgbClr val="253438"/>
                </a:solidFill>
                <a:latin typeface="Calibri"/>
              </a:defRPr>
            </a:pPr>
            <a:r>
              <a:t>deterioration</a:t>
            </a:r>
          </a:p>
        </p:txBody>
      </p:sp>
      <p:sp>
        <p:nvSpPr>
          <p:cNvPr id="22" name="TextBox 21"/>
          <p:cNvSpPr txBox="1"/>
          <p:nvPr/>
        </p:nvSpPr>
        <p:spPr>
          <a:xfrm>
            <a:off x="585216" y="1609344"/>
            <a:ext cx="11021567" cy="201168"/>
          </a:xfrm>
          <a:prstGeom prst="rect">
            <a:avLst/>
          </a:prstGeom>
          <a:noFill/>
        </p:spPr>
        <p:txBody>
          <a:bodyPr wrap="square" lIns="0" rIns="0" tIns="0" bIns="0" anchor="t">
            <a:spAutoFit/>
          </a:bodyPr>
          <a:lstStyle/>
          <a:p>
            <a:pPr algn="l">
              <a:lnSpc>
                <a:spcPct val="106000"/>
              </a:lnSpc>
              <a:spcBef>
                <a:spcPts val="0"/>
              </a:spcBef>
              <a:spcAft>
                <a:spcPts val="0"/>
              </a:spcAft>
              <a:defRPr sz="1100" b="0" i="0">
                <a:solidFill>
                  <a:srgbClr val="596A70"/>
                </a:solidFill>
                <a:latin typeface="Calibri"/>
              </a:defRPr>
            </a:pPr>
            <a:r>
              <a:t>Selected entry criteria; detailed conditions in A03</a:t>
            </a:r>
          </a:p>
        </p:txBody>
      </p:sp>
      <p:sp>
        <p:nvSpPr>
          <p:cNvPr id="23" name="Rectangle 22"/>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000" b="0" i="0">
                <a:solidFill>
                  <a:srgbClr val="172326"/>
                </a:solidFill>
                <a:latin typeface="Calibri"/>
              </a:defRPr>
            </a:pPr>
            <a:r>
              <a:t>Initial coverage: 6 months. Backup-rate therapy: IPAP ≥15 cm H₂O and rate ≥14/min by month 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IV · CURRENT LANDSCAPE</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NCD 240.9: HMV pathways</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CMS NCD 240.9 [R16]</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S22</a:t>
            </a:r>
          </a:p>
        </p:txBody>
      </p:sp>
      <p:sp>
        <p:nvSpPr>
          <p:cNvPr id="12" name="Rectangle 11"/>
          <p:cNvSpPr/>
          <p:nvPr/>
        </p:nvSpPr>
        <p:spPr>
          <a:xfrm>
            <a:off x="585216" y="1746504"/>
            <a:ext cx="11021567" cy="768096"/>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8952" y="1892807"/>
            <a:ext cx="10674095" cy="502920"/>
          </a:xfrm>
          <a:prstGeom prst="rect">
            <a:avLst/>
          </a:prstGeom>
          <a:noFill/>
        </p:spPr>
        <p:txBody>
          <a:bodyPr wrap="square" lIns="0" rIns="0" tIns="0" bIns="0" anchor="ctr">
            <a:spAutoFit/>
          </a:bodyPr>
          <a:lstStyle/>
          <a:p>
            <a:pPr algn="l">
              <a:lnSpc>
                <a:spcPct val="106000"/>
              </a:lnSpc>
              <a:spcBef>
                <a:spcPts val="0"/>
              </a:spcBef>
              <a:spcAft>
                <a:spcPts val="0"/>
              </a:spcAft>
              <a:defRPr sz="2300" b="1" i="0">
                <a:solidFill>
                  <a:srgbClr val="1C6970"/>
                </a:solidFill>
                <a:latin typeface="Calibri"/>
              </a:defRPr>
            </a:pPr>
            <a:r>
              <a:t>Volume-targeted mode + awake PaCO₂ ≥52 mmHg + sleep apnea not predominant</a:t>
            </a:r>
          </a:p>
        </p:txBody>
      </p:sp>
      <p:sp>
        <p:nvSpPr>
          <p:cNvPr id="14" name="TextBox 13"/>
          <p:cNvSpPr txBox="1"/>
          <p:nvPr/>
        </p:nvSpPr>
        <p:spPr>
          <a:xfrm>
            <a:off x="585216" y="2624328"/>
            <a:ext cx="11021567" cy="347472"/>
          </a:xfrm>
          <a:prstGeom prst="rect">
            <a:avLst/>
          </a:prstGeom>
          <a:noFill/>
        </p:spPr>
        <p:txBody>
          <a:bodyPr wrap="square" lIns="0" rIns="0" tIns="0" bIns="0" anchor="t">
            <a:spAutoFit/>
          </a:bodyPr>
          <a:lstStyle/>
          <a:p>
            <a:pPr algn="l">
              <a:lnSpc>
                <a:spcPct val="106000"/>
              </a:lnSpc>
              <a:spcBef>
                <a:spcPts val="0"/>
              </a:spcBef>
              <a:spcAft>
                <a:spcPts val="0"/>
              </a:spcAft>
              <a:defRPr sz="2000" b="1" i="0">
                <a:solidFill>
                  <a:srgbClr val="172326"/>
                </a:solidFill>
                <a:latin typeface="Calibri"/>
              </a:defRPr>
            </a:pPr>
            <a:r>
              <a:t>At least one additional characteristic</a:t>
            </a:r>
          </a:p>
        </p:txBody>
      </p:sp>
      <p:sp>
        <p:nvSpPr>
          <p:cNvPr id="15" name="TextBox 14"/>
          <p:cNvSpPr txBox="1"/>
          <p:nvPr/>
        </p:nvSpPr>
        <p:spPr>
          <a:xfrm>
            <a:off x="585216" y="3099816"/>
            <a:ext cx="457200" cy="356616"/>
          </a:xfrm>
          <a:prstGeom prst="rect">
            <a:avLst/>
          </a:prstGeom>
          <a:noFill/>
        </p:spPr>
        <p:txBody>
          <a:bodyPr wrap="square" lIns="0" rIns="0" tIns="0" bIns="0" anchor="t">
            <a:spAutoFit/>
          </a:bodyPr>
          <a:lstStyle/>
          <a:p>
            <a:pPr algn="l">
              <a:lnSpc>
                <a:spcPct val="106000"/>
              </a:lnSpc>
              <a:spcBef>
                <a:spcPts val="0"/>
              </a:spcBef>
              <a:spcAft>
                <a:spcPts val="0"/>
              </a:spcAft>
              <a:defRPr sz="2400" b="1" i="0">
                <a:solidFill>
                  <a:srgbClr val="1C6970"/>
                </a:solidFill>
                <a:latin typeface="Calibri"/>
              </a:defRPr>
            </a:pPr>
            <a:r>
              <a:t>1</a:t>
            </a:r>
          </a:p>
        </p:txBody>
      </p:sp>
      <p:sp>
        <p:nvSpPr>
          <p:cNvPr id="16" name="TextBox 15"/>
          <p:cNvSpPr txBox="1"/>
          <p:nvPr/>
        </p:nvSpPr>
        <p:spPr>
          <a:xfrm>
            <a:off x="1243584" y="3099816"/>
            <a:ext cx="10363199" cy="466344"/>
          </a:xfrm>
          <a:prstGeom prst="rect">
            <a:avLst/>
          </a:prstGeom>
          <a:noFill/>
        </p:spPr>
        <p:txBody>
          <a:bodyPr wrap="square" lIns="0" rIns="0" tIns="0" bIns="0" anchor="t">
            <a:spAutoFit/>
          </a:bodyPr>
          <a:lstStyle/>
          <a:p>
            <a:pPr algn="l">
              <a:lnSpc>
                <a:spcPct val="106000"/>
              </a:lnSpc>
              <a:spcBef>
                <a:spcPts val="0"/>
              </a:spcBef>
              <a:spcAft>
                <a:spcPts val="0"/>
              </a:spcAft>
              <a:defRPr sz="2500" b="0" i="0">
                <a:solidFill>
                  <a:srgbClr val="253438"/>
                </a:solidFill>
                <a:latin typeface="Calibri"/>
              </a:defRPr>
            </a:pPr>
            <a:r>
              <a:t>FiO₂ ≥36% or oxygen ≥4 L/min nasally</a:t>
            </a:r>
          </a:p>
        </p:txBody>
      </p:sp>
      <p:sp>
        <p:nvSpPr>
          <p:cNvPr id="17" name="TextBox 16"/>
          <p:cNvSpPr txBox="1"/>
          <p:nvPr/>
        </p:nvSpPr>
        <p:spPr>
          <a:xfrm>
            <a:off x="585216" y="3694176"/>
            <a:ext cx="457200" cy="356616"/>
          </a:xfrm>
          <a:prstGeom prst="rect">
            <a:avLst/>
          </a:prstGeom>
          <a:noFill/>
        </p:spPr>
        <p:txBody>
          <a:bodyPr wrap="square" lIns="0" rIns="0" tIns="0" bIns="0" anchor="t">
            <a:spAutoFit/>
          </a:bodyPr>
          <a:lstStyle/>
          <a:p>
            <a:pPr algn="l">
              <a:lnSpc>
                <a:spcPct val="106000"/>
              </a:lnSpc>
              <a:spcBef>
                <a:spcPts val="0"/>
              </a:spcBef>
              <a:spcAft>
                <a:spcPts val="0"/>
              </a:spcAft>
              <a:defRPr sz="2400" b="1" i="0">
                <a:solidFill>
                  <a:srgbClr val="1C6970"/>
                </a:solidFill>
                <a:latin typeface="Calibri"/>
              </a:defRPr>
            </a:pPr>
            <a:r>
              <a:t>2</a:t>
            </a:r>
          </a:p>
        </p:txBody>
      </p:sp>
      <p:sp>
        <p:nvSpPr>
          <p:cNvPr id="18" name="TextBox 17"/>
          <p:cNvSpPr txBox="1"/>
          <p:nvPr/>
        </p:nvSpPr>
        <p:spPr>
          <a:xfrm>
            <a:off x="1243584" y="3694176"/>
            <a:ext cx="10363199" cy="466344"/>
          </a:xfrm>
          <a:prstGeom prst="rect">
            <a:avLst/>
          </a:prstGeom>
          <a:noFill/>
        </p:spPr>
        <p:txBody>
          <a:bodyPr wrap="square" lIns="0" rIns="0" tIns="0" bIns="0" anchor="t">
            <a:spAutoFit/>
          </a:bodyPr>
          <a:lstStyle/>
          <a:p>
            <a:pPr algn="l">
              <a:lnSpc>
                <a:spcPct val="106000"/>
              </a:lnSpc>
              <a:spcBef>
                <a:spcPts val="0"/>
              </a:spcBef>
              <a:spcAft>
                <a:spcPts val="0"/>
              </a:spcAft>
              <a:defRPr sz="2500" b="0" i="0">
                <a:solidFill>
                  <a:srgbClr val="253438"/>
                </a:solidFill>
                <a:latin typeface="Calibri"/>
              </a:defRPr>
            </a:pPr>
            <a:r>
              <a:t>Ventilatory support &gt;8 hours/day</a:t>
            </a:r>
          </a:p>
        </p:txBody>
      </p:sp>
      <p:sp>
        <p:nvSpPr>
          <p:cNvPr id="19" name="TextBox 18"/>
          <p:cNvSpPr txBox="1"/>
          <p:nvPr/>
        </p:nvSpPr>
        <p:spPr>
          <a:xfrm>
            <a:off x="585216" y="4288536"/>
            <a:ext cx="457200" cy="356616"/>
          </a:xfrm>
          <a:prstGeom prst="rect">
            <a:avLst/>
          </a:prstGeom>
          <a:noFill/>
        </p:spPr>
        <p:txBody>
          <a:bodyPr wrap="square" lIns="0" rIns="0" tIns="0" bIns="0" anchor="t">
            <a:spAutoFit/>
          </a:bodyPr>
          <a:lstStyle/>
          <a:p>
            <a:pPr algn="l">
              <a:lnSpc>
                <a:spcPct val="106000"/>
              </a:lnSpc>
              <a:spcBef>
                <a:spcPts val="0"/>
              </a:spcBef>
              <a:spcAft>
                <a:spcPts val="0"/>
              </a:spcAft>
              <a:defRPr sz="2400" b="1" i="0">
                <a:solidFill>
                  <a:srgbClr val="1C6970"/>
                </a:solidFill>
                <a:latin typeface="Calibri"/>
              </a:defRPr>
            </a:pPr>
            <a:r>
              <a:t>3</a:t>
            </a:r>
          </a:p>
        </p:txBody>
      </p:sp>
      <p:sp>
        <p:nvSpPr>
          <p:cNvPr id="20" name="TextBox 19"/>
          <p:cNvSpPr txBox="1"/>
          <p:nvPr/>
        </p:nvSpPr>
        <p:spPr>
          <a:xfrm>
            <a:off x="1243584" y="4288536"/>
            <a:ext cx="10363199" cy="466344"/>
          </a:xfrm>
          <a:prstGeom prst="rect">
            <a:avLst/>
          </a:prstGeom>
          <a:noFill/>
        </p:spPr>
        <p:txBody>
          <a:bodyPr wrap="square" lIns="0" rIns="0" tIns="0" bIns="0" anchor="t">
            <a:spAutoFit/>
          </a:bodyPr>
          <a:lstStyle/>
          <a:p>
            <a:pPr algn="l">
              <a:lnSpc>
                <a:spcPct val="106000"/>
              </a:lnSpc>
              <a:spcBef>
                <a:spcPts val="0"/>
              </a:spcBef>
              <a:spcAft>
                <a:spcPts val="0"/>
              </a:spcAft>
              <a:defRPr sz="2500" b="0" i="0">
                <a:solidFill>
                  <a:srgbClr val="253438"/>
                </a:solidFill>
                <a:latin typeface="Calibri"/>
              </a:defRPr>
            </a:pPr>
            <a:r>
              <a:t>Alarm and battery need with life-threatening interruption risk</a:t>
            </a:r>
          </a:p>
        </p:txBody>
      </p:sp>
      <p:sp>
        <p:nvSpPr>
          <p:cNvPr id="21" name="TextBox 20"/>
          <p:cNvSpPr txBox="1"/>
          <p:nvPr/>
        </p:nvSpPr>
        <p:spPr>
          <a:xfrm>
            <a:off x="585216" y="4882896"/>
            <a:ext cx="457200" cy="356616"/>
          </a:xfrm>
          <a:prstGeom prst="rect">
            <a:avLst/>
          </a:prstGeom>
          <a:noFill/>
        </p:spPr>
        <p:txBody>
          <a:bodyPr wrap="square" lIns="0" rIns="0" tIns="0" bIns="0" anchor="t">
            <a:spAutoFit/>
          </a:bodyPr>
          <a:lstStyle/>
          <a:p>
            <a:pPr algn="l">
              <a:lnSpc>
                <a:spcPct val="106000"/>
              </a:lnSpc>
              <a:spcBef>
                <a:spcPts val="0"/>
              </a:spcBef>
              <a:spcAft>
                <a:spcPts val="0"/>
              </a:spcAft>
              <a:defRPr sz="2400" b="1" i="0">
                <a:solidFill>
                  <a:srgbClr val="1C6970"/>
                </a:solidFill>
                <a:latin typeface="Calibri"/>
              </a:defRPr>
            </a:pPr>
            <a:r>
              <a:t>4</a:t>
            </a:r>
          </a:p>
        </p:txBody>
      </p:sp>
      <p:sp>
        <p:nvSpPr>
          <p:cNvPr id="22" name="TextBox 21"/>
          <p:cNvSpPr txBox="1"/>
          <p:nvPr/>
        </p:nvSpPr>
        <p:spPr>
          <a:xfrm>
            <a:off x="1243584" y="4882896"/>
            <a:ext cx="10363199" cy="466344"/>
          </a:xfrm>
          <a:prstGeom prst="rect">
            <a:avLst/>
          </a:prstGeom>
          <a:noFill/>
        </p:spPr>
        <p:txBody>
          <a:bodyPr wrap="square" lIns="0" rIns="0" tIns="0" bIns="0" anchor="t">
            <a:spAutoFit/>
          </a:bodyPr>
          <a:lstStyle/>
          <a:p>
            <a:pPr algn="l">
              <a:lnSpc>
                <a:spcPct val="106000"/>
              </a:lnSpc>
              <a:spcBef>
                <a:spcPts val="0"/>
              </a:spcBef>
              <a:spcAft>
                <a:spcPts val="0"/>
              </a:spcAft>
              <a:defRPr sz="2500" b="0" i="0">
                <a:solidFill>
                  <a:srgbClr val="253438"/>
                </a:solidFill>
                <a:latin typeface="Calibri"/>
              </a:defRPr>
            </a:pPr>
            <a:r>
              <a:t>Expected RAD inadequacy because needs exceed its capabilities</a:t>
            </a:r>
          </a:p>
        </p:txBody>
      </p:sp>
      <p:sp>
        <p:nvSpPr>
          <p:cNvPr id="23" name="Rectangle 22"/>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100" b="0" i="0">
                <a:solidFill>
                  <a:srgbClr val="172326"/>
                </a:solidFill>
                <a:latin typeface="Calibri"/>
              </a:defRPr>
            </a:pPr>
            <a:r>
              <a:t>A separate discharge route requires recent ventilator use and needs beyond a RAD.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IV · CURRENT LANDSCAPE</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Continued coverage and documentation</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CMS NCD 240.9 [R16] · CMS NCD 240.9 FAQ [R46] · R22</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S23</a:t>
            </a:r>
          </a:p>
        </p:txBody>
      </p:sp>
      <p:sp>
        <p:nvSpPr>
          <p:cNvPr id="12" name="TextBox 11"/>
          <p:cNvSpPr txBox="1"/>
          <p:nvPr/>
        </p:nvSpPr>
        <p:spPr>
          <a:xfrm>
            <a:off x="585216" y="4654296"/>
            <a:ext cx="11021567" cy="502920"/>
          </a:xfrm>
          <a:prstGeom prst="rect">
            <a:avLst/>
          </a:prstGeom>
          <a:noFill/>
        </p:spPr>
        <p:txBody>
          <a:bodyPr wrap="square" lIns="0" rIns="0" tIns="0" bIns="0" anchor="t">
            <a:spAutoFit/>
          </a:bodyPr>
          <a:lstStyle/>
          <a:p>
            <a:pPr algn="l">
              <a:lnSpc>
                <a:spcPct val="106000"/>
              </a:lnSpc>
              <a:spcBef>
                <a:spcPts val="0"/>
              </a:spcBef>
              <a:spcAft>
                <a:spcPts val="0"/>
              </a:spcAft>
              <a:defRPr sz="2900" b="1" i="0">
                <a:solidFill>
                  <a:srgbClr val="1C6970"/>
                </a:solidFill>
                <a:latin typeface="Calibri"/>
              </a:defRPr>
            </a:pPr>
            <a:r>
              <a:t>Usage: ≥4 hours per 24 hours on ≥70% of days</a:t>
            </a:r>
          </a:p>
        </p:txBody>
      </p:sp>
      <p:sp>
        <p:nvSpPr>
          <p:cNvPr id="13" name="TextBox 12"/>
          <p:cNvSpPr txBox="1"/>
          <p:nvPr/>
        </p:nvSpPr>
        <p:spPr>
          <a:xfrm>
            <a:off x="585216" y="5202936"/>
            <a:ext cx="11021567" cy="274320"/>
          </a:xfrm>
          <a:prstGeom prst="rect">
            <a:avLst/>
          </a:prstGeom>
          <a:noFill/>
        </p:spPr>
        <p:txBody>
          <a:bodyPr wrap="square" lIns="0" rIns="0" tIns="0" bIns="0" anchor="t">
            <a:spAutoFit/>
          </a:bodyPr>
          <a:lstStyle/>
          <a:p>
            <a:pPr algn="l">
              <a:lnSpc>
                <a:spcPct val="106000"/>
              </a:lnSpc>
              <a:spcBef>
                <a:spcPts val="0"/>
              </a:spcBef>
              <a:spcAft>
                <a:spcPts val="0"/>
              </a:spcAft>
              <a:defRPr sz="1700" b="0" i="0">
                <a:solidFill>
                  <a:srgbClr val="596A70"/>
                </a:solidFill>
                <a:latin typeface="Calibri"/>
              </a:defRPr>
            </a:pPr>
            <a:r>
              <a:t>At first evaluation: qualifying 30-day period. Later: each paid rental month.</a:t>
            </a:r>
          </a:p>
        </p:txBody>
      </p:sp>
      <p:sp>
        <p:nvSpPr>
          <p:cNvPr id="14" name="Rectangle 13"/>
          <p:cNvSpPr/>
          <p:nvPr/>
        </p:nvSpPr>
        <p:spPr>
          <a:xfrm>
            <a:off x="585216" y="1773936"/>
            <a:ext cx="11021567" cy="475488"/>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13232" y="1847088"/>
            <a:ext cx="2651760" cy="365760"/>
          </a:xfrm>
          <a:prstGeom prst="rect">
            <a:avLst/>
          </a:prstGeom>
          <a:noFill/>
        </p:spPr>
        <p:txBody>
          <a:bodyPr wrap="square" lIns="0" rIns="0" tIns="0" bIns="0" anchor="t">
            <a:spAutoFit/>
          </a:bodyPr>
          <a:lstStyle/>
          <a:p>
            <a:pPr algn="l">
              <a:lnSpc>
                <a:spcPct val="106000"/>
              </a:lnSpc>
              <a:spcBef>
                <a:spcPts val="0"/>
              </a:spcBef>
              <a:spcAft>
                <a:spcPts val="0"/>
              </a:spcAft>
              <a:defRPr sz="2100" b="1" i="0">
                <a:solidFill>
                  <a:srgbClr val="172326"/>
                </a:solidFill>
                <a:latin typeface="Calibri"/>
              </a:defRPr>
            </a:pPr>
            <a:r>
              <a:t>COPD pathway</a:t>
            </a:r>
          </a:p>
        </p:txBody>
      </p:sp>
      <p:sp>
        <p:nvSpPr>
          <p:cNvPr id="16" name="TextBox 15"/>
          <p:cNvSpPr txBox="1"/>
          <p:nvPr/>
        </p:nvSpPr>
        <p:spPr>
          <a:xfrm>
            <a:off x="3621024" y="1847088"/>
            <a:ext cx="3712463" cy="365760"/>
          </a:xfrm>
          <a:prstGeom prst="rect">
            <a:avLst/>
          </a:prstGeom>
          <a:noFill/>
        </p:spPr>
        <p:txBody>
          <a:bodyPr wrap="square" lIns="0" rIns="0" tIns="0" bIns="0" anchor="t">
            <a:spAutoFit/>
          </a:bodyPr>
          <a:lstStyle/>
          <a:p>
            <a:pPr algn="l">
              <a:lnSpc>
                <a:spcPct val="106000"/>
              </a:lnSpc>
              <a:spcBef>
                <a:spcPts val="0"/>
              </a:spcBef>
              <a:spcAft>
                <a:spcPts val="0"/>
              </a:spcAft>
              <a:defRPr sz="2100" b="1" i="0">
                <a:solidFill>
                  <a:srgbClr val="172326"/>
                </a:solidFill>
                <a:latin typeface="Calibri"/>
              </a:defRPr>
            </a:pPr>
            <a:r>
              <a:t>By 6 months</a:t>
            </a:r>
          </a:p>
        </p:txBody>
      </p:sp>
      <p:sp>
        <p:nvSpPr>
          <p:cNvPr id="17" name="TextBox 16"/>
          <p:cNvSpPr txBox="1"/>
          <p:nvPr/>
        </p:nvSpPr>
        <p:spPr>
          <a:xfrm>
            <a:off x="7589520" y="1847088"/>
            <a:ext cx="3889217" cy="365760"/>
          </a:xfrm>
          <a:prstGeom prst="rect">
            <a:avLst/>
          </a:prstGeom>
          <a:noFill/>
        </p:spPr>
        <p:txBody>
          <a:bodyPr wrap="square" lIns="0" rIns="0" tIns="0" bIns="0" anchor="t">
            <a:spAutoFit/>
          </a:bodyPr>
          <a:lstStyle/>
          <a:p>
            <a:pPr algn="l">
              <a:lnSpc>
                <a:spcPct val="106000"/>
              </a:lnSpc>
              <a:spcBef>
                <a:spcPts val="0"/>
              </a:spcBef>
              <a:spcAft>
                <a:spcPts val="0"/>
              </a:spcAft>
              <a:defRPr sz="2100" b="1" i="0">
                <a:solidFill>
                  <a:srgbClr val="172326"/>
                </a:solidFill>
                <a:latin typeface="Calibri"/>
              </a:defRPr>
            </a:pPr>
            <a:r>
              <a:t>Months 7–12</a:t>
            </a:r>
          </a:p>
        </p:txBody>
      </p:sp>
      <p:cxnSp>
        <p:nvCxnSpPr>
          <p:cNvPr id="18" name="Connector 17"/>
          <p:cNvCxnSpPr/>
          <p:nvPr/>
        </p:nvCxnSpPr>
        <p:spPr>
          <a:xfrm>
            <a:off x="585216" y="2249424"/>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713232" y="2269540"/>
            <a:ext cx="2651760" cy="1001268"/>
          </a:xfrm>
          <a:prstGeom prst="rect">
            <a:avLst/>
          </a:prstGeom>
          <a:noFill/>
        </p:spPr>
        <p:txBody>
          <a:bodyPr wrap="square" lIns="0" rIns="0" tIns="0" bIns="0" anchor="ctr">
            <a:spAutoFit/>
          </a:bodyPr>
          <a:lstStyle/>
          <a:p>
            <a:pPr algn="l">
              <a:lnSpc>
                <a:spcPct val="106000"/>
              </a:lnSpc>
              <a:spcBef>
                <a:spcPts val="0"/>
              </a:spcBef>
              <a:spcAft>
                <a:spcPts val="0"/>
              </a:spcAft>
              <a:defRPr sz="2500" b="1" i="0">
                <a:solidFill>
                  <a:srgbClr val="172326"/>
                </a:solidFill>
                <a:latin typeface="Calibri"/>
              </a:defRPr>
            </a:pPr>
            <a:r>
              <a:t>RAD</a:t>
            </a:r>
          </a:p>
        </p:txBody>
      </p:sp>
      <p:sp>
        <p:nvSpPr>
          <p:cNvPr id="20" name="TextBox 19"/>
          <p:cNvSpPr txBox="1"/>
          <p:nvPr/>
        </p:nvSpPr>
        <p:spPr>
          <a:xfrm>
            <a:off x="3621024" y="2269540"/>
            <a:ext cx="3712463" cy="1001268"/>
          </a:xfrm>
          <a:prstGeom prst="rect">
            <a:avLst/>
          </a:prstGeom>
          <a:noFill/>
        </p:spPr>
        <p:txBody>
          <a:bodyPr wrap="square" lIns="0" rIns="0" tIns="0" bIns="0" anchor="ctr">
            <a:spAutoFit/>
          </a:bodyPr>
          <a:lstStyle/>
          <a:p>
            <a:pPr algn="l">
              <a:lnSpc>
                <a:spcPct val="106000"/>
              </a:lnSpc>
              <a:spcBef>
                <a:spcPts val="0"/>
              </a:spcBef>
              <a:spcAft>
                <a:spcPts val="0"/>
              </a:spcAft>
              <a:defRPr sz="2500" b="0" i="0">
                <a:solidFill>
                  <a:srgbClr val="253438"/>
                </a:solidFill>
                <a:latin typeface="Calibri"/>
              </a:defRPr>
            </a:pPr>
            <a:r>
              <a:t>Usage + one listed</a:t>
            </a:r>
          </a:p>
          <a:p>
            <a:pPr algn="l">
              <a:lnSpc>
                <a:spcPct val="106000"/>
              </a:lnSpc>
              <a:spcBef>
                <a:spcPts val="0"/>
              </a:spcBef>
              <a:spcAft>
                <a:spcPts val="0"/>
              </a:spcAft>
              <a:defRPr sz="2500" b="0" i="0">
                <a:solidFill>
                  <a:srgbClr val="253438"/>
                </a:solidFill>
                <a:latin typeface="Calibri"/>
              </a:defRPr>
            </a:pPr>
            <a:r>
              <a:t>clinical outcome</a:t>
            </a:r>
          </a:p>
        </p:txBody>
      </p:sp>
      <p:sp>
        <p:nvSpPr>
          <p:cNvPr id="21" name="TextBox 20"/>
          <p:cNvSpPr txBox="1"/>
          <p:nvPr/>
        </p:nvSpPr>
        <p:spPr>
          <a:xfrm>
            <a:off x="7589520" y="2269540"/>
            <a:ext cx="3889217" cy="1001268"/>
          </a:xfrm>
          <a:prstGeom prst="rect">
            <a:avLst/>
          </a:prstGeom>
          <a:noFill/>
        </p:spPr>
        <p:txBody>
          <a:bodyPr wrap="square" lIns="0" rIns="0" tIns="0" bIns="0" anchor="ctr">
            <a:spAutoFit/>
          </a:bodyPr>
          <a:lstStyle/>
          <a:p>
            <a:pPr algn="l">
              <a:lnSpc>
                <a:spcPct val="106000"/>
              </a:lnSpc>
              <a:spcBef>
                <a:spcPts val="0"/>
              </a:spcBef>
              <a:spcAft>
                <a:spcPts val="0"/>
              </a:spcAft>
              <a:defRPr sz="2500" b="0" i="0">
                <a:solidFill>
                  <a:srgbClr val="253438"/>
                </a:solidFill>
                <a:latin typeface="Calibri"/>
              </a:defRPr>
            </a:pPr>
            <a:r>
              <a:t>Usage in each</a:t>
            </a:r>
          </a:p>
          <a:p>
            <a:pPr algn="l">
              <a:lnSpc>
                <a:spcPct val="106000"/>
              </a:lnSpc>
              <a:spcBef>
                <a:spcPts val="0"/>
              </a:spcBef>
              <a:spcAft>
                <a:spcPts val="0"/>
              </a:spcAft>
              <a:defRPr sz="2500" b="0" i="0">
                <a:solidFill>
                  <a:srgbClr val="253438"/>
                </a:solidFill>
                <a:latin typeface="Calibri"/>
              </a:defRPr>
            </a:pPr>
            <a:r>
              <a:t>paid rental month</a:t>
            </a:r>
          </a:p>
        </p:txBody>
      </p:sp>
      <p:sp>
        <p:nvSpPr>
          <p:cNvPr id="22" name="Rectangle 21"/>
          <p:cNvSpPr/>
          <p:nvPr/>
        </p:nvSpPr>
        <p:spPr>
          <a:xfrm>
            <a:off x="585216" y="3291839"/>
            <a:ext cx="11021567" cy="1042415"/>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3" name="Connector 22"/>
          <p:cNvCxnSpPr/>
          <p:nvPr/>
        </p:nvCxnSpPr>
        <p:spPr>
          <a:xfrm>
            <a:off x="585216" y="3291839"/>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713232" y="3311956"/>
            <a:ext cx="2651760" cy="1001268"/>
          </a:xfrm>
          <a:prstGeom prst="rect">
            <a:avLst/>
          </a:prstGeom>
          <a:noFill/>
        </p:spPr>
        <p:txBody>
          <a:bodyPr wrap="square" lIns="0" rIns="0" tIns="0" bIns="0" anchor="ctr">
            <a:spAutoFit/>
          </a:bodyPr>
          <a:lstStyle/>
          <a:p>
            <a:pPr algn="l">
              <a:lnSpc>
                <a:spcPct val="106000"/>
              </a:lnSpc>
              <a:spcBef>
                <a:spcPts val="0"/>
              </a:spcBef>
              <a:spcAft>
                <a:spcPts val="0"/>
              </a:spcAft>
              <a:defRPr sz="2500" b="1" i="0">
                <a:solidFill>
                  <a:srgbClr val="172326"/>
                </a:solidFill>
                <a:latin typeface="Calibri"/>
              </a:defRPr>
            </a:pPr>
            <a:r>
              <a:t>HMV</a:t>
            </a:r>
          </a:p>
        </p:txBody>
      </p:sp>
      <p:sp>
        <p:nvSpPr>
          <p:cNvPr id="25" name="TextBox 24"/>
          <p:cNvSpPr txBox="1"/>
          <p:nvPr/>
        </p:nvSpPr>
        <p:spPr>
          <a:xfrm>
            <a:off x="3621024" y="3311956"/>
            <a:ext cx="3712463" cy="1001268"/>
          </a:xfrm>
          <a:prstGeom prst="rect">
            <a:avLst/>
          </a:prstGeom>
          <a:noFill/>
        </p:spPr>
        <p:txBody>
          <a:bodyPr wrap="square" lIns="0" rIns="0" tIns="0" bIns="0" anchor="ctr">
            <a:spAutoFit/>
          </a:bodyPr>
          <a:lstStyle/>
          <a:p>
            <a:pPr algn="l">
              <a:lnSpc>
                <a:spcPct val="106000"/>
              </a:lnSpc>
              <a:spcBef>
                <a:spcPts val="0"/>
              </a:spcBef>
              <a:spcAft>
                <a:spcPts val="0"/>
              </a:spcAft>
              <a:defRPr sz="2500" b="0" i="0">
                <a:solidFill>
                  <a:srgbClr val="253438"/>
                </a:solidFill>
                <a:latin typeface="Calibri"/>
              </a:defRPr>
            </a:pPr>
            <a:r>
              <a:t>Usage criteria</a:t>
            </a:r>
          </a:p>
        </p:txBody>
      </p:sp>
      <p:sp>
        <p:nvSpPr>
          <p:cNvPr id="26" name="TextBox 25"/>
          <p:cNvSpPr txBox="1"/>
          <p:nvPr/>
        </p:nvSpPr>
        <p:spPr>
          <a:xfrm>
            <a:off x="7589520" y="3311956"/>
            <a:ext cx="3889217" cy="1001268"/>
          </a:xfrm>
          <a:prstGeom prst="rect">
            <a:avLst/>
          </a:prstGeom>
          <a:noFill/>
        </p:spPr>
        <p:txBody>
          <a:bodyPr wrap="square" lIns="0" rIns="0" tIns="0" bIns="0" anchor="ctr">
            <a:spAutoFit/>
          </a:bodyPr>
          <a:lstStyle/>
          <a:p>
            <a:pPr algn="l">
              <a:lnSpc>
                <a:spcPct val="106000"/>
              </a:lnSpc>
              <a:spcBef>
                <a:spcPts val="0"/>
              </a:spcBef>
              <a:spcAft>
                <a:spcPts val="0"/>
              </a:spcAft>
              <a:defRPr sz="2500" b="0" i="0">
                <a:solidFill>
                  <a:srgbClr val="253438"/>
                </a:solidFill>
                <a:latin typeface="Calibri"/>
              </a:defRPr>
            </a:pPr>
            <a:r>
              <a:t>Usage in each</a:t>
            </a:r>
          </a:p>
          <a:p>
            <a:pPr algn="l">
              <a:lnSpc>
                <a:spcPct val="106000"/>
              </a:lnSpc>
              <a:spcBef>
                <a:spcPts val="0"/>
              </a:spcBef>
              <a:spcAft>
                <a:spcPts val="0"/>
              </a:spcAft>
              <a:defRPr sz="2500" b="0" i="0">
                <a:solidFill>
                  <a:srgbClr val="253438"/>
                </a:solidFill>
                <a:latin typeface="Calibri"/>
              </a:defRPr>
            </a:pPr>
            <a:r>
              <a:t>paid rental month</a:t>
            </a:r>
          </a:p>
        </p:txBody>
      </p:sp>
      <p:cxnSp>
        <p:nvCxnSpPr>
          <p:cNvPr id="27" name="Connector 26"/>
          <p:cNvCxnSpPr/>
          <p:nvPr/>
        </p:nvCxnSpPr>
        <p:spPr>
          <a:xfrm>
            <a:off x="585216" y="4334256"/>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28" name="Rectangle 27"/>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1900" b="0" i="0">
                <a:solidFill>
                  <a:srgbClr val="172326"/>
                </a:solidFill>
                <a:latin typeface="Calibri"/>
              </a:defRPr>
            </a:pPr>
            <a:r>
              <a:t>Forthcoming October 28, 2026: E0466 / E0467 / E0468 face-to-face and prior written-order</a:t>
            </a:r>
          </a:p>
          <a:p>
            <a:pPr algn="l">
              <a:lnSpc>
                <a:spcPct val="106000"/>
              </a:lnSpc>
              <a:spcBef>
                <a:spcPts val="0"/>
              </a:spcBef>
              <a:spcAft>
                <a:spcPts val="0"/>
              </a:spcAft>
              <a:defRPr sz="1900" b="0" i="0">
                <a:solidFill>
                  <a:srgbClr val="172326"/>
                </a:solidFill>
                <a:latin typeface="Calibri"/>
              </a:defRPr>
            </a:pPr>
            <a:r>
              <a:t>requirements.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IV · CURRENT LANDSCAPE</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Non-COPD coverage remains diagnosis-specific</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CMS LCD L33800 [R17] · CMS LCD L33718 [R18] · R41, R44</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S24</a:t>
            </a:r>
          </a:p>
        </p:txBody>
      </p:sp>
      <p:sp>
        <p:nvSpPr>
          <p:cNvPr id="12" name="Rectangle 11"/>
          <p:cNvSpPr/>
          <p:nvPr/>
        </p:nvSpPr>
        <p:spPr>
          <a:xfrm>
            <a:off x="585216" y="1773936"/>
            <a:ext cx="11021567" cy="475488"/>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13232" y="1847088"/>
            <a:ext cx="3538728" cy="365760"/>
          </a:xfrm>
          <a:prstGeom prst="rect">
            <a:avLst/>
          </a:prstGeom>
          <a:noFill/>
        </p:spPr>
        <p:txBody>
          <a:bodyPr wrap="square" lIns="0" rIns="0" tIns="0" bIns="0" anchor="t">
            <a:spAutoFit/>
          </a:bodyPr>
          <a:lstStyle/>
          <a:p>
            <a:pPr algn="l">
              <a:lnSpc>
                <a:spcPct val="106000"/>
              </a:lnSpc>
              <a:spcBef>
                <a:spcPts val="0"/>
              </a:spcBef>
              <a:spcAft>
                <a:spcPts val="0"/>
              </a:spcAft>
              <a:defRPr sz="2100" b="1" i="0">
                <a:solidFill>
                  <a:srgbClr val="172326"/>
                </a:solidFill>
                <a:latin typeface="Calibri"/>
              </a:defRPr>
            </a:pPr>
            <a:r>
              <a:t>Indication</a:t>
            </a:r>
          </a:p>
        </p:txBody>
      </p:sp>
      <p:sp>
        <p:nvSpPr>
          <p:cNvPr id="14" name="TextBox 13"/>
          <p:cNvSpPr txBox="1"/>
          <p:nvPr/>
        </p:nvSpPr>
        <p:spPr>
          <a:xfrm>
            <a:off x="4507992" y="1847088"/>
            <a:ext cx="2642615" cy="365760"/>
          </a:xfrm>
          <a:prstGeom prst="rect">
            <a:avLst/>
          </a:prstGeom>
          <a:noFill/>
        </p:spPr>
        <p:txBody>
          <a:bodyPr wrap="square" lIns="0" rIns="0" tIns="0" bIns="0" anchor="t">
            <a:spAutoFit/>
          </a:bodyPr>
          <a:lstStyle/>
          <a:p>
            <a:pPr algn="l">
              <a:lnSpc>
                <a:spcPct val="106000"/>
              </a:lnSpc>
              <a:spcBef>
                <a:spcPts val="0"/>
              </a:spcBef>
              <a:spcAft>
                <a:spcPts val="0"/>
              </a:spcAft>
              <a:defRPr sz="2100" b="1" i="0">
                <a:solidFill>
                  <a:srgbClr val="172326"/>
                </a:solidFill>
                <a:latin typeface="Calibri"/>
              </a:defRPr>
            </a:pPr>
            <a:r>
              <a:t>Principal policy</a:t>
            </a:r>
          </a:p>
        </p:txBody>
      </p:sp>
      <p:sp>
        <p:nvSpPr>
          <p:cNvPr id="15" name="TextBox 14"/>
          <p:cNvSpPr txBox="1"/>
          <p:nvPr/>
        </p:nvSpPr>
        <p:spPr>
          <a:xfrm>
            <a:off x="7406640" y="1847088"/>
            <a:ext cx="4072097" cy="365760"/>
          </a:xfrm>
          <a:prstGeom prst="rect">
            <a:avLst/>
          </a:prstGeom>
          <a:noFill/>
        </p:spPr>
        <p:txBody>
          <a:bodyPr wrap="square" lIns="0" rIns="0" tIns="0" bIns="0" anchor="t">
            <a:spAutoFit/>
          </a:bodyPr>
          <a:lstStyle/>
          <a:p>
            <a:pPr algn="l">
              <a:lnSpc>
                <a:spcPct val="106000"/>
              </a:lnSpc>
              <a:spcBef>
                <a:spcPts val="0"/>
              </a:spcBef>
              <a:spcAft>
                <a:spcPts val="0"/>
              </a:spcAft>
              <a:defRPr sz="2100" b="1" i="0">
                <a:solidFill>
                  <a:srgbClr val="172326"/>
                </a:solidFill>
                <a:latin typeface="Calibri"/>
              </a:defRPr>
            </a:pPr>
            <a:r>
              <a:t>Distinctive requirement</a:t>
            </a:r>
          </a:p>
        </p:txBody>
      </p:sp>
      <p:cxnSp>
        <p:nvCxnSpPr>
          <p:cNvPr id="16" name="Connector 15"/>
          <p:cNvCxnSpPr/>
          <p:nvPr/>
        </p:nvCxnSpPr>
        <p:spPr>
          <a:xfrm>
            <a:off x="585216" y="2249424"/>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713232" y="2269540"/>
            <a:ext cx="3538728" cy="722375"/>
          </a:xfrm>
          <a:prstGeom prst="rect">
            <a:avLst/>
          </a:prstGeom>
          <a:noFill/>
        </p:spPr>
        <p:txBody>
          <a:bodyPr wrap="square" lIns="0" rIns="0" tIns="0" bIns="0" anchor="ctr">
            <a:spAutoFit/>
          </a:bodyPr>
          <a:lstStyle/>
          <a:p>
            <a:pPr algn="l">
              <a:lnSpc>
                <a:spcPct val="106000"/>
              </a:lnSpc>
              <a:spcBef>
                <a:spcPts val="0"/>
              </a:spcBef>
              <a:spcAft>
                <a:spcPts val="0"/>
              </a:spcAft>
              <a:defRPr sz="2250" b="1" i="0">
                <a:solidFill>
                  <a:srgbClr val="172326"/>
                </a:solidFill>
                <a:latin typeface="Calibri"/>
              </a:defRPr>
            </a:pPr>
            <a:r>
              <a:t>OSA</a:t>
            </a:r>
          </a:p>
        </p:txBody>
      </p:sp>
      <p:sp>
        <p:nvSpPr>
          <p:cNvPr id="18" name="TextBox 17"/>
          <p:cNvSpPr txBox="1"/>
          <p:nvPr/>
        </p:nvSpPr>
        <p:spPr>
          <a:xfrm>
            <a:off x="4507992" y="2269540"/>
            <a:ext cx="2642615" cy="722375"/>
          </a:xfrm>
          <a:prstGeom prst="rect">
            <a:avLst/>
          </a:prstGeom>
          <a:noFill/>
        </p:spPr>
        <p:txBody>
          <a:bodyPr wrap="square" lIns="0" rIns="0" tIns="0" bIns="0" anchor="ctr">
            <a:spAutoFit/>
          </a:bodyPr>
          <a:lstStyle/>
          <a:p>
            <a:pPr algn="l">
              <a:lnSpc>
                <a:spcPct val="106000"/>
              </a:lnSpc>
              <a:spcBef>
                <a:spcPts val="0"/>
              </a:spcBef>
              <a:spcAft>
                <a:spcPts val="0"/>
              </a:spcAft>
              <a:defRPr sz="2250" b="0" i="0">
                <a:solidFill>
                  <a:srgbClr val="253438"/>
                </a:solidFill>
                <a:latin typeface="Calibri"/>
              </a:defRPr>
            </a:pPr>
            <a:r>
              <a:t>NCD 240.4 / L33718</a:t>
            </a:r>
          </a:p>
        </p:txBody>
      </p:sp>
      <p:sp>
        <p:nvSpPr>
          <p:cNvPr id="19" name="TextBox 18"/>
          <p:cNvSpPr txBox="1"/>
          <p:nvPr/>
        </p:nvSpPr>
        <p:spPr>
          <a:xfrm>
            <a:off x="7406640" y="2269540"/>
            <a:ext cx="4072097" cy="722375"/>
          </a:xfrm>
          <a:prstGeom prst="rect">
            <a:avLst/>
          </a:prstGeom>
          <a:noFill/>
        </p:spPr>
        <p:txBody>
          <a:bodyPr wrap="square" lIns="0" rIns="0" tIns="0" bIns="0" anchor="ctr">
            <a:spAutoFit/>
          </a:bodyPr>
          <a:lstStyle/>
          <a:p>
            <a:pPr algn="l">
              <a:lnSpc>
                <a:spcPct val="106000"/>
              </a:lnSpc>
              <a:spcBef>
                <a:spcPts val="0"/>
              </a:spcBef>
              <a:spcAft>
                <a:spcPts val="0"/>
              </a:spcAft>
              <a:defRPr sz="2250" b="0" i="0">
                <a:solidFill>
                  <a:srgbClr val="253438"/>
                </a:solidFill>
                <a:latin typeface="Calibri"/>
              </a:defRPr>
            </a:pPr>
            <a:r>
              <a:t>Qualifying sleep study</a:t>
            </a:r>
          </a:p>
        </p:txBody>
      </p:sp>
      <p:sp>
        <p:nvSpPr>
          <p:cNvPr id="20" name="Rectangle 19"/>
          <p:cNvSpPr/>
          <p:nvPr/>
        </p:nvSpPr>
        <p:spPr>
          <a:xfrm>
            <a:off x="585216" y="3012948"/>
            <a:ext cx="11021567" cy="763524"/>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a:off x="585216" y="3012948"/>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713232" y="3033064"/>
            <a:ext cx="3538728" cy="722375"/>
          </a:xfrm>
          <a:prstGeom prst="rect">
            <a:avLst/>
          </a:prstGeom>
          <a:noFill/>
        </p:spPr>
        <p:txBody>
          <a:bodyPr wrap="square" lIns="0" rIns="0" tIns="0" bIns="0" anchor="ctr">
            <a:spAutoFit/>
          </a:bodyPr>
          <a:lstStyle/>
          <a:p>
            <a:pPr algn="l">
              <a:lnSpc>
                <a:spcPct val="106000"/>
              </a:lnSpc>
              <a:spcBef>
                <a:spcPts val="0"/>
              </a:spcBef>
              <a:spcAft>
                <a:spcPts val="0"/>
              </a:spcAft>
              <a:defRPr sz="2250" b="1" i="0">
                <a:solidFill>
                  <a:srgbClr val="172326"/>
                </a:solidFill>
                <a:latin typeface="Calibri"/>
              </a:defRPr>
            </a:pPr>
            <a:r>
              <a:t>NMD / thoracic restriction</a:t>
            </a:r>
          </a:p>
        </p:txBody>
      </p:sp>
      <p:sp>
        <p:nvSpPr>
          <p:cNvPr id="23" name="TextBox 22"/>
          <p:cNvSpPr txBox="1"/>
          <p:nvPr/>
        </p:nvSpPr>
        <p:spPr>
          <a:xfrm>
            <a:off x="4507992" y="3033064"/>
            <a:ext cx="2642615" cy="722375"/>
          </a:xfrm>
          <a:prstGeom prst="rect">
            <a:avLst/>
          </a:prstGeom>
          <a:noFill/>
        </p:spPr>
        <p:txBody>
          <a:bodyPr wrap="square" lIns="0" rIns="0" tIns="0" bIns="0" anchor="ctr">
            <a:spAutoFit/>
          </a:bodyPr>
          <a:lstStyle/>
          <a:p>
            <a:pPr algn="l">
              <a:lnSpc>
                <a:spcPct val="106000"/>
              </a:lnSpc>
              <a:spcBef>
                <a:spcPts val="0"/>
              </a:spcBef>
              <a:spcAft>
                <a:spcPts val="0"/>
              </a:spcAft>
              <a:defRPr sz="2250" b="0" i="0">
                <a:solidFill>
                  <a:srgbClr val="253438"/>
                </a:solidFill>
                <a:latin typeface="Calibri"/>
              </a:defRPr>
            </a:pPr>
            <a:r>
              <a:t>L33800 for RAD</a:t>
            </a:r>
          </a:p>
        </p:txBody>
      </p:sp>
      <p:sp>
        <p:nvSpPr>
          <p:cNvPr id="24" name="TextBox 23"/>
          <p:cNvSpPr txBox="1"/>
          <p:nvPr/>
        </p:nvSpPr>
        <p:spPr>
          <a:xfrm>
            <a:off x="7406640" y="3033064"/>
            <a:ext cx="4072097" cy="722375"/>
          </a:xfrm>
          <a:prstGeom prst="rect">
            <a:avLst/>
          </a:prstGeom>
          <a:noFill/>
        </p:spPr>
        <p:txBody>
          <a:bodyPr wrap="square" lIns="0" rIns="0" tIns="0" bIns="0" anchor="ctr">
            <a:spAutoFit/>
          </a:bodyPr>
          <a:lstStyle/>
          <a:p>
            <a:pPr algn="l">
              <a:lnSpc>
                <a:spcPct val="106000"/>
              </a:lnSpc>
              <a:spcBef>
                <a:spcPts val="0"/>
              </a:spcBef>
              <a:spcAft>
                <a:spcPts val="0"/>
              </a:spcAft>
              <a:defRPr sz="2250" b="0" i="0">
                <a:solidFill>
                  <a:srgbClr val="253438"/>
                </a:solidFill>
                <a:latin typeface="Calibri"/>
              </a:defRPr>
            </a:pPr>
            <a:r>
              <a:t>Gas exchange OR NMD</a:t>
            </a:r>
          </a:p>
          <a:p>
            <a:pPr algn="l">
              <a:lnSpc>
                <a:spcPct val="106000"/>
              </a:lnSpc>
              <a:spcBef>
                <a:spcPts val="0"/>
              </a:spcBef>
              <a:spcAft>
                <a:spcPts val="0"/>
              </a:spcAft>
              <a:defRPr sz="2250" b="0" i="0">
                <a:solidFill>
                  <a:srgbClr val="253438"/>
                </a:solidFill>
                <a:latin typeface="Calibri"/>
              </a:defRPr>
            </a:pPr>
            <a:r>
              <a:t>strength / FVC criteria</a:t>
            </a:r>
          </a:p>
        </p:txBody>
      </p:sp>
      <p:cxnSp>
        <p:nvCxnSpPr>
          <p:cNvPr id="25" name="Connector 24"/>
          <p:cNvCxnSpPr/>
          <p:nvPr/>
        </p:nvCxnSpPr>
        <p:spPr>
          <a:xfrm>
            <a:off x="585216" y="3776472"/>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713232" y="3796588"/>
            <a:ext cx="3538728" cy="722375"/>
          </a:xfrm>
          <a:prstGeom prst="rect">
            <a:avLst/>
          </a:prstGeom>
          <a:noFill/>
        </p:spPr>
        <p:txBody>
          <a:bodyPr wrap="square" lIns="0" rIns="0" tIns="0" bIns="0" anchor="ctr">
            <a:spAutoFit/>
          </a:bodyPr>
          <a:lstStyle/>
          <a:p>
            <a:pPr algn="l">
              <a:lnSpc>
                <a:spcPct val="106000"/>
              </a:lnSpc>
              <a:spcBef>
                <a:spcPts val="0"/>
              </a:spcBef>
              <a:spcAft>
                <a:spcPts val="0"/>
              </a:spcAft>
              <a:defRPr sz="2250" b="1" i="0">
                <a:solidFill>
                  <a:srgbClr val="172326"/>
                </a:solidFill>
                <a:latin typeface="Calibri"/>
              </a:defRPr>
            </a:pPr>
            <a:r>
              <a:t>Hypoventilation syndrome</a:t>
            </a:r>
          </a:p>
        </p:txBody>
      </p:sp>
      <p:sp>
        <p:nvSpPr>
          <p:cNvPr id="27" name="TextBox 26"/>
          <p:cNvSpPr txBox="1"/>
          <p:nvPr/>
        </p:nvSpPr>
        <p:spPr>
          <a:xfrm>
            <a:off x="4507992" y="3796588"/>
            <a:ext cx="2642615" cy="722375"/>
          </a:xfrm>
          <a:prstGeom prst="rect">
            <a:avLst/>
          </a:prstGeom>
          <a:noFill/>
        </p:spPr>
        <p:txBody>
          <a:bodyPr wrap="square" lIns="0" rIns="0" tIns="0" bIns="0" anchor="ctr">
            <a:spAutoFit/>
          </a:bodyPr>
          <a:lstStyle/>
          <a:p>
            <a:pPr algn="l">
              <a:lnSpc>
                <a:spcPct val="106000"/>
              </a:lnSpc>
              <a:spcBef>
                <a:spcPts val="0"/>
              </a:spcBef>
              <a:spcAft>
                <a:spcPts val="0"/>
              </a:spcAft>
              <a:defRPr sz="2250" b="0" i="0">
                <a:solidFill>
                  <a:srgbClr val="253438"/>
                </a:solidFill>
                <a:latin typeface="Calibri"/>
              </a:defRPr>
            </a:pPr>
            <a:r>
              <a:t>L33800</a:t>
            </a:r>
          </a:p>
        </p:txBody>
      </p:sp>
      <p:sp>
        <p:nvSpPr>
          <p:cNvPr id="28" name="TextBox 27"/>
          <p:cNvSpPr txBox="1"/>
          <p:nvPr/>
        </p:nvSpPr>
        <p:spPr>
          <a:xfrm>
            <a:off x="7406640" y="3796588"/>
            <a:ext cx="4072097" cy="722375"/>
          </a:xfrm>
          <a:prstGeom prst="rect">
            <a:avLst/>
          </a:prstGeom>
          <a:noFill/>
        </p:spPr>
        <p:txBody>
          <a:bodyPr wrap="square" lIns="0" rIns="0" tIns="0" bIns="0" anchor="ctr">
            <a:spAutoFit/>
          </a:bodyPr>
          <a:lstStyle/>
          <a:p>
            <a:pPr algn="l">
              <a:lnSpc>
                <a:spcPct val="106000"/>
              </a:lnSpc>
              <a:spcBef>
                <a:spcPts val="0"/>
              </a:spcBef>
              <a:spcAft>
                <a:spcPts val="0"/>
              </a:spcAft>
              <a:defRPr sz="2250" b="0" i="0">
                <a:solidFill>
                  <a:srgbClr val="253438"/>
                </a:solidFill>
                <a:latin typeface="Calibri"/>
              </a:defRPr>
            </a:pPr>
            <a:r>
              <a:t>Awake PaCO₂ + spirometry</a:t>
            </a:r>
          </a:p>
          <a:p>
            <a:pPr algn="l">
              <a:lnSpc>
                <a:spcPct val="106000"/>
              </a:lnSpc>
              <a:spcBef>
                <a:spcPts val="0"/>
              </a:spcBef>
              <a:spcAft>
                <a:spcPts val="0"/>
              </a:spcAft>
              <a:defRPr sz="2250" b="0" i="0">
                <a:solidFill>
                  <a:srgbClr val="253438"/>
                </a:solidFill>
                <a:latin typeface="Calibri"/>
              </a:defRPr>
            </a:pPr>
            <a:r>
              <a:t>+ additional findings</a:t>
            </a:r>
          </a:p>
        </p:txBody>
      </p:sp>
      <p:sp>
        <p:nvSpPr>
          <p:cNvPr id="29" name="Rectangle 28"/>
          <p:cNvSpPr/>
          <p:nvPr/>
        </p:nvSpPr>
        <p:spPr>
          <a:xfrm>
            <a:off x="585216" y="4539996"/>
            <a:ext cx="11021567" cy="763524"/>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0" name="Connector 29"/>
          <p:cNvCxnSpPr/>
          <p:nvPr/>
        </p:nvCxnSpPr>
        <p:spPr>
          <a:xfrm>
            <a:off x="585216" y="4539996"/>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713232" y="4560112"/>
            <a:ext cx="3538728" cy="722375"/>
          </a:xfrm>
          <a:prstGeom prst="rect">
            <a:avLst/>
          </a:prstGeom>
          <a:noFill/>
        </p:spPr>
        <p:txBody>
          <a:bodyPr wrap="square" lIns="0" rIns="0" tIns="0" bIns="0" anchor="ctr">
            <a:spAutoFit/>
          </a:bodyPr>
          <a:lstStyle/>
          <a:p>
            <a:pPr algn="l">
              <a:lnSpc>
                <a:spcPct val="106000"/>
              </a:lnSpc>
              <a:spcBef>
                <a:spcPts val="0"/>
              </a:spcBef>
              <a:spcAft>
                <a:spcPts val="0"/>
              </a:spcAft>
              <a:defRPr sz="2250" b="1" i="0">
                <a:solidFill>
                  <a:srgbClr val="172326"/>
                </a:solidFill>
                <a:latin typeface="Calibri"/>
              </a:defRPr>
            </a:pPr>
            <a:r>
              <a:t>CSA / complex apnea</a:t>
            </a:r>
          </a:p>
        </p:txBody>
      </p:sp>
      <p:sp>
        <p:nvSpPr>
          <p:cNvPr id="32" name="TextBox 31"/>
          <p:cNvSpPr txBox="1"/>
          <p:nvPr/>
        </p:nvSpPr>
        <p:spPr>
          <a:xfrm>
            <a:off x="4507992" y="4560112"/>
            <a:ext cx="2642615" cy="722375"/>
          </a:xfrm>
          <a:prstGeom prst="rect">
            <a:avLst/>
          </a:prstGeom>
          <a:noFill/>
        </p:spPr>
        <p:txBody>
          <a:bodyPr wrap="square" lIns="0" rIns="0" tIns="0" bIns="0" anchor="ctr">
            <a:spAutoFit/>
          </a:bodyPr>
          <a:lstStyle/>
          <a:p>
            <a:pPr algn="l">
              <a:lnSpc>
                <a:spcPct val="106000"/>
              </a:lnSpc>
              <a:spcBef>
                <a:spcPts val="0"/>
              </a:spcBef>
              <a:spcAft>
                <a:spcPts val="0"/>
              </a:spcAft>
              <a:defRPr sz="2250" b="0" i="0">
                <a:solidFill>
                  <a:srgbClr val="253438"/>
                </a:solidFill>
                <a:latin typeface="Calibri"/>
              </a:defRPr>
            </a:pPr>
            <a:r>
              <a:t>L33800</a:t>
            </a:r>
          </a:p>
        </p:txBody>
      </p:sp>
      <p:sp>
        <p:nvSpPr>
          <p:cNvPr id="33" name="TextBox 32"/>
          <p:cNvSpPr txBox="1"/>
          <p:nvPr/>
        </p:nvSpPr>
        <p:spPr>
          <a:xfrm>
            <a:off x="7406640" y="4560112"/>
            <a:ext cx="4072097" cy="722375"/>
          </a:xfrm>
          <a:prstGeom prst="rect">
            <a:avLst/>
          </a:prstGeom>
          <a:noFill/>
        </p:spPr>
        <p:txBody>
          <a:bodyPr wrap="square" lIns="0" rIns="0" tIns="0" bIns="0" anchor="ctr">
            <a:spAutoFit/>
          </a:bodyPr>
          <a:lstStyle/>
          <a:p>
            <a:pPr algn="l">
              <a:lnSpc>
                <a:spcPct val="106000"/>
              </a:lnSpc>
              <a:spcBef>
                <a:spcPts val="0"/>
              </a:spcBef>
              <a:spcAft>
                <a:spcPts val="0"/>
              </a:spcAft>
              <a:defRPr sz="2250" b="0" i="0">
                <a:solidFill>
                  <a:srgbClr val="253438"/>
                </a:solidFill>
                <a:latin typeface="Calibri"/>
              </a:defRPr>
            </a:pPr>
            <a:r>
              <a:t>Attended PSG and</a:t>
            </a:r>
          </a:p>
          <a:p>
            <a:pPr algn="l">
              <a:lnSpc>
                <a:spcPct val="106000"/>
              </a:lnSpc>
              <a:spcBef>
                <a:spcPts val="0"/>
              </a:spcBef>
              <a:spcAft>
                <a:spcPts val="0"/>
              </a:spcAft>
              <a:defRPr sz="2250" b="0" i="0">
                <a:solidFill>
                  <a:srgbClr val="253438"/>
                </a:solidFill>
                <a:latin typeface="Calibri"/>
              </a:defRPr>
            </a:pPr>
            <a:r>
              <a:t>treatment response</a:t>
            </a:r>
          </a:p>
        </p:txBody>
      </p:sp>
      <p:cxnSp>
        <p:nvCxnSpPr>
          <p:cNvPr id="34" name="Connector 33"/>
          <p:cNvCxnSpPr/>
          <p:nvPr/>
        </p:nvCxnSpPr>
        <p:spPr>
          <a:xfrm>
            <a:off x="585216" y="5303520"/>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35" name="Rectangle 34"/>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ectangle 35"/>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000" b="0" i="0">
                <a:solidFill>
                  <a:srgbClr val="172326"/>
                </a:solidFill>
                <a:latin typeface="Calibri"/>
              </a:defRPr>
            </a:pPr>
            <a:r>
              <a:t>Ventilator use for NMD / thoracic restriction: NCD 280.1 and supporting justification.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IV · CURRENT LANDSCAPE</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DME supply and clinical follow-up</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CMS A55426 [R19] · DME MAC coding guidance [R20] · R21, R02</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S25</a:t>
            </a:r>
          </a:p>
        </p:txBody>
      </p:sp>
      <p:sp>
        <p:nvSpPr>
          <p:cNvPr id="12" name="Rectangle 11"/>
          <p:cNvSpPr/>
          <p:nvPr/>
        </p:nvSpPr>
        <p:spPr>
          <a:xfrm>
            <a:off x="585216" y="1819656"/>
            <a:ext cx="2006803" cy="950976"/>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76656" y="1920240"/>
            <a:ext cx="1823923" cy="731520"/>
          </a:xfrm>
          <a:prstGeom prst="rect">
            <a:avLst/>
          </a:prstGeom>
          <a:noFill/>
        </p:spPr>
        <p:txBody>
          <a:bodyPr wrap="square" lIns="0" rIns="0" tIns="0" bIns="0" anchor="ctr">
            <a:spAutoFit/>
          </a:bodyPr>
          <a:lstStyle/>
          <a:p>
            <a:pPr algn="ctr">
              <a:lnSpc>
                <a:spcPct val="106000"/>
              </a:lnSpc>
              <a:spcBef>
                <a:spcPts val="0"/>
              </a:spcBef>
              <a:spcAft>
                <a:spcPts val="0"/>
              </a:spcAft>
              <a:defRPr sz="2400" b="1" i="0">
                <a:solidFill>
                  <a:srgbClr val="172326"/>
                </a:solidFill>
                <a:latin typeface="Calibri"/>
              </a:defRPr>
            </a:pPr>
            <a:r>
              <a:t>Order +</a:t>
            </a:r>
          </a:p>
          <a:p>
            <a:pPr algn="ctr">
              <a:lnSpc>
                <a:spcPct val="106000"/>
              </a:lnSpc>
              <a:spcBef>
                <a:spcPts val="0"/>
              </a:spcBef>
              <a:spcAft>
                <a:spcPts val="0"/>
              </a:spcAft>
              <a:defRPr sz="2400" b="1" i="0">
                <a:solidFill>
                  <a:srgbClr val="172326"/>
                </a:solidFill>
                <a:latin typeface="Calibri"/>
              </a:defRPr>
            </a:pPr>
            <a:r>
              <a:t>records</a:t>
            </a:r>
          </a:p>
        </p:txBody>
      </p:sp>
      <p:cxnSp>
        <p:nvCxnSpPr>
          <p:cNvPr id="14" name="Connector 13"/>
          <p:cNvCxnSpPr/>
          <p:nvPr/>
        </p:nvCxnSpPr>
        <p:spPr>
          <a:xfrm>
            <a:off x="2614879" y="2295144"/>
            <a:ext cx="201168" cy="0"/>
          </a:xfrm>
          <a:prstGeom prst="line">
            <a:avLst/>
          </a:prstGeom>
          <a:ln w="20320">
            <a:solidFill>
              <a:srgbClr val="1C6970"/>
            </a:solidFill>
            <a:tailEnd type="triangle"/>
          </a:ln>
        </p:spPr>
        <p:style>
          <a:lnRef idx="2">
            <a:schemeClr val="accent1"/>
          </a:lnRef>
          <a:fillRef idx="0">
            <a:schemeClr val="accent1"/>
          </a:fillRef>
          <a:effectRef idx="0">
            <a:schemeClr val="accent1"/>
          </a:effectRef>
          <a:fontRef idx="minor">
            <a:schemeClr val="tx1"/>
          </a:fontRef>
        </p:style>
      </p:cxnSp>
      <p:sp>
        <p:nvSpPr>
          <p:cNvPr id="15" name="Rectangle 14"/>
          <p:cNvSpPr/>
          <p:nvPr/>
        </p:nvSpPr>
        <p:spPr>
          <a:xfrm>
            <a:off x="2838907" y="1819656"/>
            <a:ext cx="2006803" cy="950976"/>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930347" y="1920240"/>
            <a:ext cx="1823923" cy="731520"/>
          </a:xfrm>
          <a:prstGeom prst="rect">
            <a:avLst/>
          </a:prstGeom>
          <a:noFill/>
        </p:spPr>
        <p:txBody>
          <a:bodyPr wrap="square" lIns="0" rIns="0" tIns="0" bIns="0" anchor="ctr">
            <a:spAutoFit/>
          </a:bodyPr>
          <a:lstStyle/>
          <a:p>
            <a:pPr algn="ctr">
              <a:lnSpc>
                <a:spcPct val="106000"/>
              </a:lnSpc>
              <a:spcBef>
                <a:spcPts val="0"/>
              </a:spcBef>
              <a:spcAft>
                <a:spcPts val="0"/>
              </a:spcAft>
              <a:defRPr sz="2400" b="1" i="0">
                <a:solidFill>
                  <a:srgbClr val="172326"/>
                </a:solidFill>
                <a:latin typeface="Calibri"/>
              </a:defRPr>
            </a:pPr>
            <a:r>
              <a:t>Supplier</a:t>
            </a:r>
          </a:p>
          <a:p>
            <a:pPr algn="ctr">
              <a:lnSpc>
                <a:spcPct val="106000"/>
              </a:lnSpc>
              <a:spcBef>
                <a:spcPts val="0"/>
              </a:spcBef>
              <a:spcAft>
                <a:spcPts val="0"/>
              </a:spcAft>
              <a:defRPr sz="2400" b="1" i="0">
                <a:solidFill>
                  <a:srgbClr val="172326"/>
                </a:solidFill>
                <a:latin typeface="Calibri"/>
              </a:defRPr>
            </a:pPr>
            <a:r>
              <a:t>review</a:t>
            </a:r>
          </a:p>
        </p:txBody>
      </p:sp>
      <p:cxnSp>
        <p:nvCxnSpPr>
          <p:cNvPr id="17" name="Connector 16"/>
          <p:cNvCxnSpPr/>
          <p:nvPr/>
        </p:nvCxnSpPr>
        <p:spPr>
          <a:xfrm>
            <a:off x="4868570" y="2295144"/>
            <a:ext cx="201168" cy="0"/>
          </a:xfrm>
          <a:prstGeom prst="line">
            <a:avLst/>
          </a:prstGeom>
          <a:ln w="20320">
            <a:solidFill>
              <a:srgbClr val="1C6970"/>
            </a:solidFill>
            <a:tailEnd type="triangle"/>
          </a:ln>
        </p:spPr>
        <p:style>
          <a:lnRef idx="2">
            <a:schemeClr val="accent1"/>
          </a:lnRef>
          <a:fillRef idx="0">
            <a:schemeClr val="accent1"/>
          </a:fillRef>
          <a:effectRef idx="0">
            <a:schemeClr val="accent1"/>
          </a:effectRef>
          <a:fontRef idx="minor">
            <a:schemeClr val="tx1"/>
          </a:fontRef>
        </p:style>
      </p:cxnSp>
      <p:sp>
        <p:nvSpPr>
          <p:cNvPr id="18" name="Rectangle 17"/>
          <p:cNvSpPr/>
          <p:nvPr/>
        </p:nvSpPr>
        <p:spPr>
          <a:xfrm>
            <a:off x="5092598" y="1819656"/>
            <a:ext cx="2006803" cy="950976"/>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5184038" y="1920240"/>
            <a:ext cx="1823923" cy="731520"/>
          </a:xfrm>
          <a:prstGeom prst="rect">
            <a:avLst/>
          </a:prstGeom>
          <a:noFill/>
        </p:spPr>
        <p:txBody>
          <a:bodyPr wrap="square" lIns="0" rIns="0" tIns="0" bIns="0" anchor="ctr">
            <a:spAutoFit/>
          </a:bodyPr>
          <a:lstStyle/>
          <a:p>
            <a:pPr algn="ctr">
              <a:lnSpc>
                <a:spcPct val="106000"/>
              </a:lnSpc>
              <a:spcBef>
                <a:spcPts val="0"/>
              </a:spcBef>
              <a:spcAft>
                <a:spcPts val="0"/>
              </a:spcAft>
              <a:defRPr sz="2400" b="1" i="0">
                <a:solidFill>
                  <a:srgbClr val="172326"/>
                </a:solidFill>
                <a:latin typeface="Calibri"/>
              </a:defRPr>
            </a:pPr>
            <a:r>
              <a:t>Setup +</a:t>
            </a:r>
          </a:p>
          <a:p>
            <a:pPr algn="ctr">
              <a:lnSpc>
                <a:spcPct val="106000"/>
              </a:lnSpc>
              <a:spcBef>
                <a:spcPts val="0"/>
              </a:spcBef>
              <a:spcAft>
                <a:spcPts val="0"/>
              </a:spcAft>
              <a:defRPr sz="2400" b="1" i="0">
                <a:solidFill>
                  <a:srgbClr val="172326"/>
                </a:solidFill>
                <a:latin typeface="Calibri"/>
              </a:defRPr>
            </a:pPr>
            <a:r>
              <a:t>training</a:t>
            </a:r>
          </a:p>
        </p:txBody>
      </p:sp>
      <p:cxnSp>
        <p:nvCxnSpPr>
          <p:cNvPr id="20" name="Connector 19"/>
          <p:cNvCxnSpPr/>
          <p:nvPr/>
        </p:nvCxnSpPr>
        <p:spPr>
          <a:xfrm>
            <a:off x="7122261" y="2295144"/>
            <a:ext cx="201168" cy="0"/>
          </a:xfrm>
          <a:prstGeom prst="line">
            <a:avLst/>
          </a:prstGeom>
          <a:ln w="20320">
            <a:solidFill>
              <a:srgbClr val="1C6970"/>
            </a:solidFill>
            <a:tailEnd type="triangle"/>
          </a:ln>
        </p:spPr>
        <p:style>
          <a:lnRef idx="2">
            <a:schemeClr val="accent1"/>
          </a:lnRef>
          <a:fillRef idx="0">
            <a:schemeClr val="accent1"/>
          </a:fillRef>
          <a:effectRef idx="0">
            <a:schemeClr val="accent1"/>
          </a:effectRef>
          <a:fontRef idx="minor">
            <a:schemeClr val="tx1"/>
          </a:fontRef>
        </p:style>
      </p:cxnSp>
      <p:sp>
        <p:nvSpPr>
          <p:cNvPr id="21" name="Rectangle 20"/>
          <p:cNvSpPr/>
          <p:nvPr/>
        </p:nvSpPr>
        <p:spPr>
          <a:xfrm>
            <a:off x="7346289" y="1819656"/>
            <a:ext cx="2006803" cy="950976"/>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437729" y="1920240"/>
            <a:ext cx="1823923" cy="731520"/>
          </a:xfrm>
          <a:prstGeom prst="rect">
            <a:avLst/>
          </a:prstGeom>
          <a:noFill/>
        </p:spPr>
        <p:txBody>
          <a:bodyPr wrap="square" lIns="0" rIns="0" tIns="0" bIns="0" anchor="ctr">
            <a:spAutoFit/>
          </a:bodyPr>
          <a:lstStyle/>
          <a:p>
            <a:pPr algn="ctr">
              <a:lnSpc>
                <a:spcPct val="106000"/>
              </a:lnSpc>
              <a:spcBef>
                <a:spcPts val="0"/>
              </a:spcBef>
              <a:spcAft>
                <a:spcPts val="0"/>
              </a:spcAft>
              <a:defRPr sz="2400" b="1" i="0">
                <a:solidFill>
                  <a:srgbClr val="172326"/>
                </a:solidFill>
                <a:latin typeface="Calibri"/>
              </a:defRPr>
            </a:pPr>
            <a:r>
              <a:t>Delivery</a:t>
            </a:r>
          </a:p>
          <a:p>
            <a:pPr algn="ctr">
              <a:lnSpc>
                <a:spcPct val="106000"/>
              </a:lnSpc>
              <a:spcBef>
                <a:spcPts val="0"/>
              </a:spcBef>
              <a:spcAft>
                <a:spcPts val="0"/>
              </a:spcAft>
              <a:defRPr sz="2400" b="1" i="0">
                <a:solidFill>
                  <a:srgbClr val="172326"/>
                </a:solidFill>
                <a:latin typeface="Calibri"/>
              </a:defRPr>
            </a:pPr>
            <a:r>
              <a:t>record</a:t>
            </a:r>
          </a:p>
        </p:txBody>
      </p:sp>
      <p:cxnSp>
        <p:nvCxnSpPr>
          <p:cNvPr id="23" name="Connector 22"/>
          <p:cNvCxnSpPr/>
          <p:nvPr/>
        </p:nvCxnSpPr>
        <p:spPr>
          <a:xfrm>
            <a:off x="9375952" y="2295144"/>
            <a:ext cx="201168" cy="0"/>
          </a:xfrm>
          <a:prstGeom prst="line">
            <a:avLst/>
          </a:prstGeom>
          <a:ln w="20320">
            <a:solidFill>
              <a:srgbClr val="1C6970"/>
            </a:solidFill>
            <a:tailEnd type="triangle"/>
          </a:ln>
        </p:spPr>
        <p:style>
          <a:lnRef idx="2">
            <a:schemeClr val="accent1"/>
          </a:lnRef>
          <a:fillRef idx="0">
            <a:schemeClr val="accent1"/>
          </a:fillRef>
          <a:effectRef idx="0">
            <a:schemeClr val="accent1"/>
          </a:effectRef>
          <a:fontRef idx="minor">
            <a:schemeClr val="tx1"/>
          </a:fontRef>
        </p:style>
      </p:cxnSp>
      <p:sp>
        <p:nvSpPr>
          <p:cNvPr id="24" name="Rectangle 23"/>
          <p:cNvSpPr/>
          <p:nvPr/>
        </p:nvSpPr>
        <p:spPr>
          <a:xfrm>
            <a:off x="9599980" y="1819656"/>
            <a:ext cx="2006803" cy="950976"/>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9691420" y="1920240"/>
            <a:ext cx="1823923" cy="731520"/>
          </a:xfrm>
          <a:prstGeom prst="rect">
            <a:avLst/>
          </a:prstGeom>
          <a:noFill/>
        </p:spPr>
        <p:txBody>
          <a:bodyPr wrap="square" lIns="0" rIns="0" tIns="0" bIns="0" anchor="ctr">
            <a:spAutoFit/>
          </a:bodyPr>
          <a:lstStyle/>
          <a:p>
            <a:pPr algn="ctr">
              <a:lnSpc>
                <a:spcPct val="106000"/>
              </a:lnSpc>
              <a:spcBef>
                <a:spcPts val="0"/>
              </a:spcBef>
              <a:spcAft>
                <a:spcPts val="0"/>
              </a:spcAft>
              <a:defRPr sz="2400" b="1" i="0">
                <a:solidFill>
                  <a:srgbClr val="172326"/>
                </a:solidFill>
                <a:latin typeface="Calibri"/>
              </a:defRPr>
            </a:pPr>
            <a:r>
              <a:t>Clinical</a:t>
            </a:r>
          </a:p>
          <a:p>
            <a:pPr algn="ctr">
              <a:lnSpc>
                <a:spcPct val="106000"/>
              </a:lnSpc>
              <a:spcBef>
                <a:spcPts val="0"/>
              </a:spcBef>
              <a:spcAft>
                <a:spcPts val="0"/>
              </a:spcAft>
              <a:defRPr sz="2400" b="1" i="0">
                <a:solidFill>
                  <a:srgbClr val="172326"/>
                </a:solidFill>
                <a:latin typeface="Calibri"/>
              </a:defRPr>
            </a:pPr>
            <a:r>
              <a:t>follow-up</a:t>
            </a:r>
          </a:p>
        </p:txBody>
      </p:sp>
      <p:sp>
        <p:nvSpPr>
          <p:cNvPr id="26" name="TextBox 25"/>
          <p:cNvSpPr txBox="1"/>
          <p:nvPr/>
        </p:nvSpPr>
        <p:spPr>
          <a:xfrm>
            <a:off x="585216" y="3246120"/>
            <a:ext cx="2761488" cy="457200"/>
          </a:xfrm>
          <a:prstGeom prst="rect">
            <a:avLst/>
          </a:prstGeom>
          <a:noFill/>
        </p:spPr>
        <p:txBody>
          <a:bodyPr wrap="square" lIns="0" rIns="0" tIns="0" bIns="0" anchor="t">
            <a:spAutoFit/>
          </a:bodyPr>
          <a:lstStyle/>
          <a:p>
            <a:pPr algn="l">
              <a:lnSpc>
                <a:spcPct val="106000"/>
              </a:lnSpc>
              <a:spcBef>
                <a:spcPts val="0"/>
              </a:spcBef>
              <a:spcAft>
                <a:spcPts val="0"/>
              </a:spcAft>
              <a:defRPr sz="2400" b="1" i="0">
                <a:solidFill>
                  <a:srgbClr val="172326"/>
                </a:solidFill>
                <a:latin typeface="Calibri"/>
              </a:defRPr>
            </a:pPr>
            <a:r>
              <a:t>Clinical team</a:t>
            </a:r>
          </a:p>
        </p:txBody>
      </p:sp>
      <p:sp>
        <p:nvSpPr>
          <p:cNvPr id="27" name="TextBox 26"/>
          <p:cNvSpPr txBox="1"/>
          <p:nvPr/>
        </p:nvSpPr>
        <p:spPr>
          <a:xfrm>
            <a:off x="3511296" y="3246120"/>
            <a:ext cx="8095487" cy="557784"/>
          </a:xfrm>
          <a:prstGeom prst="rect">
            <a:avLst/>
          </a:prstGeom>
          <a:noFill/>
        </p:spPr>
        <p:txBody>
          <a:bodyPr wrap="square" lIns="0" rIns="0" tIns="0" bIns="0" anchor="t">
            <a:spAutoFit/>
          </a:bodyPr>
          <a:lstStyle/>
          <a:p>
            <a:pPr algn="l">
              <a:lnSpc>
                <a:spcPct val="106000"/>
              </a:lnSpc>
              <a:spcBef>
                <a:spcPts val="0"/>
              </a:spcBef>
              <a:spcAft>
                <a:spcPts val="0"/>
              </a:spcAft>
              <a:defRPr sz="2350" b="0" i="0">
                <a:solidFill>
                  <a:srgbClr val="253438"/>
                </a:solidFill>
                <a:latin typeface="Calibri"/>
              </a:defRPr>
            </a:pPr>
            <a:r>
              <a:t>Diagnosis, treatment parameters, response, reassessment</a:t>
            </a:r>
          </a:p>
        </p:txBody>
      </p:sp>
      <p:sp>
        <p:nvSpPr>
          <p:cNvPr id="28" name="TextBox 27"/>
          <p:cNvSpPr txBox="1"/>
          <p:nvPr/>
        </p:nvSpPr>
        <p:spPr>
          <a:xfrm>
            <a:off x="585216" y="3922776"/>
            <a:ext cx="2761488" cy="457200"/>
          </a:xfrm>
          <a:prstGeom prst="rect">
            <a:avLst/>
          </a:prstGeom>
          <a:noFill/>
        </p:spPr>
        <p:txBody>
          <a:bodyPr wrap="square" lIns="0" rIns="0" tIns="0" bIns="0" anchor="t">
            <a:spAutoFit/>
          </a:bodyPr>
          <a:lstStyle/>
          <a:p>
            <a:pPr algn="l">
              <a:lnSpc>
                <a:spcPct val="106000"/>
              </a:lnSpc>
              <a:spcBef>
                <a:spcPts val="0"/>
              </a:spcBef>
              <a:spcAft>
                <a:spcPts val="0"/>
              </a:spcAft>
              <a:defRPr sz="2400" b="1" i="0">
                <a:solidFill>
                  <a:srgbClr val="172326"/>
                </a:solidFill>
                <a:latin typeface="Calibri"/>
              </a:defRPr>
            </a:pPr>
            <a:r>
              <a:t>DME supplier</a:t>
            </a:r>
          </a:p>
        </p:txBody>
      </p:sp>
      <p:sp>
        <p:nvSpPr>
          <p:cNvPr id="29" name="TextBox 28"/>
          <p:cNvSpPr txBox="1"/>
          <p:nvPr/>
        </p:nvSpPr>
        <p:spPr>
          <a:xfrm>
            <a:off x="3511296" y="3922776"/>
            <a:ext cx="8095487" cy="557784"/>
          </a:xfrm>
          <a:prstGeom prst="rect">
            <a:avLst/>
          </a:prstGeom>
          <a:noFill/>
        </p:spPr>
        <p:txBody>
          <a:bodyPr wrap="square" lIns="0" rIns="0" tIns="0" bIns="0" anchor="t">
            <a:spAutoFit/>
          </a:bodyPr>
          <a:lstStyle/>
          <a:p>
            <a:pPr algn="l">
              <a:lnSpc>
                <a:spcPct val="106000"/>
              </a:lnSpc>
              <a:spcBef>
                <a:spcPts val="0"/>
              </a:spcBef>
              <a:spcAft>
                <a:spcPts val="0"/>
              </a:spcAft>
              <a:defRPr sz="2350" b="0" i="0">
                <a:solidFill>
                  <a:srgbClr val="253438"/>
                </a:solidFill>
                <a:latin typeface="Calibri"/>
              </a:defRPr>
            </a:pPr>
            <a:r>
              <a:t>Documentation intake, equipment, setup, servicing, billing</a:t>
            </a:r>
          </a:p>
        </p:txBody>
      </p:sp>
      <p:sp>
        <p:nvSpPr>
          <p:cNvPr id="30" name="TextBox 29"/>
          <p:cNvSpPr txBox="1"/>
          <p:nvPr/>
        </p:nvSpPr>
        <p:spPr>
          <a:xfrm>
            <a:off x="585216" y="4599431"/>
            <a:ext cx="2761488" cy="457200"/>
          </a:xfrm>
          <a:prstGeom prst="rect">
            <a:avLst/>
          </a:prstGeom>
          <a:noFill/>
        </p:spPr>
        <p:txBody>
          <a:bodyPr wrap="square" lIns="0" rIns="0" tIns="0" bIns="0" anchor="t">
            <a:spAutoFit/>
          </a:bodyPr>
          <a:lstStyle/>
          <a:p>
            <a:pPr algn="l">
              <a:lnSpc>
                <a:spcPct val="106000"/>
              </a:lnSpc>
              <a:spcBef>
                <a:spcPts val="0"/>
              </a:spcBef>
              <a:spcAft>
                <a:spcPts val="0"/>
              </a:spcAft>
              <a:defRPr sz="2400" b="1" i="0">
                <a:solidFill>
                  <a:srgbClr val="172326"/>
                </a:solidFill>
                <a:latin typeface="Calibri"/>
              </a:defRPr>
            </a:pPr>
            <a:r>
              <a:t>Payer / contractor</a:t>
            </a:r>
          </a:p>
        </p:txBody>
      </p:sp>
      <p:sp>
        <p:nvSpPr>
          <p:cNvPr id="31" name="TextBox 30"/>
          <p:cNvSpPr txBox="1"/>
          <p:nvPr/>
        </p:nvSpPr>
        <p:spPr>
          <a:xfrm>
            <a:off x="3511296" y="4599431"/>
            <a:ext cx="8095487" cy="557784"/>
          </a:xfrm>
          <a:prstGeom prst="rect">
            <a:avLst/>
          </a:prstGeom>
          <a:noFill/>
        </p:spPr>
        <p:txBody>
          <a:bodyPr wrap="square" lIns="0" rIns="0" tIns="0" bIns="0" anchor="t">
            <a:spAutoFit/>
          </a:bodyPr>
          <a:lstStyle/>
          <a:p>
            <a:pPr algn="l">
              <a:lnSpc>
                <a:spcPct val="106000"/>
              </a:lnSpc>
              <a:spcBef>
                <a:spcPts val="0"/>
              </a:spcBef>
              <a:spcAft>
                <a:spcPts val="0"/>
              </a:spcAft>
              <a:defRPr sz="2350" b="0" i="0">
                <a:solidFill>
                  <a:srgbClr val="253438"/>
                </a:solidFill>
                <a:latin typeface="Calibri"/>
              </a:defRPr>
            </a:pPr>
            <a:r>
              <a:t>Coverage rules, claims adjudication, review</a:t>
            </a:r>
          </a:p>
        </p:txBody>
      </p:sp>
      <p:sp>
        <p:nvSpPr>
          <p:cNvPr id="32" name="Rectangle 31"/>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100" b="0" i="0">
                <a:solidFill>
                  <a:srgbClr val="172326"/>
                </a:solidFill>
                <a:latin typeface="Calibri"/>
              </a:defRPr>
            </a:pPr>
            <a:r>
              <a:t>Authorization, equipment delivery, and effective treatment are different events.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IV · CURRENT LANDSCAPE</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The contemporary landscape</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5" name="Rectangle 4"/>
          <p:cNvSpPr/>
          <p:nvPr/>
        </p:nvSpPr>
        <p:spPr>
          <a:xfrm>
            <a:off x="9665208"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0149840"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0634472" y="265176"/>
            <a:ext cx="356616" cy="64008"/>
          </a:xfrm>
          <a:prstGeom prst="rect">
            <a:avLst/>
          </a:prstGeom>
          <a:solidFill>
            <a:srgbClr val="CBD5D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1119104" y="265176"/>
            <a:ext cx="356616" cy="6400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Locke et al. 2024 [R01] · Locke &amp; Brown 2023 [R02] · R16, R17, R18</a:t>
            </a:r>
          </a:p>
        </p:txBody>
      </p:sp>
      <p:sp>
        <p:nvSpPr>
          <p:cNvPr id="11" name="TextBox 10"/>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S26</a:t>
            </a:r>
          </a:p>
        </p:txBody>
      </p:sp>
      <p:sp>
        <p:nvSpPr>
          <p:cNvPr id="12" name="Rectangle 11"/>
          <p:cNvSpPr/>
          <p:nvPr/>
        </p:nvSpPr>
        <p:spPr>
          <a:xfrm>
            <a:off x="585216" y="1847088"/>
            <a:ext cx="3527551" cy="2487168"/>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585216" y="1847088"/>
            <a:ext cx="3527551" cy="4114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77240" y="2011680"/>
            <a:ext cx="3143503" cy="420624"/>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PAP pathway</a:t>
            </a:r>
          </a:p>
        </p:txBody>
      </p:sp>
      <p:sp>
        <p:nvSpPr>
          <p:cNvPr id="15" name="TextBox 14"/>
          <p:cNvSpPr txBox="1"/>
          <p:nvPr/>
        </p:nvSpPr>
        <p:spPr>
          <a:xfrm>
            <a:off x="777240" y="2542032"/>
            <a:ext cx="3143503" cy="1636776"/>
          </a:xfrm>
          <a:prstGeom prst="rect">
            <a:avLst/>
          </a:prstGeom>
          <a:noFill/>
        </p:spPr>
        <p:txBody>
          <a:bodyPr wrap="square" lIns="0" rIns="0" tIns="0" bIns="0" anchor="t">
            <a:spAutoFit/>
          </a:bodyPr>
          <a:lstStyle/>
          <a:p>
            <a:pPr algn="l">
              <a:lnSpc>
                <a:spcPct val="106000"/>
              </a:lnSpc>
              <a:spcBef>
                <a:spcPts val="0"/>
              </a:spcBef>
              <a:spcAft>
                <a:spcPts val="0"/>
              </a:spcAft>
              <a:defRPr sz="2500" b="0" i="0">
                <a:solidFill>
                  <a:srgbClr val="253438"/>
                </a:solidFill>
                <a:latin typeface="Calibri"/>
              </a:defRPr>
            </a:pPr>
            <a:r>
              <a:t>Sleep-apnea diagnosis</a:t>
            </a:r>
          </a:p>
          <a:p>
            <a:pPr algn="l">
              <a:lnSpc>
                <a:spcPct val="106000"/>
              </a:lnSpc>
              <a:spcBef>
                <a:spcPts val="0"/>
              </a:spcBef>
              <a:spcAft>
                <a:spcPts val="0"/>
              </a:spcAft>
              <a:defRPr sz="2500" b="0" i="0">
                <a:solidFill>
                  <a:srgbClr val="253438"/>
                </a:solidFill>
                <a:latin typeface="Calibri"/>
              </a:defRPr>
            </a:pPr>
            <a:r>
              <a:t>Airway-patency</a:t>
            </a:r>
          </a:p>
          <a:p>
            <a:pPr algn="l">
              <a:lnSpc>
                <a:spcPct val="106000"/>
              </a:lnSpc>
              <a:spcBef>
                <a:spcPts val="0"/>
              </a:spcBef>
              <a:spcAft>
                <a:spcPts val="0"/>
              </a:spcAft>
              <a:defRPr sz="2500" b="0" i="0">
                <a:solidFill>
                  <a:srgbClr val="253438"/>
                </a:solidFill>
                <a:latin typeface="Calibri"/>
              </a:defRPr>
            </a:pPr>
            <a:r>
              <a:t>treatment</a:t>
            </a:r>
          </a:p>
        </p:txBody>
      </p:sp>
      <p:sp>
        <p:nvSpPr>
          <p:cNvPr id="16" name="Rectangle 15"/>
          <p:cNvSpPr/>
          <p:nvPr/>
        </p:nvSpPr>
        <p:spPr>
          <a:xfrm>
            <a:off x="4332223" y="1847088"/>
            <a:ext cx="3527551" cy="2487168"/>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4332223" y="1847088"/>
            <a:ext cx="3527551" cy="4114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524247" y="2011680"/>
            <a:ext cx="3143503" cy="420624"/>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RAD pathway</a:t>
            </a:r>
          </a:p>
        </p:txBody>
      </p:sp>
      <p:sp>
        <p:nvSpPr>
          <p:cNvPr id="19" name="TextBox 18"/>
          <p:cNvSpPr txBox="1"/>
          <p:nvPr/>
        </p:nvSpPr>
        <p:spPr>
          <a:xfrm>
            <a:off x="4524247" y="2542032"/>
            <a:ext cx="3143503" cy="1636776"/>
          </a:xfrm>
          <a:prstGeom prst="rect">
            <a:avLst/>
          </a:prstGeom>
          <a:noFill/>
        </p:spPr>
        <p:txBody>
          <a:bodyPr wrap="square" lIns="0" rIns="0" tIns="0" bIns="0" anchor="t">
            <a:spAutoFit/>
          </a:bodyPr>
          <a:lstStyle/>
          <a:p>
            <a:pPr algn="l">
              <a:lnSpc>
                <a:spcPct val="106000"/>
              </a:lnSpc>
              <a:spcBef>
                <a:spcPts val="0"/>
              </a:spcBef>
              <a:spcAft>
                <a:spcPts val="0"/>
              </a:spcAft>
              <a:defRPr sz="2500" b="0" i="0">
                <a:solidFill>
                  <a:srgbClr val="253438"/>
                </a:solidFill>
                <a:latin typeface="Calibri"/>
              </a:defRPr>
            </a:pPr>
            <a:r>
              <a:t>Bilevel assistance</a:t>
            </a:r>
          </a:p>
          <a:p>
            <a:pPr algn="l">
              <a:lnSpc>
                <a:spcPct val="106000"/>
              </a:lnSpc>
              <a:spcBef>
                <a:spcPts val="0"/>
              </a:spcBef>
              <a:spcAft>
                <a:spcPts val="0"/>
              </a:spcAft>
              <a:defRPr sz="2500" b="0" i="0">
                <a:solidFill>
                  <a:srgbClr val="253438"/>
                </a:solidFill>
                <a:latin typeface="Calibri"/>
              </a:defRPr>
            </a:pPr>
            <a:r>
              <a:t>Diagnosis-specific</a:t>
            </a:r>
          </a:p>
          <a:p>
            <a:pPr algn="l">
              <a:lnSpc>
                <a:spcPct val="106000"/>
              </a:lnSpc>
              <a:spcBef>
                <a:spcPts val="0"/>
              </a:spcBef>
              <a:spcAft>
                <a:spcPts val="0"/>
              </a:spcAft>
              <a:defRPr sz="2500" b="0" i="0">
                <a:solidFill>
                  <a:srgbClr val="253438"/>
                </a:solidFill>
                <a:latin typeface="Calibri"/>
              </a:defRPr>
            </a:pPr>
            <a:r>
              <a:t>eligibility</a:t>
            </a:r>
          </a:p>
        </p:txBody>
      </p:sp>
      <p:sp>
        <p:nvSpPr>
          <p:cNvPr id="20" name="Rectangle 19"/>
          <p:cNvSpPr/>
          <p:nvPr/>
        </p:nvSpPr>
        <p:spPr>
          <a:xfrm>
            <a:off x="8079231" y="1847088"/>
            <a:ext cx="3527551" cy="2487168"/>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8079231" y="1847088"/>
            <a:ext cx="3527551" cy="41148"/>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271255" y="2011680"/>
            <a:ext cx="3143503" cy="420624"/>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HMV pathway</a:t>
            </a:r>
          </a:p>
        </p:txBody>
      </p:sp>
      <p:sp>
        <p:nvSpPr>
          <p:cNvPr id="23" name="TextBox 22"/>
          <p:cNvSpPr txBox="1"/>
          <p:nvPr/>
        </p:nvSpPr>
        <p:spPr>
          <a:xfrm>
            <a:off x="8271255" y="2542032"/>
            <a:ext cx="3143503" cy="1636776"/>
          </a:xfrm>
          <a:prstGeom prst="rect">
            <a:avLst/>
          </a:prstGeom>
          <a:noFill/>
        </p:spPr>
        <p:txBody>
          <a:bodyPr wrap="square" lIns="0" rIns="0" tIns="0" bIns="0" anchor="t">
            <a:spAutoFit/>
          </a:bodyPr>
          <a:lstStyle/>
          <a:p>
            <a:pPr algn="l">
              <a:lnSpc>
                <a:spcPct val="106000"/>
              </a:lnSpc>
              <a:spcBef>
                <a:spcPts val="0"/>
              </a:spcBef>
              <a:spcAft>
                <a:spcPts val="0"/>
              </a:spcAft>
              <a:defRPr sz="2500" b="0" i="0">
                <a:solidFill>
                  <a:srgbClr val="253438"/>
                </a:solidFill>
                <a:latin typeface="Calibri"/>
              </a:defRPr>
            </a:pPr>
            <a:r>
              <a:t>Ventilator capabilities</a:t>
            </a:r>
          </a:p>
          <a:p>
            <a:pPr algn="l">
              <a:lnSpc>
                <a:spcPct val="106000"/>
              </a:lnSpc>
              <a:spcBef>
                <a:spcPts val="0"/>
              </a:spcBef>
              <a:spcAft>
                <a:spcPts val="0"/>
              </a:spcAft>
              <a:defRPr sz="2500" b="0" i="0">
                <a:solidFill>
                  <a:srgbClr val="253438"/>
                </a:solidFill>
                <a:latin typeface="Calibri"/>
              </a:defRPr>
            </a:pPr>
            <a:r>
              <a:t>Extended support</a:t>
            </a:r>
          </a:p>
          <a:p>
            <a:pPr algn="l">
              <a:lnSpc>
                <a:spcPct val="106000"/>
              </a:lnSpc>
              <a:spcBef>
                <a:spcPts val="0"/>
              </a:spcBef>
              <a:spcAft>
                <a:spcPts val="0"/>
              </a:spcAft>
              <a:defRPr sz="2500" b="0" i="0">
                <a:solidFill>
                  <a:srgbClr val="253438"/>
                </a:solidFill>
                <a:latin typeface="Calibri"/>
              </a:defRPr>
            </a:pPr>
            <a:r>
              <a:t>needs</a:t>
            </a:r>
          </a:p>
        </p:txBody>
      </p:sp>
      <p:sp>
        <p:nvSpPr>
          <p:cNvPr id="24" name="TextBox 23"/>
          <p:cNvSpPr txBox="1"/>
          <p:nvPr/>
        </p:nvSpPr>
        <p:spPr>
          <a:xfrm>
            <a:off x="585216" y="4581144"/>
            <a:ext cx="11021567" cy="530352"/>
          </a:xfrm>
          <a:prstGeom prst="rect">
            <a:avLst/>
          </a:prstGeom>
          <a:noFill/>
        </p:spPr>
        <p:txBody>
          <a:bodyPr wrap="square" lIns="0" rIns="0" tIns="0" bIns="0" anchor="t">
            <a:spAutoFit/>
          </a:bodyPr>
          <a:lstStyle/>
          <a:p>
            <a:pPr algn="l">
              <a:lnSpc>
                <a:spcPct val="106000"/>
              </a:lnSpc>
              <a:spcBef>
                <a:spcPts val="0"/>
              </a:spcBef>
              <a:spcAft>
                <a:spcPts val="0"/>
              </a:spcAft>
              <a:defRPr sz="3000" b="1" i="0">
                <a:solidFill>
                  <a:srgbClr val="1C6970"/>
                </a:solidFill>
                <a:latin typeface="Calibri"/>
              </a:defRPr>
            </a:pPr>
            <a:r>
              <a:t>Shared modes and patient populations</a:t>
            </a:r>
          </a:p>
        </p:txBody>
      </p:sp>
      <p:sp>
        <p:nvSpPr>
          <p:cNvPr id="25" name="Rectangle 24"/>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2000" b="0" i="0">
                <a:solidFill>
                  <a:srgbClr val="172326"/>
                </a:solidFill>
                <a:latin typeface="Calibri"/>
              </a:defRPr>
            </a:pPr>
            <a:r>
              <a:t>Overlapping physiology and modes · distinct equipment and payment rules · incomplete evidence</a:t>
            </a:r>
          </a:p>
          <a:p>
            <a:pPr algn="l">
              <a:lnSpc>
                <a:spcPct val="106000"/>
              </a:lnSpc>
              <a:spcBef>
                <a:spcPts val="0"/>
              </a:spcBef>
              <a:spcAft>
                <a:spcPts val="0"/>
              </a:spcAft>
              <a:defRPr sz="2000" b="0" i="0">
                <a:solidFill>
                  <a:srgbClr val="172326"/>
                </a:solidFill>
                <a:latin typeface="Calibri"/>
              </a:defRPr>
            </a:pPr>
            <a:r>
              <a:t>for mixed disease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APPENDIX · HISTORY</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Historical chronology and source status</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Hind et al. 2017 [R05] · King 2012 [R06] · R13, R44</a:t>
            </a:r>
          </a:p>
        </p:txBody>
      </p:sp>
      <p:sp>
        <p:nvSpPr>
          <p:cNvPr id="7" name="TextBox 6"/>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BACKUP · A01</a:t>
            </a:r>
          </a:p>
        </p:txBody>
      </p:sp>
      <p:sp>
        <p:nvSpPr>
          <p:cNvPr id="8" name="Rectangle 7"/>
          <p:cNvSpPr/>
          <p:nvPr/>
        </p:nvSpPr>
        <p:spPr>
          <a:xfrm>
            <a:off x="585216" y="1746504"/>
            <a:ext cx="11021567" cy="475488"/>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13232" y="1819656"/>
            <a:ext cx="3767328" cy="365760"/>
          </a:xfrm>
          <a:prstGeom prst="rect">
            <a:avLst/>
          </a:prstGeom>
          <a:noFill/>
        </p:spPr>
        <p:txBody>
          <a:bodyPr wrap="square" lIns="0" rIns="0" tIns="0" bIns="0" anchor="t">
            <a:spAutoFit/>
          </a:bodyPr>
          <a:lstStyle/>
          <a:p>
            <a:pPr algn="l">
              <a:lnSpc>
                <a:spcPct val="106000"/>
              </a:lnSpc>
              <a:spcBef>
                <a:spcPts val="0"/>
              </a:spcBef>
              <a:spcAft>
                <a:spcPts val="0"/>
              </a:spcAft>
              <a:defRPr sz="2000" b="1" i="0">
                <a:solidFill>
                  <a:srgbClr val="172326"/>
                </a:solidFill>
                <a:latin typeface="Calibri"/>
              </a:defRPr>
            </a:pPr>
            <a:r>
              <a:t>Milestone</a:t>
            </a:r>
          </a:p>
        </p:txBody>
      </p:sp>
      <p:sp>
        <p:nvSpPr>
          <p:cNvPr id="10" name="TextBox 9"/>
          <p:cNvSpPr txBox="1"/>
          <p:nvPr/>
        </p:nvSpPr>
        <p:spPr>
          <a:xfrm>
            <a:off x="4736592" y="1819656"/>
            <a:ext cx="6742175" cy="365760"/>
          </a:xfrm>
          <a:prstGeom prst="rect">
            <a:avLst/>
          </a:prstGeom>
          <a:noFill/>
        </p:spPr>
        <p:txBody>
          <a:bodyPr wrap="square" lIns="0" rIns="0" tIns="0" bIns="0" anchor="t">
            <a:spAutoFit/>
          </a:bodyPr>
          <a:lstStyle/>
          <a:p>
            <a:pPr algn="l">
              <a:lnSpc>
                <a:spcPct val="106000"/>
              </a:lnSpc>
              <a:spcBef>
                <a:spcPts val="0"/>
              </a:spcBef>
              <a:spcAft>
                <a:spcPts val="0"/>
              </a:spcAft>
              <a:defRPr sz="2000" b="1" i="0">
                <a:solidFill>
                  <a:srgbClr val="172326"/>
                </a:solidFill>
                <a:latin typeface="Calibri"/>
              </a:defRPr>
            </a:pPr>
            <a:r>
              <a:t>Source status</a:t>
            </a:r>
          </a:p>
        </p:txBody>
      </p:sp>
      <p:cxnSp>
        <p:nvCxnSpPr>
          <p:cNvPr id="11" name="Connector 10"/>
          <p:cNvCxnSpPr/>
          <p:nvPr/>
        </p:nvCxnSpPr>
        <p:spPr>
          <a:xfrm>
            <a:off x="585216" y="2221991"/>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713232" y="2242108"/>
            <a:ext cx="3767328" cy="611733"/>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1952: Copenhagen polio</a:t>
            </a:r>
          </a:p>
          <a:p>
            <a:pPr algn="l">
              <a:lnSpc>
                <a:spcPct val="106000"/>
              </a:lnSpc>
              <a:spcBef>
                <a:spcPts val="0"/>
              </a:spcBef>
              <a:spcAft>
                <a:spcPts val="0"/>
              </a:spcAft>
              <a:defRPr sz="2200" b="1" i="0">
                <a:solidFill>
                  <a:srgbClr val="172326"/>
                </a:solidFill>
                <a:latin typeface="Calibri"/>
              </a:defRPr>
            </a:pPr>
            <a:r>
              <a:t>epidemic</a:t>
            </a:r>
          </a:p>
        </p:txBody>
      </p:sp>
      <p:sp>
        <p:nvSpPr>
          <p:cNvPr id="13" name="TextBox 12"/>
          <p:cNvSpPr txBox="1"/>
          <p:nvPr/>
        </p:nvSpPr>
        <p:spPr>
          <a:xfrm>
            <a:off x="4736592" y="2242108"/>
            <a:ext cx="6742175" cy="611733"/>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Contemporary report; later historical reviews</a:t>
            </a:r>
          </a:p>
        </p:txBody>
      </p:sp>
      <p:sp>
        <p:nvSpPr>
          <p:cNvPr id="14" name="Rectangle 13"/>
          <p:cNvSpPr/>
          <p:nvPr/>
        </p:nvSpPr>
        <p:spPr>
          <a:xfrm>
            <a:off x="585216" y="2874873"/>
            <a:ext cx="11021567" cy="652881"/>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585216" y="2874873"/>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13232" y="2894990"/>
            <a:ext cx="3767328" cy="611733"/>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1977: portable LP3</a:t>
            </a:r>
          </a:p>
        </p:txBody>
      </p:sp>
      <p:sp>
        <p:nvSpPr>
          <p:cNvPr id="17" name="TextBox 16"/>
          <p:cNvSpPr txBox="1"/>
          <p:nvPr/>
        </p:nvSpPr>
        <p:spPr>
          <a:xfrm>
            <a:off x="4736592" y="2894990"/>
            <a:ext cx="6742175" cy="611733"/>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King review; historical FDA reference</a:t>
            </a:r>
          </a:p>
        </p:txBody>
      </p:sp>
      <p:cxnSp>
        <p:nvCxnSpPr>
          <p:cNvPr id="18" name="Connector 17"/>
          <p:cNvCxnSpPr/>
          <p:nvPr/>
        </p:nvCxnSpPr>
        <p:spPr>
          <a:xfrm>
            <a:off x="585216" y="3527755"/>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713232" y="3547871"/>
            <a:ext cx="3767328" cy="611733"/>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1981: nasal CPAP</a:t>
            </a:r>
          </a:p>
        </p:txBody>
      </p:sp>
      <p:sp>
        <p:nvSpPr>
          <p:cNvPr id="20" name="TextBox 19"/>
          <p:cNvSpPr txBox="1"/>
          <p:nvPr/>
        </p:nvSpPr>
        <p:spPr>
          <a:xfrm>
            <a:off x="4736592" y="3547871"/>
            <a:ext cx="6742175" cy="611733"/>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Primary clinical report</a:t>
            </a:r>
          </a:p>
        </p:txBody>
      </p:sp>
      <p:sp>
        <p:nvSpPr>
          <p:cNvPr id="21" name="Rectangle 20"/>
          <p:cNvSpPr/>
          <p:nvPr/>
        </p:nvSpPr>
        <p:spPr>
          <a:xfrm>
            <a:off x="585216" y="4180636"/>
            <a:ext cx="11021567" cy="652881"/>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585216" y="4180636"/>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713232" y="4200753"/>
            <a:ext cx="3767328" cy="611733"/>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1993 / 2006: payment</a:t>
            </a:r>
          </a:p>
          <a:p>
            <a:pPr algn="l">
              <a:lnSpc>
                <a:spcPct val="106000"/>
              </a:lnSpc>
              <a:spcBef>
                <a:spcPts val="0"/>
              </a:spcBef>
              <a:spcAft>
                <a:spcPts val="0"/>
              </a:spcAft>
              <a:defRPr sz="2200" b="1" i="0">
                <a:solidFill>
                  <a:srgbClr val="172326"/>
                </a:solidFill>
                <a:latin typeface="Calibri"/>
              </a:defRPr>
            </a:pPr>
            <a:r>
              <a:t>classification</a:t>
            </a:r>
          </a:p>
        </p:txBody>
      </p:sp>
      <p:sp>
        <p:nvSpPr>
          <p:cNvPr id="24" name="TextBox 23"/>
          <p:cNvSpPr txBox="1"/>
          <p:nvPr/>
        </p:nvSpPr>
        <p:spPr>
          <a:xfrm>
            <a:off x="4736592" y="4200753"/>
            <a:ext cx="6742175" cy="611733"/>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Statute described in contemporaneous final rule</a:t>
            </a:r>
          </a:p>
        </p:txBody>
      </p:sp>
      <p:cxnSp>
        <p:nvCxnSpPr>
          <p:cNvPr id="25" name="Connector 24"/>
          <p:cNvCxnSpPr/>
          <p:nvPr/>
        </p:nvCxnSpPr>
        <p:spPr>
          <a:xfrm>
            <a:off x="585216" y="4833518"/>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713232" y="4853635"/>
            <a:ext cx="3767328" cy="611733"/>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Early polio coverage intent</a:t>
            </a:r>
          </a:p>
        </p:txBody>
      </p:sp>
      <p:sp>
        <p:nvSpPr>
          <p:cNvPr id="27" name="TextBox 26"/>
          <p:cNvSpPr txBox="1"/>
          <p:nvPr/>
        </p:nvSpPr>
        <p:spPr>
          <a:xfrm>
            <a:off x="4736592" y="4853635"/>
            <a:ext cx="6742175" cy="611733"/>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Uncited retrospective account in Gusman–Wolfe</a:t>
            </a:r>
          </a:p>
        </p:txBody>
      </p:sp>
      <p:cxnSp>
        <p:nvCxnSpPr>
          <p:cNvPr id="28" name="Connector 27"/>
          <p:cNvCxnSpPr/>
          <p:nvPr/>
        </p:nvCxnSpPr>
        <p:spPr>
          <a:xfrm>
            <a:off x="585216" y="5486400"/>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29" name="Rectangle 28"/>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1900" b="0" i="0">
                <a:solidFill>
                  <a:srgbClr val="172326"/>
                </a:solidFill>
                <a:latin typeface="Calibri"/>
              </a:defRPr>
            </a:pPr>
            <a:r>
              <a:t>Technology history, coverage history, and proposed policy motives have different evidence bases.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APPENDIX · TECHNOLOGY</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Modes and control strategies</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Locke et al. 2024 [R01] · CMS NCD 240.9 [R16] · R33</a:t>
            </a:r>
          </a:p>
        </p:txBody>
      </p:sp>
      <p:sp>
        <p:nvSpPr>
          <p:cNvPr id="7" name="TextBox 6"/>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BACKUP · A02</a:t>
            </a:r>
          </a:p>
        </p:txBody>
      </p:sp>
      <p:sp>
        <p:nvSpPr>
          <p:cNvPr id="8" name="Rectangle 7"/>
          <p:cNvSpPr/>
          <p:nvPr/>
        </p:nvSpPr>
        <p:spPr>
          <a:xfrm>
            <a:off x="585216" y="1746504"/>
            <a:ext cx="11021567" cy="475488"/>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13232" y="1819656"/>
            <a:ext cx="3767328" cy="365760"/>
          </a:xfrm>
          <a:prstGeom prst="rect">
            <a:avLst/>
          </a:prstGeom>
          <a:noFill/>
        </p:spPr>
        <p:txBody>
          <a:bodyPr wrap="square" lIns="0" rIns="0" tIns="0" bIns="0" anchor="t">
            <a:spAutoFit/>
          </a:bodyPr>
          <a:lstStyle/>
          <a:p>
            <a:pPr algn="l">
              <a:lnSpc>
                <a:spcPct val="106000"/>
              </a:lnSpc>
              <a:spcBef>
                <a:spcPts val="0"/>
              </a:spcBef>
              <a:spcAft>
                <a:spcPts val="0"/>
              </a:spcAft>
              <a:defRPr sz="2000" b="1" i="0">
                <a:solidFill>
                  <a:srgbClr val="172326"/>
                </a:solidFill>
                <a:latin typeface="Calibri"/>
              </a:defRPr>
            </a:pPr>
            <a:r>
              <a:t>Mode or strategy</a:t>
            </a:r>
          </a:p>
        </p:txBody>
      </p:sp>
      <p:sp>
        <p:nvSpPr>
          <p:cNvPr id="10" name="TextBox 9"/>
          <p:cNvSpPr txBox="1"/>
          <p:nvPr/>
        </p:nvSpPr>
        <p:spPr>
          <a:xfrm>
            <a:off x="4736592" y="1819656"/>
            <a:ext cx="6742175" cy="365760"/>
          </a:xfrm>
          <a:prstGeom prst="rect">
            <a:avLst/>
          </a:prstGeom>
          <a:noFill/>
        </p:spPr>
        <p:txBody>
          <a:bodyPr wrap="square" lIns="0" rIns="0" tIns="0" bIns="0" anchor="t">
            <a:spAutoFit/>
          </a:bodyPr>
          <a:lstStyle/>
          <a:p>
            <a:pPr algn="l">
              <a:lnSpc>
                <a:spcPct val="106000"/>
              </a:lnSpc>
              <a:spcBef>
                <a:spcPts val="0"/>
              </a:spcBef>
              <a:spcAft>
                <a:spcPts val="0"/>
              </a:spcAft>
              <a:defRPr sz="2000" b="1" i="0">
                <a:solidFill>
                  <a:srgbClr val="172326"/>
                </a:solidFill>
                <a:latin typeface="Calibri"/>
              </a:defRPr>
            </a:pPr>
            <a:r>
              <a:t>Defining feature</a:t>
            </a:r>
          </a:p>
        </p:txBody>
      </p:sp>
      <p:cxnSp>
        <p:nvCxnSpPr>
          <p:cNvPr id="11" name="Connector 10"/>
          <p:cNvCxnSpPr/>
          <p:nvPr/>
        </p:nvCxnSpPr>
        <p:spPr>
          <a:xfrm>
            <a:off x="585216" y="2221991"/>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713232" y="2242108"/>
            <a:ext cx="3767328" cy="611733"/>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CPAP / APAP</a:t>
            </a:r>
          </a:p>
        </p:txBody>
      </p:sp>
      <p:sp>
        <p:nvSpPr>
          <p:cNvPr id="13" name="TextBox 12"/>
          <p:cNvSpPr txBox="1"/>
          <p:nvPr/>
        </p:nvSpPr>
        <p:spPr>
          <a:xfrm>
            <a:off x="4736592" y="2242108"/>
            <a:ext cx="6742175" cy="611733"/>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One pressure level at a time; APAP adjusts that level</a:t>
            </a:r>
          </a:p>
        </p:txBody>
      </p:sp>
      <p:sp>
        <p:nvSpPr>
          <p:cNvPr id="14" name="Rectangle 13"/>
          <p:cNvSpPr/>
          <p:nvPr/>
        </p:nvSpPr>
        <p:spPr>
          <a:xfrm>
            <a:off x="585216" y="2874873"/>
            <a:ext cx="11021567" cy="652881"/>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585216" y="2874873"/>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13232" y="2894990"/>
            <a:ext cx="3767328" cy="611733"/>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Bilevel S</a:t>
            </a:r>
          </a:p>
        </p:txBody>
      </p:sp>
      <p:sp>
        <p:nvSpPr>
          <p:cNvPr id="17" name="TextBox 16"/>
          <p:cNvSpPr txBox="1"/>
          <p:nvPr/>
        </p:nvSpPr>
        <p:spPr>
          <a:xfrm>
            <a:off x="4736592" y="2894990"/>
            <a:ext cx="6742175" cy="611733"/>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Patient-triggered inspiratory assistance</a:t>
            </a:r>
          </a:p>
        </p:txBody>
      </p:sp>
      <p:cxnSp>
        <p:nvCxnSpPr>
          <p:cNvPr id="18" name="Connector 17"/>
          <p:cNvCxnSpPr/>
          <p:nvPr/>
        </p:nvCxnSpPr>
        <p:spPr>
          <a:xfrm>
            <a:off x="585216" y="3527755"/>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713232" y="3547871"/>
            <a:ext cx="3767328" cy="611733"/>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Bilevel S/T</a:t>
            </a:r>
          </a:p>
        </p:txBody>
      </p:sp>
      <p:sp>
        <p:nvSpPr>
          <p:cNvPr id="20" name="TextBox 19"/>
          <p:cNvSpPr txBox="1"/>
          <p:nvPr/>
        </p:nvSpPr>
        <p:spPr>
          <a:xfrm>
            <a:off x="4736592" y="3547871"/>
            <a:ext cx="6742175" cy="611733"/>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Spontaneous breaths plus timed backup</a:t>
            </a:r>
          </a:p>
        </p:txBody>
      </p:sp>
      <p:sp>
        <p:nvSpPr>
          <p:cNvPr id="21" name="Rectangle 20"/>
          <p:cNvSpPr/>
          <p:nvPr/>
        </p:nvSpPr>
        <p:spPr>
          <a:xfrm>
            <a:off x="585216" y="4180636"/>
            <a:ext cx="11021567" cy="652881"/>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585216" y="4180636"/>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713232" y="4200753"/>
            <a:ext cx="3767328" cy="611733"/>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Volume-assured pressure</a:t>
            </a:r>
          </a:p>
          <a:p>
            <a:pPr algn="l">
              <a:lnSpc>
                <a:spcPct val="106000"/>
              </a:lnSpc>
              <a:spcBef>
                <a:spcPts val="0"/>
              </a:spcBef>
              <a:spcAft>
                <a:spcPts val="0"/>
              </a:spcAft>
              <a:defRPr sz="2200" b="1" i="0">
                <a:solidFill>
                  <a:srgbClr val="172326"/>
                </a:solidFill>
                <a:latin typeface="Calibri"/>
              </a:defRPr>
            </a:pPr>
            <a:r>
              <a:t>support</a:t>
            </a:r>
          </a:p>
        </p:txBody>
      </p:sp>
      <p:sp>
        <p:nvSpPr>
          <p:cNvPr id="24" name="TextBox 23"/>
          <p:cNvSpPr txBox="1"/>
          <p:nvPr/>
        </p:nvSpPr>
        <p:spPr>
          <a:xfrm>
            <a:off x="4736592" y="4200753"/>
            <a:ext cx="6742175" cy="611733"/>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Pressure support adjusts toward a ventilation target</a:t>
            </a:r>
          </a:p>
        </p:txBody>
      </p:sp>
      <p:cxnSp>
        <p:nvCxnSpPr>
          <p:cNvPr id="25" name="Connector 24"/>
          <p:cNvCxnSpPr/>
          <p:nvPr/>
        </p:nvCxnSpPr>
        <p:spPr>
          <a:xfrm>
            <a:off x="585216" y="4833518"/>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713232" y="4853635"/>
            <a:ext cx="3767328" cy="611733"/>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Adaptive servo-ventilation</a:t>
            </a:r>
          </a:p>
        </p:txBody>
      </p:sp>
      <p:sp>
        <p:nvSpPr>
          <p:cNvPr id="27" name="TextBox 26"/>
          <p:cNvSpPr txBox="1"/>
          <p:nvPr/>
        </p:nvSpPr>
        <p:spPr>
          <a:xfrm>
            <a:off x="4736592" y="4853635"/>
            <a:ext cx="6742175" cy="611733"/>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Dynamic support for selected central breathing instability</a:t>
            </a:r>
          </a:p>
        </p:txBody>
      </p:sp>
      <p:cxnSp>
        <p:nvCxnSpPr>
          <p:cNvPr id="28" name="Connector 27"/>
          <p:cNvCxnSpPr/>
          <p:nvPr/>
        </p:nvCxnSpPr>
        <p:spPr>
          <a:xfrm>
            <a:off x="585216" y="5486400"/>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29" name="Rectangle 28"/>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1900" b="0" i="0">
                <a:solidFill>
                  <a:srgbClr val="172326"/>
                </a:solidFill>
                <a:latin typeface="Calibri"/>
              </a:defRPr>
            </a:pPr>
            <a:r>
              <a:t>Mode names do not establish platform capabilities or a payer category.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APPENDIX · NCD 240.9</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COPD RAD: initial coverage detail</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CMS NCD 240.9 [R16] · CMS NCD 240.9 FAQ [R46]</a:t>
            </a:r>
          </a:p>
        </p:txBody>
      </p:sp>
      <p:sp>
        <p:nvSpPr>
          <p:cNvPr id="7" name="TextBox 6"/>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BACKUP · A03</a:t>
            </a:r>
          </a:p>
        </p:txBody>
      </p:sp>
      <p:sp>
        <p:nvSpPr>
          <p:cNvPr id="8" name="Rectangle 7"/>
          <p:cNvSpPr/>
          <p:nvPr/>
        </p:nvSpPr>
        <p:spPr>
          <a:xfrm>
            <a:off x="585216" y="1755648"/>
            <a:ext cx="5346191" cy="3639312"/>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1938528"/>
            <a:ext cx="4943855" cy="804672"/>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Standard initiation</a:t>
            </a:r>
          </a:p>
        </p:txBody>
      </p:sp>
      <p:sp>
        <p:nvSpPr>
          <p:cNvPr id="10" name="TextBox 9"/>
          <p:cNvSpPr txBox="1"/>
          <p:nvPr/>
        </p:nvSpPr>
        <p:spPr>
          <a:xfrm>
            <a:off x="786384" y="2743200"/>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Awake PaCO₂ ≥52 mmHg, prescribed FiO₂</a:t>
            </a:r>
          </a:p>
        </p:txBody>
      </p:sp>
      <p:sp>
        <p:nvSpPr>
          <p:cNvPr id="11" name="TextBox 10"/>
          <p:cNvSpPr txBox="1"/>
          <p:nvPr/>
        </p:nvSpPr>
        <p:spPr>
          <a:xfrm>
            <a:off x="786384" y="3390138"/>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Sleep apnea not predominant</a:t>
            </a:r>
          </a:p>
        </p:txBody>
      </p:sp>
      <p:sp>
        <p:nvSpPr>
          <p:cNvPr id="12" name="TextBox 11"/>
          <p:cNvSpPr txBox="1"/>
          <p:nvPr/>
        </p:nvSpPr>
        <p:spPr>
          <a:xfrm>
            <a:off x="786384" y="4037076"/>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Backup RAD: stability or persistent</a:t>
            </a:r>
          </a:p>
          <a:p>
            <a:pPr algn="l">
              <a:lnSpc>
                <a:spcPct val="106000"/>
              </a:lnSpc>
              <a:spcBef>
                <a:spcPts val="0"/>
              </a:spcBef>
              <a:spcAft>
                <a:spcPts val="0"/>
              </a:spcAft>
              <a:defRPr sz="2150" b="0" i="0">
                <a:solidFill>
                  <a:srgbClr val="253438"/>
                </a:solidFill>
                <a:latin typeface="Calibri"/>
              </a:defRPr>
            </a:pPr>
            <a:r>
              <a:t>post-exacerbation hypercapnia</a:t>
            </a:r>
          </a:p>
        </p:txBody>
      </p:sp>
      <p:sp>
        <p:nvSpPr>
          <p:cNvPr id="13" name="TextBox 12"/>
          <p:cNvSpPr txBox="1"/>
          <p:nvPr/>
        </p:nvSpPr>
        <p:spPr>
          <a:xfrm>
            <a:off x="786384" y="4684014"/>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No-backup RAD: intolerance or medical</a:t>
            </a:r>
          </a:p>
          <a:p>
            <a:pPr algn="l">
              <a:lnSpc>
                <a:spcPct val="106000"/>
              </a:lnSpc>
              <a:spcBef>
                <a:spcPts val="0"/>
              </a:spcBef>
              <a:spcAft>
                <a:spcPts val="0"/>
              </a:spcAft>
              <a:defRPr sz="2150" b="0" i="0">
                <a:solidFill>
                  <a:srgbClr val="253438"/>
                </a:solidFill>
                <a:latin typeface="Calibri"/>
              </a:defRPr>
            </a:pPr>
            <a:r>
              <a:t>inappropriateness</a:t>
            </a:r>
          </a:p>
        </p:txBody>
      </p:sp>
      <p:sp>
        <p:nvSpPr>
          <p:cNvPr id="14" name="Rectangle 13"/>
          <p:cNvSpPr/>
          <p:nvPr/>
        </p:nvSpPr>
        <p:spPr>
          <a:xfrm>
            <a:off x="6260591" y="1755648"/>
            <a:ext cx="5346191" cy="3639312"/>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61759" y="1938528"/>
            <a:ext cx="4943855" cy="804672"/>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Immediate discharge</a:t>
            </a:r>
          </a:p>
        </p:txBody>
      </p:sp>
      <p:sp>
        <p:nvSpPr>
          <p:cNvPr id="16" name="TextBox 15"/>
          <p:cNvSpPr txBox="1"/>
          <p:nvPr/>
        </p:nvSpPr>
        <p:spPr>
          <a:xfrm>
            <a:off x="6461759" y="2743200"/>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Acute-on-chronic respiratory failure due to</a:t>
            </a:r>
          </a:p>
          <a:p>
            <a:pPr algn="l">
              <a:lnSpc>
                <a:spcPct val="106000"/>
              </a:lnSpc>
              <a:spcBef>
                <a:spcPts val="0"/>
              </a:spcBef>
              <a:spcAft>
                <a:spcPts val="0"/>
              </a:spcAft>
              <a:defRPr sz="2150" b="0" i="0">
                <a:solidFill>
                  <a:srgbClr val="253438"/>
                </a:solidFill>
                <a:latin typeface="Calibri"/>
              </a:defRPr>
            </a:pPr>
            <a:r>
              <a:t>COPD</a:t>
            </a:r>
          </a:p>
        </p:txBody>
      </p:sp>
      <p:sp>
        <p:nvSpPr>
          <p:cNvPr id="17" name="TextBox 16"/>
          <p:cNvSpPr txBox="1"/>
          <p:nvPr/>
        </p:nvSpPr>
        <p:spPr>
          <a:xfrm>
            <a:off x="6461759" y="3390138"/>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RAD or ventilator needed within prior 24</a:t>
            </a:r>
          </a:p>
          <a:p>
            <a:pPr algn="l">
              <a:lnSpc>
                <a:spcPct val="106000"/>
              </a:lnSpc>
              <a:spcBef>
                <a:spcPts val="0"/>
              </a:spcBef>
              <a:spcAft>
                <a:spcPts val="0"/>
              </a:spcAft>
              <a:defRPr sz="2150" b="0" i="0">
                <a:solidFill>
                  <a:srgbClr val="253438"/>
                </a:solidFill>
                <a:latin typeface="Calibri"/>
              </a:defRPr>
            </a:pPr>
            <a:r>
              <a:t>hours</a:t>
            </a:r>
          </a:p>
        </p:txBody>
      </p:sp>
      <p:sp>
        <p:nvSpPr>
          <p:cNvPr id="18" name="TextBox 17"/>
          <p:cNvSpPr txBox="1"/>
          <p:nvPr/>
        </p:nvSpPr>
        <p:spPr>
          <a:xfrm>
            <a:off x="6461759" y="4037076"/>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Clinician-assessed risk after discharge</a:t>
            </a:r>
          </a:p>
        </p:txBody>
      </p:sp>
      <p:sp>
        <p:nvSpPr>
          <p:cNvPr id="19" name="TextBox 18"/>
          <p:cNvSpPr txBox="1"/>
          <p:nvPr/>
        </p:nvSpPr>
        <p:spPr>
          <a:xfrm>
            <a:off x="6461759" y="4684014"/>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Separate 6-month initial coverage route</a:t>
            </a:r>
          </a:p>
        </p:txBody>
      </p:sp>
      <p:sp>
        <p:nvSpPr>
          <p:cNvPr id="20" name="Rectangle 19"/>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1900" b="0" i="0">
                <a:solidFill>
                  <a:srgbClr val="172326"/>
                </a:solidFill>
                <a:latin typeface="Calibri"/>
              </a:defRPr>
            </a:pPr>
            <a:r>
              <a:t>Backup-rate high-intensity minimum by 6 months: IPAP ≥15 cm H₂O and rate ≥14/min.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APPENDIX · NCD 240.9</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COPD HMV: initial coverage detail</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CMS NCD 240.9 [R16] · DME MAC coding guidance [R20]</a:t>
            </a:r>
          </a:p>
        </p:txBody>
      </p:sp>
      <p:sp>
        <p:nvSpPr>
          <p:cNvPr id="7" name="TextBox 6"/>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BACKUP · A04</a:t>
            </a:r>
          </a:p>
        </p:txBody>
      </p:sp>
      <p:sp>
        <p:nvSpPr>
          <p:cNvPr id="8" name="Rectangle 7"/>
          <p:cNvSpPr/>
          <p:nvPr/>
        </p:nvSpPr>
        <p:spPr>
          <a:xfrm>
            <a:off x="585216" y="1755648"/>
            <a:ext cx="5346191" cy="3639312"/>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1938528"/>
            <a:ext cx="4943855" cy="804672"/>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Standard route</a:t>
            </a:r>
          </a:p>
        </p:txBody>
      </p:sp>
      <p:sp>
        <p:nvSpPr>
          <p:cNvPr id="10" name="TextBox 9"/>
          <p:cNvSpPr txBox="1"/>
          <p:nvPr/>
        </p:nvSpPr>
        <p:spPr>
          <a:xfrm>
            <a:off x="786384" y="2743200"/>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Volume-targeted mode</a:t>
            </a:r>
          </a:p>
        </p:txBody>
      </p:sp>
      <p:sp>
        <p:nvSpPr>
          <p:cNvPr id="11" name="TextBox 10"/>
          <p:cNvSpPr txBox="1"/>
          <p:nvPr/>
        </p:nvSpPr>
        <p:spPr>
          <a:xfrm>
            <a:off x="786384" y="3390138"/>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Awake PaCO₂ ≥52; sleep apnea not</a:t>
            </a:r>
          </a:p>
          <a:p>
            <a:pPr algn="l">
              <a:lnSpc>
                <a:spcPct val="106000"/>
              </a:lnSpc>
              <a:spcBef>
                <a:spcPts val="0"/>
              </a:spcBef>
              <a:spcAft>
                <a:spcPts val="0"/>
              </a:spcAft>
              <a:defRPr sz="2150" b="0" i="0">
                <a:solidFill>
                  <a:srgbClr val="253438"/>
                </a:solidFill>
                <a:latin typeface="Calibri"/>
              </a:defRPr>
            </a:pPr>
            <a:r>
              <a:t>predominant</a:t>
            </a:r>
          </a:p>
        </p:txBody>
      </p:sp>
      <p:sp>
        <p:nvSpPr>
          <p:cNvPr id="12" name="TextBox 11"/>
          <p:cNvSpPr txBox="1"/>
          <p:nvPr/>
        </p:nvSpPr>
        <p:spPr>
          <a:xfrm>
            <a:off x="786384" y="4037076"/>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At least one additional need</a:t>
            </a:r>
          </a:p>
        </p:txBody>
      </p:sp>
      <p:sp>
        <p:nvSpPr>
          <p:cNvPr id="13" name="TextBox 12"/>
          <p:cNvSpPr txBox="1"/>
          <p:nvPr/>
        </p:nvSpPr>
        <p:spPr>
          <a:xfrm>
            <a:off x="786384" y="4684014"/>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Oxygen, duration, safety, or RAD-capability</a:t>
            </a:r>
          </a:p>
          <a:p>
            <a:pPr algn="l">
              <a:lnSpc>
                <a:spcPct val="106000"/>
              </a:lnSpc>
              <a:spcBef>
                <a:spcPts val="0"/>
              </a:spcBef>
              <a:spcAft>
                <a:spcPts val="0"/>
              </a:spcAft>
              <a:defRPr sz="2150" b="0" i="0">
                <a:solidFill>
                  <a:srgbClr val="253438"/>
                </a:solidFill>
                <a:latin typeface="Calibri"/>
              </a:defRPr>
            </a:pPr>
            <a:r>
              <a:t>criterion</a:t>
            </a:r>
          </a:p>
        </p:txBody>
      </p:sp>
      <p:sp>
        <p:nvSpPr>
          <p:cNvPr id="14" name="Rectangle 13"/>
          <p:cNvSpPr/>
          <p:nvPr/>
        </p:nvSpPr>
        <p:spPr>
          <a:xfrm>
            <a:off x="6260591" y="1755648"/>
            <a:ext cx="5346191" cy="3639312"/>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61759" y="1938528"/>
            <a:ext cx="4943855" cy="804672"/>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Discharge route</a:t>
            </a:r>
          </a:p>
        </p:txBody>
      </p:sp>
      <p:sp>
        <p:nvSpPr>
          <p:cNvPr id="16" name="TextBox 15"/>
          <p:cNvSpPr txBox="1"/>
          <p:nvPr/>
        </p:nvSpPr>
        <p:spPr>
          <a:xfrm>
            <a:off x="6461759" y="2743200"/>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Acute-on-chronic COPD respiratory failure</a:t>
            </a:r>
          </a:p>
        </p:txBody>
      </p:sp>
      <p:sp>
        <p:nvSpPr>
          <p:cNvPr id="17" name="TextBox 16"/>
          <p:cNvSpPr txBox="1"/>
          <p:nvPr/>
        </p:nvSpPr>
        <p:spPr>
          <a:xfrm>
            <a:off x="6461759" y="3390138"/>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Needs exceeded RAD capability</a:t>
            </a:r>
          </a:p>
        </p:txBody>
      </p:sp>
      <p:sp>
        <p:nvSpPr>
          <p:cNvPr id="18" name="TextBox 17"/>
          <p:cNvSpPr txBox="1"/>
          <p:nvPr/>
        </p:nvSpPr>
        <p:spPr>
          <a:xfrm>
            <a:off x="6461759" y="4037076"/>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Ventilator required within prior 24 hours</a:t>
            </a:r>
          </a:p>
        </p:txBody>
      </p:sp>
      <p:sp>
        <p:nvSpPr>
          <p:cNvPr id="19" name="TextBox 18"/>
          <p:cNvSpPr txBox="1"/>
          <p:nvPr/>
        </p:nvSpPr>
        <p:spPr>
          <a:xfrm>
            <a:off x="6461759" y="4684014"/>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Clinician-assessed risk after discharge</a:t>
            </a:r>
          </a:p>
        </p:txBody>
      </p:sp>
      <p:sp>
        <p:nvSpPr>
          <p:cNvPr id="20" name="Rectangle 19"/>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1900" b="0" i="0">
                <a:solidFill>
                  <a:srgbClr val="172326"/>
                </a:solidFill>
                <a:latin typeface="Calibri"/>
              </a:defRPr>
            </a:pPr>
            <a:r>
              <a:t>Standard and discharge pathways have different entry wording; both specify volume-targeted HMV.</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APPENDIX · COVERAGE</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Continuing coverage: three different clocks</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CMS NCD 240.9 [R16] · CMS LCD L33800 [R17] · R18</a:t>
            </a:r>
          </a:p>
        </p:txBody>
      </p:sp>
      <p:sp>
        <p:nvSpPr>
          <p:cNvPr id="7" name="TextBox 6"/>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BACKUP · A05</a:t>
            </a:r>
          </a:p>
        </p:txBody>
      </p:sp>
      <p:sp>
        <p:nvSpPr>
          <p:cNvPr id="8" name="Rectangle 7"/>
          <p:cNvSpPr/>
          <p:nvPr/>
        </p:nvSpPr>
        <p:spPr>
          <a:xfrm>
            <a:off x="585216" y="1746504"/>
            <a:ext cx="11021567" cy="475488"/>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13232" y="1819656"/>
            <a:ext cx="3767328" cy="365760"/>
          </a:xfrm>
          <a:prstGeom prst="rect">
            <a:avLst/>
          </a:prstGeom>
          <a:noFill/>
        </p:spPr>
        <p:txBody>
          <a:bodyPr wrap="square" lIns="0" rIns="0" tIns="0" bIns="0" anchor="t">
            <a:spAutoFit/>
          </a:bodyPr>
          <a:lstStyle/>
          <a:p>
            <a:pPr algn="l">
              <a:lnSpc>
                <a:spcPct val="106000"/>
              </a:lnSpc>
              <a:spcBef>
                <a:spcPts val="0"/>
              </a:spcBef>
              <a:spcAft>
                <a:spcPts val="0"/>
              </a:spcAft>
              <a:defRPr sz="2000" b="1" i="0">
                <a:solidFill>
                  <a:srgbClr val="172326"/>
                </a:solidFill>
                <a:latin typeface="Calibri"/>
              </a:defRPr>
            </a:pPr>
            <a:r>
              <a:t>Pathway</a:t>
            </a:r>
          </a:p>
        </p:txBody>
      </p:sp>
      <p:sp>
        <p:nvSpPr>
          <p:cNvPr id="10" name="TextBox 9"/>
          <p:cNvSpPr txBox="1"/>
          <p:nvPr/>
        </p:nvSpPr>
        <p:spPr>
          <a:xfrm>
            <a:off x="4736592" y="1819656"/>
            <a:ext cx="6742175" cy="365760"/>
          </a:xfrm>
          <a:prstGeom prst="rect">
            <a:avLst/>
          </a:prstGeom>
          <a:noFill/>
        </p:spPr>
        <p:txBody>
          <a:bodyPr wrap="square" lIns="0" rIns="0" tIns="0" bIns="0" anchor="t">
            <a:spAutoFit/>
          </a:bodyPr>
          <a:lstStyle/>
          <a:p>
            <a:pPr algn="l">
              <a:lnSpc>
                <a:spcPct val="106000"/>
              </a:lnSpc>
              <a:spcBef>
                <a:spcPts val="0"/>
              </a:spcBef>
              <a:spcAft>
                <a:spcPts val="0"/>
              </a:spcAft>
              <a:defRPr sz="2000" b="1" i="0">
                <a:solidFill>
                  <a:srgbClr val="172326"/>
                </a:solidFill>
                <a:latin typeface="Calibri"/>
              </a:defRPr>
            </a:pPr>
            <a:r>
              <a:t>Evaluation and use requirements</a:t>
            </a:r>
          </a:p>
        </p:txBody>
      </p:sp>
      <p:cxnSp>
        <p:nvCxnSpPr>
          <p:cNvPr id="11" name="Connector 10"/>
          <p:cNvCxnSpPr/>
          <p:nvPr/>
        </p:nvCxnSpPr>
        <p:spPr>
          <a:xfrm>
            <a:off x="585216" y="2221991"/>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713232" y="2242108"/>
            <a:ext cx="3767328" cy="611733"/>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OSA PAP</a:t>
            </a:r>
          </a:p>
        </p:txBody>
      </p:sp>
      <p:sp>
        <p:nvSpPr>
          <p:cNvPr id="13" name="TextBox 12"/>
          <p:cNvSpPr txBox="1"/>
          <p:nvPr/>
        </p:nvSpPr>
        <p:spPr>
          <a:xfrm>
            <a:off x="4736592" y="2242108"/>
            <a:ext cx="6742175" cy="611733"/>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Day 31–91 reassessment; ≥4 h on ≥70% of nights in a</a:t>
            </a:r>
          </a:p>
          <a:p>
            <a:pPr algn="l">
              <a:lnSpc>
                <a:spcPct val="106000"/>
              </a:lnSpc>
              <a:spcBef>
                <a:spcPts val="0"/>
              </a:spcBef>
              <a:spcAft>
                <a:spcPts val="0"/>
              </a:spcAft>
              <a:defRPr sz="2200" b="0" i="0">
                <a:solidFill>
                  <a:srgbClr val="253438"/>
                </a:solidFill>
                <a:latin typeface="Calibri"/>
              </a:defRPr>
            </a:pPr>
            <a:r>
              <a:t>30-day period</a:t>
            </a:r>
          </a:p>
        </p:txBody>
      </p:sp>
      <p:sp>
        <p:nvSpPr>
          <p:cNvPr id="14" name="Rectangle 13"/>
          <p:cNvSpPr/>
          <p:nvPr/>
        </p:nvSpPr>
        <p:spPr>
          <a:xfrm>
            <a:off x="585216" y="2874873"/>
            <a:ext cx="11021567" cy="652881"/>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585216" y="2874873"/>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13232" y="2894990"/>
            <a:ext cx="3767328" cy="611733"/>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Non-COPD RAD</a:t>
            </a:r>
          </a:p>
        </p:txBody>
      </p:sp>
      <p:sp>
        <p:nvSpPr>
          <p:cNvPr id="17" name="TextBox 16"/>
          <p:cNvSpPr txBox="1"/>
          <p:nvPr/>
        </p:nvSpPr>
        <p:spPr>
          <a:xfrm>
            <a:off x="4736592" y="2894990"/>
            <a:ext cx="6742175" cy="611733"/>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Reevaluation no sooner than day 61; benefit and average</a:t>
            </a:r>
          </a:p>
          <a:p>
            <a:pPr algn="l">
              <a:lnSpc>
                <a:spcPct val="106000"/>
              </a:lnSpc>
              <a:spcBef>
                <a:spcPts val="0"/>
              </a:spcBef>
              <a:spcAft>
                <a:spcPts val="0"/>
              </a:spcAft>
              <a:defRPr sz="2200" b="0" i="0">
                <a:solidFill>
                  <a:srgbClr val="253438"/>
                </a:solidFill>
                <a:latin typeface="Calibri"/>
              </a:defRPr>
            </a:pPr>
            <a:r>
              <a:t>≥4 h/day</a:t>
            </a:r>
          </a:p>
        </p:txBody>
      </p:sp>
      <p:cxnSp>
        <p:nvCxnSpPr>
          <p:cNvPr id="18" name="Connector 17"/>
          <p:cNvCxnSpPr/>
          <p:nvPr/>
        </p:nvCxnSpPr>
        <p:spPr>
          <a:xfrm>
            <a:off x="585216" y="3527755"/>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713232" y="3547871"/>
            <a:ext cx="3767328" cy="611733"/>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COPD RAD</a:t>
            </a:r>
          </a:p>
        </p:txBody>
      </p:sp>
      <p:sp>
        <p:nvSpPr>
          <p:cNvPr id="20" name="TextBox 19"/>
          <p:cNvSpPr txBox="1"/>
          <p:nvPr/>
        </p:nvSpPr>
        <p:spPr>
          <a:xfrm>
            <a:off x="4736592" y="3547871"/>
            <a:ext cx="6742175" cy="611733"/>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By 6 months: use threshold plus ≥1 CO₂ or symptom</a:t>
            </a:r>
          </a:p>
          <a:p>
            <a:pPr algn="l">
              <a:lnSpc>
                <a:spcPct val="106000"/>
              </a:lnSpc>
              <a:spcBef>
                <a:spcPts val="0"/>
              </a:spcBef>
              <a:spcAft>
                <a:spcPts val="0"/>
              </a:spcAft>
              <a:defRPr sz="2200" b="0" i="0">
                <a:solidFill>
                  <a:srgbClr val="253438"/>
                </a:solidFill>
                <a:latin typeface="Calibri"/>
              </a:defRPr>
            </a:pPr>
            <a:r>
              <a:t>outcome</a:t>
            </a:r>
          </a:p>
        </p:txBody>
      </p:sp>
      <p:sp>
        <p:nvSpPr>
          <p:cNvPr id="21" name="Rectangle 20"/>
          <p:cNvSpPr/>
          <p:nvPr/>
        </p:nvSpPr>
        <p:spPr>
          <a:xfrm>
            <a:off x="585216" y="4180636"/>
            <a:ext cx="11021567" cy="652881"/>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585216" y="4180636"/>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713232" y="4200753"/>
            <a:ext cx="3767328" cy="611733"/>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COPD HMV</a:t>
            </a:r>
          </a:p>
        </p:txBody>
      </p:sp>
      <p:sp>
        <p:nvSpPr>
          <p:cNvPr id="24" name="TextBox 23"/>
          <p:cNvSpPr txBox="1"/>
          <p:nvPr/>
        </p:nvSpPr>
        <p:spPr>
          <a:xfrm>
            <a:off x="4736592" y="4200753"/>
            <a:ext cx="6742175" cy="611733"/>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By 6 months: use threshold; no parallel outcome list</a:t>
            </a:r>
          </a:p>
        </p:txBody>
      </p:sp>
      <p:cxnSp>
        <p:nvCxnSpPr>
          <p:cNvPr id="25" name="Connector 24"/>
          <p:cNvCxnSpPr/>
          <p:nvPr/>
        </p:nvCxnSpPr>
        <p:spPr>
          <a:xfrm>
            <a:off x="585216" y="4833518"/>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713232" y="4853635"/>
            <a:ext cx="3767328" cy="611733"/>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COPD RAD / HMV</a:t>
            </a:r>
          </a:p>
        </p:txBody>
      </p:sp>
      <p:sp>
        <p:nvSpPr>
          <p:cNvPr id="27" name="TextBox 26"/>
          <p:cNvSpPr txBox="1"/>
          <p:nvPr/>
        </p:nvSpPr>
        <p:spPr>
          <a:xfrm>
            <a:off x="4736592" y="4853635"/>
            <a:ext cx="6742175" cy="611733"/>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Months 7–12 and later: monthly continuing-use</a:t>
            </a:r>
          </a:p>
          <a:p>
            <a:pPr algn="l">
              <a:lnSpc>
                <a:spcPct val="106000"/>
              </a:lnSpc>
              <a:spcBef>
                <a:spcPts val="0"/>
              </a:spcBef>
              <a:spcAft>
                <a:spcPts val="0"/>
              </a:spcAft>
              <a:defRPr sz="2200" b="0" i="0">
                <a:solidFill>
                  <a:srgbClr val="253438"/>
                </a:solidFill>
                <a:latin typeface="Calibri"/>
              </a:defRPr>
            </a:pPr>
            <a:r>
              <a:t>requirements</a:t>
            </a:r>
          </a:p>
        </p:txBody>
      </p:sp>
      <p:cxnSp>
        <p:nvCxnSpPr>
          <p:cNvPr id="28" name="Connector 27"/>
          <p:cNvCxnSpPr/>
          <p:nvPr/>
        </p:nvCxnSpPr>
        <p:spPr>
          <a:xfrm>
            <a:off x="585216" y="5486400"/>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29" name="Rectangle 28"/>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1900" b="0" i="0">
                <a:solidFill>
                  <a:srgbClr val="172326"/>
                </a:solidFill>
                <a:latin typeface="Calibri"/>
              </a:defRPr>
            </a:pPr>
            <a:r>
              <a:t>The familiar OSA adherence window is not a universal rule for every home-ventilation pathway.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APPENDIX · NCD 240.4 / LCD L33718</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OSA PAP: diagnostic and coverage details</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CMS NCD 240.4 [R44] · CMS LCD L33718 [R18] · R24</a:t>
            </a:r>
          </a:p>
        </p:txBody>
      </p:sp>
      <p:sp>
        <p:nvSpPr>
          <p:cNvPr id="7" name="TextBox 6"/>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BACKUP · A06</a:t>
            </a:r>
          </a:p>
        </p:txBody>
      </p:sp>
      <p:sp>
        <p:nvSpPr>
          <p:cNvPr id="8" name="Rectangle 7"/>
          <p:cNvSpPr/>
          <p:nvPr/>
        </p:nvSpPr>
        <p:spPr>
          <a:xfrm>
            <a:off x="585216" y="1755648"/>
            <a:ext cx="5346191" cy="3639312"/>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1938528"/>
            <a:ext cx="4943855" cy="804672"/>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Initial evidence</a:t>
            </a:r>
          </a:p>
        </p:txBody>
      </p:sp>
      <p:sp>
        <p:nvSpPr>
          <p:cNvPr id="10" name="TextBox 9"/>
          <p:cNvSpPr txBox="1"/>
          <p:nvPr/>
        </p:nvSpPr>
        <p:spPr>
          <a:xfrm>
            <a:off x="786384" y="2743200"/>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Clinical evaluation and qualifying sleep test</a:t>
            </a:r>
          </a:p>
        </p:txBody>
      </p:sp>
      <p:sp>
        <p:nvSpPr>
          <p:cNvPr id="11" name="TextBox 10"/>
          <p:cNvSpPr txBox="1"/>
          <p:nvPr/>
        </p:nvSpPr>
        <p:spPr>
          <a:xfrm>
            <a:off x="786384" y="3390138"/>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AHI/RDI ≥15, or 5–14 with specified</a:t>
            </a:r>
          </a:p>
          <a:p>
            <a:pPr algn="l">
              <a:lnSpc>
                <a:spcPct val="106000"/>
              </a:lnSpc>
              <a:spcBef>
                <a:spcPts val="0"/>
              </a:spcBef>
              <a:spcAft>
                <a:spcPts val="0"/>
              </a:spcAft>
              <a:defRPr sz="2150" b="0" i="0">
                <a:solidFill>
                  <a:srgbClr val="253438"/>
                </a:solidFill>
                <a:latin typeface="Calibri"/>
              </a:defRPr>
            </a:pPr>
            <a:r>
              <a:t>findings</a:t>
            </a:r>
          </a:p>
        </p:txBody>
      </p:sp>
      <p:sp>
        <p:nvSpPr>
          <p:cNvPr id="12" name="TextBox 11"/>
          <p:cNvSpPr txBox="1"/>
          <p:nvPr/>
        </p:nvSpPr>
        <p:spPr>
          <a:xfrm>
            <a:off x="786384" y="4037076"/>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Medicare hypopnea definition: ≥4%</a:t>
            </a:r>
          </a:p>
          <a:p>
            <a:pPr algn="l">
              <a:lnSpc>
                <a:spcPct val="106000"/>
              </a:lnSpc>
              <a:spcBef>
                <a:spcPts val="0"/>
              </a:spcBef>
              <a:spcAft>
                <a:spcPts val="0"/>
              </a:spcAft>
              <a:defRPr sz="2150" b="0" i="0">
                <a:solidFill>
                  <a:srgbClr val="253438"/>
                </a:solidFill>
                <a:latin typeface="Calibri"/>
              </a:defRPr>
            </a:pPr>
            <a:r>
              <a:t>desaturation</a:t>
            </a:r>
          </a:p>
        </p:txBody>
      </p:sp>
      <p:sp>
        <p:nvSpPr>
          <p:cNvPr id="13" name="TextBox 12"/>
          <p:cNvSpPr txBox="1"/>
          <p:nvPr/>
        </p:nvSpPr>
        <p:spPr>
          <a:xfrm>
            <a:off x="786384" y="4684014"/>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Initial national coverage period: 12 weeks</a:t>
            </a:r>
          </a:p>
        </p:txBody>
      </p:sp>
      <p:sp>
        <p:nvSpPr>
          <p:cNvPr id="14" name="Rectangle 13"/>
          <p:cNvSpPr/>
          <p:nvPr/>
        </p:nvSpPr>
        <p:spPr>
          <a:xfrm>
            <a:off x="6260591" y="1755648"/>
            <a:ext cx="5346191" cy="3639312"/>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61759" y="1938528"/>
            <a:ext cx="4943855" cy="804672"/>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Device and continuation</a:t>
            </a:r>
          </a:p>
        </p:txBody>
      </p:sp>
      <p:sp>
        <p:nvSpPr>
          <p:cNvPr id="16" name="TextBox 15"/>
          <p:cNvSpPr txBox="1"/>
          <p:nvPr/>
        </p:nvSpPr>
        <p:spPr>
          <a:xfrm>
            <a:off x="6461759" y="2743200"/>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E0601: CPAP/APAP</a:t>
            </a:r>
          </a:p>
        </p:txBody>
      </p:sp>
      <p:sp>
        <p:nvSpPr>
          <p:cNvPr id="17" name="TextBox 16"/>
          <p:cNvSpPr txBox="1"/>
          <p:nvPr/>
        </p:nvSpPr>
        <p:spPr>
          <a:xfrm>
            <a:off x="6461759" y="3390138"/>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E0470: E0601 tried and ineffective</a:t>
            </a:r>
          </a:p>
        </p:txBody>
      </p:sp>
      <p:sp>
        <p:nvSpPr>
          <p:cNvPr id="18" name="TextBox 17"/>
          <p:cNvSpPr txBox="1"/>
          <p:nvPr/>
        </p:nvSpPr>
        <p:spPr>
          <a:xfrm>
            <a:off x="6461759" y="4037076"/>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E0471: not covered for primary OSA</a:t>
            </a:r>
          </a:p>
        </p:txBody>
      </p:sp>
      <p:sp>
        <p:nvSpPr>
          <p:cNvPr id="19" name="TextBox 18"/>
          <p:cNvSpPr txBox="1"/>
          <p:nvPr/>
        </p:nvSpPr>
        <p:spPr>
          <a:xfrm>
            <a:off x="6461759" y="4684014"/>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Clinical benefit plus defined adherence</a:t>
            </a:r>
          </a:p>
          <a:p>
            <a:pPr algn="l">
              <a:lnSpc>
                <a:spcPct val="106000"/>
              </a:lnSpc>
              <a:spcBef>
                <a:spcPts val="0"/>
              </a:spcBef>
              <a:spcAft>
                <a:spcPts val="0"/>
              </a:spcAft>
              <a:defRPr sz="2150" b="0" i="0">
                <a:solidFill>
                  <a:srgbClr val="253438"/>
                </a:solidFill>
                <a:latin typeface="Calibri"/>
              </a:defRPr>
            </a:pPr>
            <a:r>
              <a:t>window</a:t>
            </a:r>
          </a:p>
        </p:txBody>
      </p:sp>
      <p:sp>
        <p:nvSpPr>
          <p:cNvPr id="20" name="Rectangle 19"/>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1900" b="0" i="0">
                <a:solidFill>
                  <a:srgbClr val="172326"/>
                </a:solidFill>
                <a:latin typeface="Calibri"/>
              </a:defRPr>
            </a:pPr>
            <a:r>
              <a:t>PAP in the OSA policy includes E0601 and qualifying E0470 equipment.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APPENDIX · LCD L33800</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Non-COPD RAD: restrictive and hypoventilation routes</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CMS LCD L33800 [R17] · CHEST NMD 2023 [R27]</a:t>
            </a:r>
          </a:p>
        </p:txBody>
      </p:sp>
      <p:sp>
        <p:nvSpPr>
          <p:cNvPr id="7" name="TextBox 6"/>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BACKUP · A07</a:t>
            </a:r>
          </a:p>
        </p:txBody>
      </p:sp>
      <p:sp>
        <p:nvSpPr>
          <p:cNvPr id="8" name="Rectangle 7"/>
          <p:cNvSpPr/>
          <p:nvPr/>
        </p:nvSpPr>
        <p:spPr>
          <a:xfrm>
            <a:off x="585216" y="1755648"/>
            <a:ext cx="5346191" cy="3639312"/>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1938528"/>
            <a:ext cx="4943855" cy="804672"/>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Restrictive thoracic / NMD</a:t>
            </a:r>
          </a:p>
        </p:txBody>
      </p:sp>
      <p:sp>
        <p:nvSpPr>
          <p:cNvPr id="10" name="TextBox 9"/>
          <p:cNvSpPr txBox="1"/>
          <p:nvPr/>
        </p:nvSpPr>
        <p:spPr>
          <a:xfrm>
            <a:off x="786384" y="2743200"/>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Appropriate diagnosis; COPD not</a:t>
            </a:r>
          </a:p>
          <a:p>
            <a:pPr algn="l">
              <a:lnSpc>
                <a:spcPct val="106000"/>
              </a:lnSpc>
              <a:spcBef>
                <a:spcPts val="0"/>
              </a:spcBef>
              <a:spcAft>
                <a:spcPts val="0"/>
              </a:spcAft>
              <a:defRPr sz="2150" b="0" i="0">
                <a:solidFill>
                  <a:srgbClr val="253438"/>
                </a:solidFill>
                <a:latin typeface="Calibri"/>
              </a:defRPr>
            </a:pPr>
            <a:r>
              <a:t>significant</a:t>
            </a:r>
          </a:p>
        </p:txBody>
      </p:sp>
      <p:sp>
        <p:nvSpPr>
          <p:cNvPr id="11" name="TextBox 10"/>
          <p:cNvSpPr txBox="1"/>
          <p:nvPr/>
        </p:nvSpPr>
        <p:spPr>
          <a:xfrm>
            <a:off x="786384" y="3390138"/>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PaCO₂ ≥45 OR qualifying nocturnal</a:t>
            </a:r>
          </a:p>
          <a:p>
            <a:pPr algn="l">
              <a:lnSpc>
                <a:spcPct val="106000"/>
              </a:lnSpc>
              <a:spcBef>
                <a:spcPts val="0"/>
              </a:spcBef>
              <a:spcAft>
                <a:spcPts val="0"/>
              </a:spcAft>
              <a:defRPr sz="2150" b="0" i="0">
                <a:solidFill>
                  <a:srgbClr val="253438"/>
                </a:solidFill>
                <a:latin typeface="Calibri"/>
              </a:defRPr>
            </a:pPr>
            <a:r>
              <a:t>desaturation</a:t>
            </a:r>
          </a:p>
        </p:txBody>
      </p:sp>
      <p:sp>
        <p:nvSpPr>
          <p:cNvPr id="12" name="TextBox 11"/>
          <p:cNvSpPr txBox="1"/>
          <p:nvPr/>
        </p:nvSpPr>
        <p:spPr>
          <a:xfrm>
            <a:off x="786384" y="4037076"/>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NMD alternative: MIP &lt;60 or FVC &lt;50%</a:t>
            </a:r>
          </a:p>
        </p:txBody>
      </p:sp>
      <p:sp>
        <p:nvSpPr>
          <p:cNvPr id="13" name="TextBox 12"/>
          <p:cNvSpPr txBox="1"/>
          <p:nvPr/>
        </p:nvSpPr>
        <p:spPr>
          <a:xfrm>
            <a:off x="786384" y="4684014"/>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Either E0470 or E0471</a:t>
            </a:r>
          </a:p>
        </p:txBody>
      </p:sp>
      <p:sp>
        <p:nvSpPr>
          <p:cNvPr id="14" name="Rectangle 13"/>
          <p:cNvSpPr/>
          <p:nvPr/>
        </p:nvSpPr>
        <p:spPr>
          <a:xfrm>
            <a:off x="6260591" y="1755648"/>
            <a:ext cx="5346191" cy="3639312"/>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61759" y="1938528"/>
            <a:ext cx="4943855" cy="804672"/>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Hypoventilation syndrome</a:t>
            </a:r>
          </a:p>
        </p:txBody>
      </p:sp>
      <p:sp>
        <p:nvSpPr>
          <p:cNvPr id="16" name="TextBox 15"/>
          <p:cNvSpPr txBox="1"/>
          <p:nvPr/>
        </p:nvSpPr>
        <p:spPr>
          <a:xfrm>
            <a:off x="6461759" y="2743200"/>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Awake PaCO₂ ≥45 and FEV₁/FVC ≥70%</a:t>
            </a:r>
          </a:p>
        </p:txBody>
      </p:sp>
      <p:sp>
        <p:nvSpPr>
          <p:cNvPr id="17" name="TextBox 16"/>
          <p:cNvSpPr txBox="1"/>
          <p:nvPr/>
        </p:nvSpPr>
        <p:spPr>
          <a:xfrm>
            <a:off x="6461759" y="3390138"/>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Additional sleep/waking gas or</a:t>
            </a:r>
          </a:p>
          <a:p>
            <a:pPr algn="l">
              <a:lnSpc>
                <a:spcPct val="106000"/>
              </a:lnSpc>
              <a:spcBef>
                <a:spcPts val="0"/>
              </a:spcBef>
              <a:spcAft>
                <a:spcPts val="0"/>
              </a:spcAft>
              <a:defRPr sz="2150" b="0" i="0">
                <a:solidFill>
                  <a:srgbClr val="253438"/>
                </a:solidFill>
                <a:latin typeface="Calibri"/>
              </a:defRPr>
            </a:pPr>
            <a:r>
              <a:t>nonobstructive desaturation finding</a:t>
            </a:r>
          </a:p>
        </p:txBody>
      </p:sp>
      <p:sp>
        <p:nvSpPr>
          <p:cNvPr id="18" name="TextBox 17"/>
          <p:cNvSpPr txBox="1"/>
          <p:nvPr/>
        </p:nvSpPr>
        <p:spPr>
          <a:xfrm>
            <a:off x="6461759" y="4037076"/>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E0471 has a covered-E0470 step-up</a:t>
            </a:r>
          </a:p>
          <a:p>
            <a:pPr algn="l">
              <a:lnSpc>
                <a:spcPct val="106000"/>
              </a:lnSpc>
              <a:spcBef>
                <a:spcPts val="0"/>
              </a:spcBef>
              <a:spcAft>
                <a:spcPts val="0"/>
              </a:spcAft>
              <a:defRPr sz="2150" b="0" i="0">
                <a:solidFill>
                  <a:srgbClr val="253438"/>
                </a:solidFill>
                <a:latin typeface="Calibri"/>
              </a:defRPr>
            </a:pPr>
            <a:r>
              <a:t>structure</a:t>
            </a:r>
          </a:p>
        </p:txBody>
      </p:sp>
      <p:sp>
        <p:nvSpPr>
          <p:cNvPr id="19" name="TextBox 18"/>
          <p:cNvSpPr txBox="1"/>
          <p:nvPr/>
        </p:nvSpPr>
        <p:spPr>
          <a:xfrm>
            <a:off x="6461759" y="4684014"/>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Symptoms and full documentation apply</a:t>
            </a:r>
          </a:p>
        </p:txBody>
      </p:sp>
      <p:sp>
        <p:nvSpPr>
          <p:cNvPr id="20" name="Rectangle 19"/>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1900" b="0" i="0">
                <a:solidFill>
                  <a:srgbClr val="172326"/>
                </a:solidFill>
                <a:latin typeface="Calibri"/>
              </a:defRPr>
            </a:pPr>
            <a:r>
              <a:t>The NMD muscle-strength and FVC alternatives do not require an elevated daytime PaCO₂.</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APPENDIX · CSA</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Central apnea: coverage and clinical guidance</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CMS LCD L33800 [R17] · AASM CSA 2025 [R33]</a:t>
            </a:r>
          </a:p>
        </p:txBody>
      </p:sp>
      <p:sp>
        <p:nvSpPr>
          <p:cNvPr id="7" name="TextBox 6"/>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BACKUP · A08</a:t>
            </a:r>
          </a:p>
        </p:txBody>
      </p:sp>
      <p:sp>
        <p:nvSpPr>
          <p:cNvPr id="8" name="Rectangle 7"/>
          <p:cNvSpPr/>
          <p:nvPr/>
        </p:nvSpPr>
        <p:spPr>
          <a:xfrm>
            <a:off x="585216" y="1755648"/>
            <a:ext cx="5346191" cy="3639312"/>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1938528"/>
            <a:ext cx="4943855" cy="804672"/>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LCD coverage</a:t>
            </a:r>
          </a:p>
        </p:txBody>
      </p:sp>
      <p:sp>
        <p:nvSpPr>
          <p:cNvPr id="10" name="TextBox 9"/>
          <p:cNvSpPr txBox="1"/>
          <p:nvPr/>
        </p:nvSpPr>
        <p:spPr>
          <a:xfrm>
            <a:off x="786384" y="2743200"/>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Attended facility polysomnography</a:t>
            </a:r>
          </a:p>
        </p:txBody>
      </p:sp>
      <p:sp>
        <p:nvSpPr>
          <p:cNvPr id="11" name="TextBox 10"/>
          <p:cNvSpPr txBox="1"/>
          <p:nvPr/>
        </p:nvSpPr>
        <p:spPr>
          <a:xfrm>
            <a:off x="786384" y="3390138"/>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AHI and CAHI ≥5; central events &gt;50%</a:t>
            </a:r>
          </a:p>
        </p:txBody>
      </p:sp>
      <p:sp>
        <p:nvSpPr>
          <p:cNvPr id="12" name="TextBox 11"/>
          <p:cNvSpPr txBox="1"/>
          <p:nvPr/>
        </p:nvSpPr>
        <p:spPr>
          <a:xfrm>
            <a:off x="786384" y="4037076"/>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CSA definition excludes hypoventilation</a:t>
            </a:r>
          </a:p>
        </p:txBody>
      </p:sp>
      <p:sp>
        <p:nvSpPr>
          <p:cNvPr id="13" name="TextBox 12"/>
          <p:cNvSpPr txBox="1"/>
          <p:nvPr/>
        </p:nvSpPr>
        <p:spPr>
          <a:xfrm>
            <a:off x="786384" y="4684014"/>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Qualifying response on prescribed settings</a:t>
            </a:r>
          </a:p>
        </p:txBody>
      </p:sp>
      <p:sp>
        <p:nvSpPr>
          <p:cNvPr id="14" name="Rectangle 13"/>
          <p:cNvSpPr/>
          <p:nvPr/>
        </p:nvSpPr>
        <p:spPr>
          <a:xfrm>
            <a:off x="6260591" y="1755648"/>
            <a:ext cx="5346191" cy="3639312"/>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461759" y="1938528"/>
            <a:ext cx="4943855" cy="804672"/>
          </a:xfrm>
          <a:prstGeom prst="rect">
            <a:avLst/>
          </a:prstGeom>
          <a:noFill/>
        </p:spPr>
        <p:txBody>
          <a:bodyPr wrap="square" lIns="0" rIns="0" tIns="0" bIns="0" anchor="t">
            <a:spAutoFit/>
          </a:bodyPr>
          <a:lstStyle/>
          <a:p>
            <a:pPr algn="l">
              <a:lnSpc>
                <a:spcPct val="106000"/>
              </a:lnSpc>
              <a:spcBef>
                <a:spcPts val="0"/>
              </a:spcBef>
              <a:spcAft>
                <a:spcPts val="0"/>
              </a:spcAft>
              <a:defRPr sz="2600" b="1" i="0">
                <a:solidFill>
                  <a:srgbClr val="172326"/>
                </a:solidFill>
                <a:latin typeface="Calibri"/>
              </a:defRPr>
            </a:pPr>
            <a:r>
              <a:t>2025 AASM guidance</a:t>
            </a:r>
          </a:p>
        </p:txBody>
      </p:sp>
      <p:sp>
        <p:nvSpPr>
          <p:cNvPr id="16" name="TextBox 15"/>
          <p:cNvSpPr txBox="1"/>
          <p:nvPr/>
        </p:nvSpPr>
        <p:spPr>
          <a:xfrm>
            <a:off x="6461759" y="2743200"/>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Etiology-specific CPAP, backup bilevel, or</a:t>
            </a:r>
          </a:p>
          <a:p>
            <a:pPr algn="l">
              <a:lnSpc>
                <a:spcPct val="106000"/>
              </a:lnSpc>
              <a:spcBef>
                <a:spcPts val="0"/>
              </a:spcBef>
              <a:spcAft>
                <a:spcPts val="0"/>
              </a:spcAft>
              <a:defRPr sz="2150" b="0" i="0">
                <a:solidFill>
                  <a:srgbClr val="253438"/>
                </a:solidFill>
                <a:latin typeface="Calibri"/>
              </a:defRPr>
            </a:pPr>
            <a:r>
              <a:t>ASV</a:t>
            </a:r>
          </a:p>
        </p:txBody>
      </p:sp>
      <p:sp>
        <p:nvSpPr>
          <p:cNvPr id="17" name="TextBox 16"/>
          <p:cNvSpPr txBox="1"/>
          <p:nvPr/>
        </p:nvSpPr>
        <p:spPr>
          <a:xfrm>
            <a:off x="6461759" y="3390138"/>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Bilevel without backup suggested against</a:t>
            </a:r>
          </a:p>
        </p:txBody>
      </p:sp>
      <p:sp>
        <p:nvSpPr>
          <p:cNvPr id="18" name="TextBox 17"/>
          <p:cNvSpPr txBox="1"/>
          <p:nvPr/>
        </p:nvSpPr>
        <p:spPr>
          <a:xfrm>
            <a:off x="6461759" y="4037076"/>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HFrEF ASV: experienced-center monitoring</a:t>
            </a:r>
          </a:p>
        </p:txBody>
      </p:sp>
      <p:sp>
        <p:nvSpPr>
          <p:cNvPr id="19" name="TextBox 18"/>
          <p:cNvSpPr txBox="1"/>
          <p:nvPr/>
        </p:nvSpPr>
        <p:spPr>
          <a:xfrm>
            <a:off x="6461759" y="4684014"/>
            <a:ext cx="4943855" cy="619506"/>
          </a:xfrm>
          <a:prstGeom prst="rect">
            <a:avLst/>
          </a:prstGeom>
          <a:noFill/>
        </p:spPr>
        <p:txBody>
          <a:bodyPr wrap="square" lIns="0" rIns="0" tIns="0" bIns="0" anchor="t">
            <a:spAutoFit/>
          </a:bodyPr>
          <a:lstStyle/>
          <a:p>
            <a:pPr algn="l">
              <a:lnSpc>
                <a:spcPct val="106000"/>
              </a:lnSpc>
              <a:spcBef>
                <a:spcPts val="0"/>
              </a:spcBef>
              <a:spcAft>
                <a:spcPts val="0"/>
              </a:spcAft>
              <a:defRPr sz="2150" b="0" i="0">
                <a:solidFill>
                  <a:srgbClr val="253438"/>
                </a:solidFill>
                <a:latin typeface="Calibri"/>
              </a:defRPr>
            </a:pPr>
            <a:r>
              <a:t>Clinical recommendations differ from code</a:t>
            </a:r>
          </a:p>
          <a:p>
            <a:pPr algn="l">
              <a:lnSpc>
                <a:spcPct val="106000"/>
              </a:lnSpc>
              <a:spcBef>
                <a:spcPts val="0"/>
              </a:spcBef>
              <a:spcAft>
                <a:spcPts val="0"/>
              </a:spcAft>
              <a:defRPr sz="2150" b="0" i="0">
                <a:solidFill>
                  <a:srgbClr val="253438"/>
                </a:solidFill>
                <a:latin typeface="Calibri"/>
              </a:defRPr>
            </a:pPr>
            <a:r>
              <a:t>eligibility</a:t>
            </a:r>
          </a:p>
        </p:txBody>
      </p:sp>
      <p:sp>
        <p:nvSpPr>
          <p:cNvPr id="20" name="Rectangle 19"/>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1900" b="0" i="0">
                <a:solidFill>
                  <a:srgbClr val="172326"/>
                </a:solidFill>
                <a:latin typeface="Calibri"/>
              </a:defRPr>
            </a:pPr>
            <a:r>
              <a:t>Either E0470 or E0471 may satisfy the LCD; that permission is not a recommendation for every mode.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APPENDIX · CLINICAL EVIDENCE</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COPD trial comparison</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Köhnlein et al. 2014 [R30] · Struik et al. 2014 [R31] · R32, R26</a:t>
            </a:r>
          </a:p>
        </p:txBody>
      </p:sp>
      <p:sp>
        <p:nvSpPr>
          <p:cNvPr id="7" name="TextBox 6"/>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BACKUP · A09</a:t>
            </a:r>
          </a:p>
        </p:txBody>
      </p:sp>
      <p:sp>
        <p:nvSpPr>
          <p:cNvPr id="8" name="Rectangle 7"/>
          <p:cNvSpPr/>
          <p:nvPr/>
        </p:nvSpPr>
        <p:spPr>
          <a:xfrm>
            <a:off x="585216" y="1746504"/>
            <a:ext cx="11021567" cy="475488"/>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13232" y="1819656"/>
            <a:ext cx="2121408" cy="365760"/>
          </a:xfrm>
          <a:prstGeom prst="rect">
            <a:avLst/>
          </a:prstGeom>
          <a:noFill/>
        </p:spPr>
        <p:txBody>
          <a:bodyPr wrap="square" lIns="0" rIns="0" tIns="0" bIns="0" anchor="t">
            <a:spAutoFit/>
          </a:bodyPr>
          <a:lstStyle/>
          <a:p>
            <a:pPr algn="l">
              <a:lnSpc>
                <a:spcPct val="106000"/>
              </a:lnSpc>
              <a:spcBef>
                <a:spcPts val="0"/>
              </a:spcBef>
              <a:spcAft>
                <a:spcPts val="0"/>
              </a:spcAft>
              <a:defRPr sz="2000" b="1" i="0">
                <a:solidFill>
                  <a:srgbClr val="172326"/>
                </a:solidFill>
                <a:latin typeface="Calibri"/>
              </a:defRPr>
            </a:pPr>
            <a:r>
              <a:t>Trial</a:t>
            </a:r>
          </a:p>
        </p:txBody>
      </p:sp>
      <p:sp>
        <p:nvSpPr>
          <p:cNvPr id="10" name="TextBox 9"/>
          <p:cNvSpPr txBox="1"/>
          <p:nvPr/>
        </p:nvSpPr>
        <p:spPr>
          <a:xfrm>
            <a:off x="3090672" y="1819656"/>
            <a:ext cx="4133087" cy="365760"/>
          </a:xfrm>
          <a:prstGeom prst="rect">
            <a:avLst/>
          </a:prstGeom>
          <a:noFill/>
        </p:spPr>
        <p:txBody>
          <a:bodyPr wrap="square" lIns="0" rIns="0" tIns="0" bIns="0" anchor="t">
            <a:spAutoFit/>
          </a:bodyPr>
          <a:lstStyle/>
          <a:p>
            <a:pPr algn="l">
              <a:lnSpc>
                <a:spcPct val="106000"/>
              </a:lnSpc>
              <a:spcBef>
                <a:spcPts val="0"/>
              </a:spcBef>
              <a:spcAft>
                <a:spcPts val="0"/>
              </a:spcAft>
              <a:defRPr sz="2000" b="1" i="0">
                <a:solidFill>
                  <a:srgbClr val="172326"/>
                </a:solidFill>
                <a:latin typeface="Calibri"/>
              </a:defRPr>
            </a:pPr>
            <a:r>
              <a:t>Population</a:t>
            </a:r>
          </a:p>
        </p:txBody>
      </p:sp>
      <p:sp>
        <p:nvSpPr>
          <p:cNvPr id="11" name="TextBox 10"/>
          <p:cNvSpPr txBox="1"/>
          <p:nvPr/>
        </p:nvSpPr>
        <p:spPr>
          <a:xfrm>
            <a:off x="7479792" y="1819656"/>
            <a:ext cx="3998975" cy="365760"/>
          </a:xfrm>
          <a:prstGeom prst="rect">
            <a:avLst/>
          </a:prstGeom>
          <a:noFill/>
        </p:spPr>
        <p:txBody>
          <a:bodyPr wrap="square" lIns="0" rIns="0" tIns="0" bIns="0" anchor="t">
            <a:spAutoFit/>
          </a:bodyPr>
          <a:lstStyle/>
          <a:p>
            <a:pPr algn="l">
              <a:lnSpc>
                <a:spcPct val="106000"/>
              </a:lnSpc>
              <a:spcBef>
                <a:spcPts val="0"/>
              </a:spcBef>
              <a:spcAft>
                <a:spcPts val="0"/>
              </a:spcAft>
              <a:defRPr sz="2000" b="1" i="0">
                <a:solidFill>
                  <a:srgbClr val="172326"/>
                </a:solidFill>
                <a:latin typeface="Calibri"/>
              </a:defRPr>
            </a:pPr>
            <a:r>
              <a:t>Principal result</a:t>
            </a:r>
          </a:p>
        </p:txBody>
      </p:sp>
      <p:cxnSp>
        <p:nvCxnSpPr>
          <p:cNvPr id="12" name="Connector 11"/>
          <p:cNvCxnSpPr/>
          <p:nvPr/>
        </p:nvCxnSpPr>
        <p:spPr>
          <a:xfrm>
            <a:off x="585216" y="2221991"/>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713232" y="2242108"/>
            <a:ext cx="2121408" cy="1046988"/>
          </a:xfrm>
          <a:prstGeom prst="rect">
            <a:avLst/>
          </a:prstGeom>
          <a:noFill/>
        </p:spPr>
        <p:txBody>
          <a:bodyPr wrap="square" lIns="0" rIns="0" tIns="0" bIns="0" anchor="ctr">
            <a:spAutoFit/>
          </a:bodyPr>
          <a:lstStyle/>
          <a:p>
            <a:pPr algn="l">
              <a:lnSpc>
                <a:spcPct val="106000"/>
              </a:lnSpc>
              <a:spcBef>
                <a:spcPts val="0"/>
              </a:spcBef>
              <a:spcAft>
                <a:spcPts val="0"/>
              </a:spcAft>
              <a:defRPr sz="2300" b="1" i="0">
                <a:solidFill>
                  <a:srgbClr val="172326"/>
                </a:solidFill>
                <a:latin typeface="Calibri"/>
              </a:defRPr>
            </a:pPr>
            <a:r>
              <a:t>Köhnlein 2014</a:t>
            </a:r>
          </a:p>
        </p:txBody>
      </p:sp>
      <p:sp>
        <p:nvSpPr>
          <p:cNvPr id="14" name="TextBox 13"/>
          <p:cNvSpPr txBox="1"/>
          <p:nvPr/>
        </p:nvSpPr>
        <p:spPr>
          <a:xfrm>
            <a:off x="3090672" y="2242108"/>
            <a:ext cx="4133087" cy="1046988"/>
          </a:xfrm>
          <a:prstGeom prst="rect">
            <a:avLst/>
          </a:prstGeom>
          <a:noFill/>
        </p:spPr>
        <p:txBody>
          <a:bodyPr wrap="square" lIns="0" rIns="0" tIns="0" bIns="0" anchor="ctr">
            <a:spAutoFit/>
          </a:bodyPr>
          <a:lstStyle/>
          <a:p>
            <a:pPr algn="l">
              <a:lnSpc>
                <a:spcPct val="106000"/>
              </a:lnSpc>
              <a:spcBef>
                <a:spcPts val="0"/>
              </a:spcBef>
              <a:spcAft>
                <a:spcPts val="0"/>
              </a:spcAft>
              <a:defRPr sz="2300" b="0" i="0">
                <a:solidFill>
                  <a:srgbClr val="253438"/>
                </a:solidFill>
                <a:latin typeface="Calibri"/>
              </a:defRPr>
            </a:pPr>
            <a:r>
              <a:t>Stable severe hypercapnic COPD</a:t>
            </a:r>
          </a:p>
        </p:txBody>
      </p:sp>
      <p:sp>
        <p:nvSpPr>
          <p:cNvPr id="15" name="TextBox 14"/>
          <p:cNvSpPr txBox="1"/>
          <p:nvPr/>
        </p:nvSpPr>
        <p:spPr>
          <a:xfrm>
            <a:off x="7479792" y="2242108"/>
            <a:ext cx="3998975" cy="1046988"/>
          </a:xfrm>
          <a:prstGeom prst="rect">
            <a:avLst/>
          </a:prstGeom>
          <a:noFill/>
        </p:spPr>
        <p:txBody>
          <a:bodyPr wrap="square" lIns="0" rIns="0" tIns="0" bIns="0" anchor="ctr">
            <a:spAutoFit/>
          </a:bodyPr>
          <a:lstStyle/>
          <a:p>
            <a:pPr algn="l">
              <a:lnSpc>
                <a:spcPct val="106000"/>
              </a:lnSpc>
              <a:spcBef>
                <a:spcPts val="0"/>
              </a:spcBef>
              <a:spcAft>
                <a:spcPts val="0"/>
              </a:spcAft>
              <a:defRPr sz="2300" b="0" i="0">
                <a:solidFill>
                  <a:srgbClr val="253438"/>
                </a:solidFill>
                <a:latin typeface="Calibri"/>
              </a:defRPr>
            </a:pPr>
            <a:r>
              <a:t>1-year mortality: 12% vs 33%</a:t>
            </a:r>
          </a:p>
        </p:txBody>
      </p:sp>
      <p:sp>
        <p:nvSpPr>
          <p:cNvPr id="16" name="Rectangle 15"/>
          <p:cNvSpPr/>
          <p:nvPr/>
        </p:nvSpPr>
        <p:spPr>
          <a:xfrm>
            <a:off x="585216" y="3310127"/>
            <a:ext cx="11021567" cy="1088136"/>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585216" y="3310127"/>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713232" y="3330244"/>
            <a:ext cx="2121408" cy="1046988"/>
          </a:xfrm>
          <a:prstGeom prst="rect">
            <a:avLst/>
          </a:prstGeom>
          <a:noFill/>
        </p:spPr>
        <p:txBody>
          <a:bodyPr wrap="square" lIns="0" rIns="0" tIns="0" bIns="0" anchor="ctr">
            <a:spAutoFit/>
          </a:bodyPr>
          <a:lstStyle/>
          <a:p>
            <a:pPr algn="l">
              <a:lnSpc>
                <a:spcPct val="106000"/>
              </a:lnSpc>
              <a:spcBef>
                <a:spcPts val="0"/>
              </a:spcBef>
              <a:spcAft>
                <a:spcPts val="0"/>
              </a:spcAft>
              <a:defRPr sz="2300" b="1" i="0">
                <a:solidFill>
                  <a:srgbClr val="172326"/>
                </a:solidFill>
                <a:latin typeface="Calibri"/>
              </a:defRPr>
            </a:pPr>
            <a:r>
              <a:t>RESCUE 2014</a:t>
            </a:r>
          </a:p>
        </p:txBody>
      </p:sp>
      <p:sp>
        <p:nvSpPr>
          <p:cNvPr id="19" name="TextBox 18"/>
          <p:cNvSpPr txBox="1"/>
          <p:nvPr/>
        </p:nvSpPr>
        <p:spPr>
          <a:xfrm>
            <a:off x="3090672" y="3330244"/>
            <a:ext cx="4133087" cy="1046988"/>
          </a:xfrm>
          <a:prstGeom prst="rect">
            <a:avLst/>
          </a:prstGeom>
          <a:noFill/>
        </p:spPr>
        <p:txBody>
          <a:bodyPr wrap="square" lIns="0" rIns="0" tIns="0" bIns="0" anchor="ctr">
            <a:spAutoFit/>
          </a:bodyPr>
          <a:lstStyle/>
          <a:p>
            <a:pPr algn="l">
              <a:lnSpc>
                <a:spcPct val="106000"/>
              </a:lnSpc>
              <a:spcBef>
                <a:spcPts val="0"/>
              </a:spcBef>
              <a:spcAft>
                <a:spcPts val="0"/>
              </a:spcAft>
              <a:defRPr sz="2300" b="0" i="0">
                <a:solidFill>
                  <a:srgbClr val="253438"/>
                </a:solidFill>
                <a:latin typeface="Calibri"/>
              </a:defRPr>
            </a:pPr>
            <a:r>
              <a:t>Hypercapnia &gt;48 h after acute</a:t>
            </a:r>
          </a:p>
          <a:p>
            <a:pPr algn="l">
              <a:lnSpc>
                <a:spcPct val="106000"/>
              </a:lnSpc>
              <a:spcBef>
                <a:spcPts val="0"/>
              </a:spcBef>
              <a:spcAft>
                <a:spcPts val="0"/>
              </a:spcAft>
              <a:defRPr sz="2300" b="0" i="0">
                <a:solidFill>
                  <a:srgbClr val="253438"/>
                </a:solidFill>
                <a:latin typeface="Calibri"/>
              </a:defRPr>
            </a:pPr>
            <a:r>
              <a:t>support</a:t>
            </a:r>
          </a:p>
        </p:txBody>
      </p:sp>
      <p:sp>
        <p:nvSpPr>
          <p:cNvPr id="20" name="TextBox 19"/>
          <p:cNvSpPr txBox="1"/>
          <p:nvPr/>
        </p:nvSpPr>
        <p:spPr>
          <a:xfrm>
            <a:off x="7479792" y="3330244"/>
            <a:ext cx="3998975" cy="1046988"/>
          </a:xfrm>
          <a:prstGeom prst="rect">
            <a:avLst/>
          </a:prstGeom>
          <a:noFill/>
        </p:spPr>
        <p:txBody>
          <a:bodyPr wrap="square" lIns="0" rIns="0" tIns="0" bIns="0" anchor="ctr">
            <a:spAutoFit/>
          </a:bodyPr>
          <a:lstStyle/>
          <a:p>
            <a:pPr algn="l">
              <a:lnSpc>
                <a:spcPct val="106000"/>
              </a:lnSpc>
              <a:spcBef>
                <a:spcPts val="0"/>
              </a:spcBef>
              <a:spcAft>
                <a:spcPts val="0"/>
              </a:spcAft>
              <a:defRPr sz="2300" b="0" i="0">
                <a:solidFill>
                  <a:srgbClr val="253438"/>
                </a:solidFill>
                <a:latin typeface="Calibri"/>
              </a:defRPr>
            </a:pPr>
            <a:r>
              <a:t>No primary readmission/death</a:t>
            </a:r>
          </a:p>
          <a:p>
            <a:pPr algn="l">
              <a:lnSpc>
                <a:spcPct val="106000"/>
              </a:lnSpc>
              <a:spcBef>
                <a:spcPts val="0"/>
              </a:spcBef>
              <a:spcAft>
                <a:spcPts val="0"/>
              </a:spcAft>
              <a:defRPr sz="2300" b="0" i="0">
                <a:solidFill>
                  <a:srgbClr val="253438"/>
                </a:solidFill>
                <a:latin typeface="Calibri"/>
              </a:defRPr>
            </a:pPr>
            <a:r>
              <a:t>benefit</a:t>
            </a:r>
          </a:p>
        </p:txBody>
      </p:sp>
      <p:cxnSp>
        <p:nvCxnSpPr>
          <p:cNvPr id="21" name="Connector 20"/>
          <p:cNvCxnSpPr/>
          <p:nvPr/>
        </p:nvCxnSpPr>
        <p:spPr>
          <a:xfrm>
            <a:off x="585216" y="4398264"/>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713232" y="4418380"/>
            <a:ext cx="2121408" cy="1046988"/>
          </a:xfrm>
          <a:prstGeom prst="rect">
            <a:avLst/>
          </a:prstGeom>
          <a:noFill/>
        </p:spPr>
        <p:txBody>
          <a:bodyPr wrap="square" lIns="0" rIns="0" tIns="0" bIns="0" anchor="ctr">
            <a:spAutoFit/>
          </a:bodyPr>
          <a:lstStyle/>
          <a:p>
            <a:pPr algn="l">
              <a:lnSpc>
                <a:spcPct val="106000"/>
              </a:lnSpc>
              <a:spcBef>
                <a:spcPts val="0"/>
              </a:spcBef>
              <a:spcAft>
                <a:spcPts val="0"/>
              </a:spcAft>
              <a:defRPr sz="2300" b="1" i="0">
                <a:solidFill>
                  <a:srgbClr val="172326"/>
                </a:solidFill>
                <a:latin typeface="Calibri"/>
              </a:defRPr>
            </a:pPr>
            <a:r>
              <a:t>HOT-HMV 2017</a:t>
            </a:r>
          </a:p>
        </p:txBody>
      </p:sp>
      <p:sp>
        <p:nvSpPr>
          <p:cNvPr id="23" name="TextBox 22"/>
          <p:cNvSpPr txBox="1"/>
          <p:nvPr/>
        </p:nvSpPr>
        <p:spPr>
          <a:xfrm>
            <a:off x="3090672" y="4418380"/>
            <a:ext cx="4133087" cy="1046988"/>
          </a:xfrm>
          <a:prstGeom prst="rect">
            <a:avLst/>
          </a:prstGeom>
          <a:noFill/>
        </p:spPr>
        <p:txBody>
          <a:bodyPr wrap="square" lIns="0" rIns="0" tIns="0" bIns="0" anchor="ctr">
            <a:spAutoFit/>
          </a:bodyPr>
          <a:lstStyle/>
          <a:p>
            <a:pPr algn="l">
              <a:lnSpc>
                <a:spcPct val="106000"/>
              </a:lnSpc>
              <a:spcBef>
                <a:spcPts val="0"/>
              </a:spcBef>
              <a:spcAft>
                <a:spcPts val="0"/>
              </a:spcAft>
              <a:defRPr sz="2300" b="0" i="0">
                <a:solidFill>
                  <a:srgbClr val="253438"/>
                </a:solidFill>
                <a:latin typeface="Calibri"/>
              </a:defRPr>
            </a:pPr>
            <a:r>
              <a:t>Persistent hypercapnia 2–4</a:t>
            </a:r>
          </a:p>
          <a:p>
            <a:pPr algn="l">
              <a:lnSpc>
                <a:spcPct val="106000"/>
              </a:lnSpc>
              <a:spcBef>
                <a:spcPts val="0"/>
              </a:spcBef>
              <a:spcAft>
                <a:spcPts val="0"/>
              </a:spcAft>
              <a:defRPr sz="2300" b="0" i="0">
                <a:solidFill>
                  <a:srgbClr val="253438"/>
                </a:solidFill>
                <a:latin typeface="Calibri"/>
              </a:defRPr>
            </a:pPr>
            <a:r>
              <a:t>weeks after acidosis resolved</a:t>
            </a:r>
          </a:p>
        </p:txBody>
      </p:sp>
      <p:sp>
        <p:nvSpPr>
          <p:cNvPr id="24" name="TextBox 23"/>
          <p:cNvSpPr txBox="1"/>
          <p:nvPr/>
        </p:nvSpPr>
        <p:spPr>
          <a:xfrm>
            <a:off x="7479792" y="4418380"/>
            <a:ext cx="3998975" cy="1046988"/>
          </a:xfrm>
          <a:prstGeom prst="rect">
            <a:avLst/>
          </a:prstGeom>
          <a:noFill/>
        </p:spPr>
        <p:txBody>
          <a:bodyPr wrap="square" lIns="0" rIns="0" tIns="0" bIns="0" anchor="ctr">
            <a:spAutoFit/>
          </a:bodyPr>
          <a:lstStyle/>
          <a:p>
            <a:pPr algn="l">
              <a:lnSpc>
                <a:spcPct val="106000"/>
              </a:lnSpc>
              <a:spcBef>
                <a:spcPts val="0"/>
              </a:spcBef>
              <a:spcAft>
                <a:spcPts val="0"/>
              </a:spcAft>
              <a:defRPr sz="2300" b="0" i="0">
                <a:solidFill>
                  <a:srgbClr val="253438"/>
                </a:solidFill>
                <a:latin typeface="Calibri"/>
              </a:defRPr>
            </a:pPr>
            <a:r>
              <a:t>HR 0.49 (95% CI 0.31–0.77)</a:t>
            </a:r>
          </a:p>
        </p:txBody>
      </p:sp>
      <p:cxnSp>
        <p:nvCxnSpPr>
          <p:cNvPr id="25" name="Connector 24"/>
          <p:cNvCxnSpPr/>
          <p:nvPr/>
        </p:nvCxnSpPr>
        <p:spPr>
          <a:xfrm>
            <a:off x="585216" y="5486400"/>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26" name="Rectangle 25"/>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1900" b="0" i="0">
                <a:solidFill>
                  <a:srgbClr val="172326"/>
                </a:solidFill>
                <a:latin typeface="Calibri"/>
              </a:defRPr>
            </a:pPr>
            <a:r>
              <a:t>Selection, timing, comparator, and ventilation strategy differed across trials.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APPENDIX · CLINICAL EVIDENCE</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Nocturnal and overlap populations</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Ward et al. 2005 [R28] · Zheng et al. 2022 [R29] · R01</a:t>
            </a:r>
          </a:p>
        </p:txBody>
      </p:sp>
      <p:sp>
        <p:nvSpPr>
          <p:cNvPr id="7" name="TextBox 6"/>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BACKUP · A10</a:t>
            </a:r>
          </a:p>
        </p:txBody>
      </p:sp>
      <p:sp>
        <p:nvSpPr>
          <p:cNvPr id="8" name="Rectangle 7"/>
          <p:cNvSpPr/>
          <p:nvPr/>
        </p:nvSpPr>
        <p:spPr>
          <a:xfrm>
            <a:off x="585216" y="1746504"/>
            <a:ext cx="11021567" cy="475488"/>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13232" y="1819656"/>
            <a:ext cx="2167128" cy="365760"/>
          </a:xfrm>
          <a:prstGeom prst="rect">
            <a:avLst/>
          </a:prstGeom>
          <a:noFill/>
        </p:spPr>
        <p:txBody>
          <a:bodyPr wrap="square" lIns="0" rIns="0" tIns="0" bIns="0" anchor="t">
            <a:spAutoFit/>
          </a:bodyPr>
          <a:lstStyle/>
          <a:p>
            <a:pPr algn="l">
              <a:lnSpc>
                <a:spcPct val="106000"/>
              </a:lnSpc>
              <a:spcBef>
                <a:spcPts val="0"/>
              </a:spcBef>
              <a:spcAft>
                <a:spcPts val="0"/>
              </a:spcAft>
              <a:defRPr sz="2000" b="1" i="0">
                <a:solidFill>
                  <a:srgbClr val="172326"/>
                </a:solidFill>
                <a:latin typeface="Calibri"/>
              </a:defRPr>
            </a:pPr>
            <a:r>
              <a:t>Study</a:t>
            </a:r>
          </a:p>
        </p:txBody>
      </p:sp>
      <p:sp>
        <p:nvSpPr>
          <p:cNvPr id="10" name="TextBox 9"/>
          <p:cNvSpPr txBox="1"/>
          <p:nvPr/>
        </p:nvSpPr>
        <p:spPr>
          <a:xfrm>
            <a:off x="3136392" y="1819656"/>
            <a:ext cx="4407407" cy="365760"/>
          </a:xfrm>
          <a:prstGeom prst="rect">
            <a:avLst/>
          </a:prstGeom>
          <a:noFill/>
        </p:spPr>
        <p:txBody>
          <a:bodyPr wrap="square" lIns="0" rIns="0" tIns="0" bIns="0" anchor="t">
            <a:spAutoFit/>
          </a:bodyPr>
          <a:lstStyle/>
          <a:p>
            <a:pPr algn="l">
              <a:lnSpc>
                <a:spcPct val="106000"/>
              </a:lnSpc>
              <a:spcBef>
                <a:spcPts val="0"/>
              </a:spcBef>
              <a:spcAft>
                <a:spcPts val="0"/>
              </a:spcAft>
              <a:defRPr sz="2000" b="1" i="0">
                <a:solidFill>
                  <a:srgbClr val="172326"/>
                </a:solidFill>
                <a:latin typeface="Calibri"/>
              </a:defRPr>
            </a:pPr>
            <a:r>
              <a:t>Direct evidence</a:t>
            </a:r>
          </a:p>
        </p:txBody>
      </p:sp>
      <p:sp>
        <p:nvSpPr>
          <p:cNvPr id="11" name="TextBox 10"/>
          <p:cNvSpPr txBox="1"/>
          <p:nvPr/>
        </p:nvSpPr>
        <p:spPr>
          <a:xfrm>
            <a:off x="7799832" y="1819656"/>
            <a:ext cx="3678935" cy="365760"/>
          </a:xfrm>
          <a:prstGeom prst="rect">
            <a:avLst/>
          </a:prstGeom>
          <a:noFill/>
        </p:spPr>
        <p:txBody>
          <a:bodyPr wrap="square" lIns="0" rIns="0" tIns="0" bIns="0" anchor="t">
            <a:spAutoFit/>
          </a:bodyPr>
          <a:lstStyle/>
          <a:p>
            <a:pPr algn="l">
              <a:lnSpc>
                <a:spcPct val="106000"/>
              </a:lnSpc>
              <a:spcBef>
                <a:spcPts val="0"/>
              </a:spcBef>
              <a:spcAft>
                <a:spcPts val="0"/>
              </a:spcAft>
              <a:defRPr sz="2000" b="1" i="0">
                <a:solidFill>
                  <a:srgbClr val="172326"/>
                </a:solidFill>
                <a:latin typeface="Calibri"/>
              </a:defRPr>
            </a:pPr>
            <a:r>
              <a:t>Limits</a:t>
            </a:r>
          </a:p>
        </p:txBody>
      </p:sp>
      <p:cxnSp>
        <p:nvCxnSpPr>
          <p:cNvPr id="12" name="Connector 11"/>
          <p:cNvCxnSpPr/>
          <p:nvPr/>
        </p:nvCxnSpPr>
        <p:spPr>
          <a:xfrm>
            <a:off x="585216" y="2221991"/>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713232" y="2242108"/>
            <a:ext cx="2167128" cy="1591056"/>
          </a:xfrm>
          <a:prstGeom prst="rect">
            <a:avLst/>
          </a:prstGeom>
          <a:noFill/>
        </p:spPr>
        <p:txBody>
          <a:bodyPr wrap="square" lIns="0" rIns="0" tIns="0" bIns="0" anchor="ctr">
            <a:spAutoFit/>
          </a:bodyPr>
          <a:lstStyle/>
          <a:p>
            <a:pPr algn="l">
              <a:lnSpc>
                <a:spcPct val="106000"/>
              </a:lnSpc>
              <a:spcBef>
                <a:spcPts val="0"/>
              </a:spcBef>
              <a:spcAft>
                <a:spcPts val="0"/>
              </a:spcAft>
              <a:defRPr sz="2300" b="1" i="0">
                <a:solidFill>
                  <a:srgbClr val="172326"/>
                </a:solidFill>
                <a:latin typeface="Calibri"/>
              </a:defRPr>
            </a:pPr>
            <a:r>
              <a:t>Ward 2005</a:t>
            </a:r>
          </a:p>
          <a:p>
            <a:pPr algn="l">
              <a:lnSpc>
                <a:spcPct val="106000"/>
              </a:lnSpc>
              <a:spcBef>
                <a:spcPts val="0"/>
              </a:spcBef>
              <a:spcAft>
                <a:spcPts val="0"/>
              </a:spcAft>
              <a:defRPr sz="2300" b="1" i="0">
                <a:solidFill>
                  <a:srgbClr val="172326"/>
                </a:solidFill>
                <a:latin typeface="Calibri"/>
              </a:defRPr>
            </a:pPr>
            <a:r>
              <a:t>26 randomized</a:t>
            </a:r>
          </a:p>
        </p:txBody>
      </p:sp>
      <p:sp>
        <p:nvSpPr>
          <p:cNvPr id="14" name="TextBox 13"/>
          <p:cNvSpPr txBox="1"/>
          <p:nvPr/>
        </p:nvSpPr>
        <p:spPr>
          <a:xfrm>
            <a:off x="3136392" y="2242108"/>
            <a:ext cx="4407407" cy="1591056"/>
          </a:xfrm>
          <a:prstGeom prst="rect">
            <a:avLst/>
          </a:prstGeom>
          <a:noFill/>
        </p:spPr>
        <p:txBody>
          <a:bodyPr wrap="square" lIns="0" rIns="0" tIns="0" bIns="0" anchor="ctr">
            <a:spAutoFit/>
          </a:bodyPr>
          <a:lstStyle/>
          <a:p>
            <a:pPr algn="l">
              <a:lnSpc>
                <a:spcPct val="106000"/>
              </a:lnSpc>
              <a:spcBef>
                <a:spcPts val="0"/>
              </a:spcBef>
              <a:spcAft>
                <a:spcPts val="0"/>
              </a:spcAft>
              <a:defRPr sz="2300" b="0" i="0">
                <a:solidFill>
                  <a:srgbClr val="253438"/>
                </a:solidFill>
                <a:latin typeface="Calibri"/>
              </a:defRPr>
            </a:pPr>
            <a:r>
              <a:t>NMD/chest-wall disease; nocturnal</a:t>
            </a:r>
          </a:p>
          <a:p>
            <a:pPr algn="l">
              <a:lnSpc>
                <a:spcPct val="106000"/>
              </a:lnSpc>
              <a:spcBef>
                <a:spcPts val="0"/>
              </a:spcBef>
              <a:spcAft>
                <a:spcPts val="0"/>
              </a:spcAft>
              <a:defRPr sz="2300" b="0" i="0">
                <a:solidFill>
                  <a:srgbClr val="253438"/>
                </a:solidFill>
                <a:latin typeface="Calibri"/>
              </a:defRPr>
            </a:pPr>
            <a:r>
              <a:t>hypercapnia; daytime normocapnia</a:t>
            </a:r>
          </a:p>
        </p:txBody>
      </p:sp>
      <p:sp>
        <p:nvSpPr>
          <p:cNvPr id="15" name="TextBox 14"/>
          <p:cNvSpPr txBox="1"/>
          <p:nvPr/>
        </p:nvSpPr>
        <p:spPr>
          <a:xfrm>
            <a:off x="7799832" y="2242108"/>
            <a:ext cx="3678935" cy="1591056"/>
          </a:xfrm>
          <a:prstGeom prst="rect">
            <a:avLst/>
          </a:prstGeom>
          <a:noFill/>
        </p:spPr>
        <p:txBody>
          <a:bodyPr wrap="square" lIns="0" rIns="0" tIns="0" bIns="0" anchor="ctr">
            <a:spAutoFit/>
          </a:bodyPr>
          <a:lstStyle/>
          <a:p>
            <a:pPr algn="l">
              <a:lnSpc>
                <a:spcPct val="106000"/>
              </a:lnSpc>
              <a:spcBef>
                <a:spcPts val="0"/>
              </a:spcBef>
              <a:spcAft>
                <a:spcPts val="0"/>
              </a:spcAft>
              <a:defRPr sz="2300" b="0" i="0">
                <a:solidFill>
                  <a:srgbClr val="253438"/>
                </a:solidFill>
                <a:latin typeface="Calibri"/>
              </a:defRPr>
            </a:pPr>
            <a:r>
              <a:t>Small, mixed-age selected</a:t>
            </a:r>
          </a:p>
          <a:p>
            <a:pPr algn="l">
              <a:lnSpc>
                <a:spcPct val="106000"/>
              </a:lnSpc>
              <a:spcBef>
                <a:spcPts val="0"/>
              </a:spcBef>
              <a:spcAft>
                <a:spcPts val="0"/>
              </a:spcAft>
              <a:defRPr sz="2300" b="0" i="0">
                <a:solidFill>
                  <a:srgbClr val="253438"/>
                </a:solidFill>
                <a:latin typeface="Calibri"/>
              </a:defRPr>
            </a:pPr>
            <a:r>
              <a:t>population</a:t>
            </a:r>
          </a:p>
        </p:txBody>
      </p:sp>
      <p:sp>
        <p:nvSpPr>
          <p:cNvPr id="16" name="Rectangle 15"/>
          <p:cNvSpPr/>
          <p:nvPr/>
        </p:nvSpPr>
        <p:spPr>
          <a:xfrm>
            <a:off x="585216" y="3854196"/>
            <a:ext cx="11021567" cy="1632204"/>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585216" y="3854196"/>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713232" y="3874312"/>
            <a:ext cx="2167128" cy="1591056"/>
          </a:xfrm>
          <a:prstGeom prst="rect">
            <a:avLst/>
          </a:prstGeom>
          <a:noFill/>
        </p:spPr>
        <p:txBody>
          <a:bodyPr wrap="square" lIns="0" rIns="0" tIns="0" bIns="0" anchor="ctr">
            <a:spAutoFit/>
          </a:bodyPr>
          <a:lstStyle/>
          <a:p>
            <a:pPr algn="l">
              <a:lnSpc>
                <a:spcPct val="106000"/>
              </a:lnSpc>
              <a:spcBef>
                <a:spcPts val="0"/>
              </a:spcBef>
              <a:spcAft>
                <a:spcPts val="0"/>
              </a:spcAft>
              <a:defRPr sz="2300" b="1" i="0">
                <a:solidFill>
                  <a:srgbClr val="172326"/>
                </a:solidFill>
                <a:latin typeface="Calibri"/>
              </a:defRPr>
            </a:pPr>
            <a:r>
              <a:t>Zheng 2022</a:t>
            </a:r>
          </a:p>
          <a:p>
            <a:pPr algn="l">
              <a:lnSpc>
                <a:spcPct val="106000"/>
              </a:lnSpc>
              <a:spcBef>
                <a:spcPts val="0"/>
              </a:spcBef>
              <a:spcAft>
                <a:spcPts val="0"/>
              </a:spcAft>
              <a:defRPr sz="2300" b="1" i="0">
                <a:solidFill>
                  <a:srgbClr val="172326"/>
                </a:solidFill>
                <a:latin typeface="Calibri"/>
              </a:defRPr>
            </a:pPr>
            <a:r>
              <a:t>32 randomized</a:t>
            </a:r>
          </a:p>
        </p:txBody>
      </p:sp>
      <p:sp>
        <p:nvSpPr>
          <p:cNvPr id="19" name="TextBox 18"/>
          <p:cNvSpPr txBox="1"/>
          <p:nvPr/>
        </p:nvSpPr>
        <p:spPr>
          <a:xfrm>
            <a:off x="3136392" y="3874312"/>
            <a:ext cx="4407407" cy="1591056"/>
          </a:xfrm>
          <a:prstGeom prst="rect">
            <a:avLst/>
          </a:prstGeom>
          <a:noFill/>
        </p:spPr>
        <p:txBody>
          <a:bodyPr wrap="square" lIns="0" rIns="0" tIns="0" bIns="0" anchor="ctr">
            <a:spAutoFit/>
          </a:bodyPr>
          <a:lstStyle/>
          <a:p>
            <a:pPr algn="l">
              <a:lnSpc>
                <a:spcPct val="106000"/>
              </a:lnSpc>
              <a:spcBef>
                <a:spcPts val="0"/>
              </a:spcBef>
              <a:spcAft>
                <a:spcPts val="0"/>
              </a:spcAft>
              <a:defRPr sz="2300" b="0" i="0">
                <a:solidFill>
                  <a:srgbClr val="253438"/>
                </a:solidFill>
                <a:latin typeface="Calibri"/>
              </a:defRPr>
            </a:pPr>
            <a:r>
              <a:t>Obesity + airway obstruction +</a:t>
            </a:r>
          </a:p>
          <a:p>
            <a:pPr algn="l">
              <a:lnSpc>
                <a:spcPct val="106000"/>
              </a:lnSpc>
              <a:spcBef>
                <a:spcPts val="0"/>
              </a:spcBef>
              <a:spcAft>
                <a:spcPts val="0"/>
              </a:spcAft>
              <a:defRPr sz="2300" b="0" i="0">
                <a:solidFill>
                  <a:srgbClr val="253438"/>
                </a:solidFill>
                <a:latin typeface="Calibri"/>
              </a:defRPr>
            </a:pPr>
            <a:r>
              <a:t>chronic hypercapnia; BPAP-S vs</a:t>
            </a:r>
          </a:p>
          <a:p>
            <a:pPr algn="l">
              <a:lnSpc>
                <a:spcPct val="106000"/>
              </a:lnSpc>
              <a:spcBef>
                <a:spcPts val="0"/>
              </a:spcBef>
              <a:spcAft>
                <a:spcPts val="0"/>
              </a:spcAft>
              <a:defRPr sz="2300" b="0" i="0">
                <a:solidFill>
                  <a:srgbClr val="253438"/>
                </a:solidFill>
                <a:latin typeface="Calibri"/>
              </a:defRPr>
            </a:pPr>
            <a:r>
              <a:t>CPAP</a:t>
            </a:r>
          </a:p>
        </p:txBody>
      </p:sp>
      <p:sp>
        <p:nvSpPr>
          <p:cNvPr id="20" name="TextBox 19"/>
          <p:cNvSpPr txBox="1"/>
          <p:nvPr/>
        </p:nvSpPr>
        <p:spPr>
          <a:xfrm>
            <a:off x="7799832" y="3874312"/>
            <a:ext cx="3678935" cy="1591056"/>
          </a:xfrm>
          <a:prstGeom prst="rect">
            <a:avLst/>
          </a:prstGeom>
          <a:noFill/>
        </p:spPr>
        <p:txBody>
          <a:bodyPr wrap="square" lIns="0" rIns="0" tIns="0" bIns="0" anchor="ctr">
            <a:spAutoFit/>
          </a:bodyPr>
          <a:lstStyle/>
          <a:p>
            <a:pPr algn="l">
              <a:lnSpc>
                <a:spcPct val="106000"/>
              </a:lnSpc>
              <a:spcBef>
                <a:spcPts val="0"/>
              </a:spcBef>
              <a:spcAft>
                <a:spcPts val="0"/>
              </a:spcAft>
              <a:defRPr sz="2300" b="0" i="0">
                <a:solidFill>
                  <a:srgbClr val="253438"/>
                </a:solidFill>
                <a:latin typeface="Calibri"/>
              </a:defRPr>
            </a:pPr>
            <a:r>
              <a:t>3-month CO₂ endpoint; not</a:t>
            </a:r>
          </a:p>
          <a:p>
            <a:pPr algn="l">
              <a:lnSpc>
                <a:spcPct val="106000"/>
              </a:lnSpc>
              <a:spcBef>
                <a:spcPts val="0"/>
              </a:spcBef>
              <a:spcAft>
                <a:spcPts val="0"/>
              </a:spcAft>
              <a:defRPr sz="2300" b="0" i="0">
                <a:solidFill>
                  <a:srgbClr val="253438"/>
                </a:solidFill>
                <a:latin typeface="Calibri"/>
              </a:defRPr>
            </a:pPr>
            <a:r>
              <a:t>an HMV comparison</a:t>
            </a:r>
          </a:p>
        </p:txBody>
      </p:sp>
      <p:cxnSp>
        <p:nvCxnSpPr>
          <p:cNvPr id="21" name="Connector 20"/>
          <p:cNvCxnSpPr/>
          <p:nvPr/>
        </p:nvCxnSpPr>
        <p:spPr>
          <a:xfrm>
            <a:off x="585216" y="5486400"/>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22" name="Rectangle 21"/>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1900" b="0" i="0">
                <a:solidFill>
                  <a:srgbClr val="172326"/>
                </a:solidFill>
                <a:latin typeface="Calibri"/>
              </a:defRPr>
            </a:pPr>
            <a:r>
              <a:t>An observed nocturnal abnormality does not have one validated treatment threshold across all</a:t>
            </a:r>
          </a:p>
          <a:p>
            <a:pPr algn="l">
              <a:lnSpc>
                <a:spcPct val="106000"/>
              </a:lnSpc>
              <a:spcBef>
                <a:spcPts val="0"/>
              </a:spcBef>
              <a:spcAft>
                <a:spcPts val="0"/>
              </a:spcAft>
              <a:defRPr sz="1900" b="0" i="0">
                <a:solidFill>
                  <a:srgbClr val="172326"/>
                </a:solidFill>
                <a:latin typeface="Calibri"/>
              </a:defRPr>
            </a:pPr>
            <a:r>
              <a:t>etiologies.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APPENDIX · PHYSIOLOGY AND FOLLOW-UP</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Measures of home-treatment performance</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Locke &amp; Brown 2023 [R02] · AARC 2012 [R34] · R35, R38</a:t>
            </a:r>
          </a:p>
        </p:txBody>
      </p:sp>
      <p:sp>
        <p:nvSpPr>
          <p:cNvPr id="7" name="TextBox 6"/>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BACKUP · A11</a:t>
            </a:r>
          </a:p>
        </p:txBody>
      </p:sp>
      <p:sp>
        <p:nvSpPr>
          <p:cNvPr id="8" name="Rectangle 7"/>
          <p:cNvSpPr/>
          <p:nvPr/>
        </p:nvSpPr>
        <p:spPr>
          <a:xfrm>
            <a:off x="585216" y="1746504"/>
            <a:ext cx="11021567" cy="475488"/>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13232" y="1819656"/>
            <a:ext cx="2167128" cy="365760"/>
          </a:xfrm>
          <a:prstGeom prst="rect">
            <a:avLst/>
          </a:prstGeom>
          <a:noFill/>
        </p:spPr>
        <p:txBody>
          <a:bodyPr wrap="square" lIns="0" rIns="0" tIns="0" bIns="0" anchor="t">
            <a:spAutoFit/>
          </a:bodyPr>
          <a:lstStyle/>
          <a:p>
            <a:pPr algn="l">
              <a:lnSpc>
                <a:spcPct val="106000"/>
              </a:lnSpc>
              <a:spcBef>
                <a:spcPts val="0"/>
              </a:spcBef>
              <a:spcAft>
                <a:spcPts val="0"/>
              </a:spcAft>
              <a:defRPr sz="2000" b="1" i="0">
                <a:solidFill>
                  <a:srgbClr val="172326"/>
                </a:solidFill>
                <a:latin typeface="Calibri"/>
              </a:defRPr>
            </a:pPr>
            <a:r>
              <a:t>Domain</a:t>
            </a:r>
          </a:p>
        </p:txBody>
      </p:sp>
      <p:sp>
        <p:nvSpPr>
          <p:cNvPr id="10" name="TextBox 9"/>
          <p:cNvSpPr txBox="1"/>
          <p:nvPr/>
        </p:nvSpPr>
        <p:spPr>
          <a:xfrm>
            <a:off x="3136392" y="1819656"/>
            <a:ext cx="4453128" cy="365760"/>
          </a:xfrm>
          <a:prstGeom prst="rect">
            <a:avLst/>
          </a:prstGeom>
          <a:noFill/>
        </p:spPr>
        <p:txBody>
          <a:bodyPr wrap="square" lIns="0" rIns="0" tIns="0" bIns="0" anchor="t">
            <a:spAutoFit/>
          </a:bodyPr>
          <a:lstStyle/>
          <a:p>
            <a:pPr algn="l">
              <a:lnSpc>
                <a:spcPct val="106000"/>
              </a:lnSpc>
              <a:spcBef>
                <a:spcPts val="0"/>
              </a:spcBef>
              <a:spcAft>
                <a:spcPts val="0"/>
              </a:spcAft>
              <a:defRPr sz="2000" b="1" i="0">
                <a:solidFill>
                  <a:srgbClr val="172326"/>
                </a:solidFill>
                <a:latin typeface="Calibri"/>
              </a:defRPr>
            </a:pPr>
            <a:r>
              <a:t>Examples</a:t>
            </a:r>
          </a:p>
        </p:txBody>
      </p:sp>
      <p:sp>
        <p:nvSpPr>
          <p:cNvPr id="11" name="TextBox 10"/>
          <p:cNvSpPr txBox="1"/>
          <p:nvPr/>
        </p:nvSpPr>
        <p:spPr>
          <a:xfrm>
            <a:off x="7845552" y="1819656"/>
            <a:ext cx="3633215" cy="365760"/>
          </a:xfrm>
          <a:prstGeom prst="rect">
            <a:avLst/>
          </a:prstGeom>
          <a:noFill/>
        </p:spPr>
        <p:txBody>
          <a:bodyPr wrap="square" lIns="0" rIns="0" tIns="0" bIns="0" anchor="t">
            <a:spAutoFit/>
          </a:bodyPr>
          <a:lstStyle/>
          <a:p>
            <a:pPr algn="l">
              <a:lnSpc>
                <a:spcPct val="106000"/>
              </a:lnSpc>
              <a:spcBef>
                <a:spcPts val="0"/>
              </a:spcBef>
              <a:spcAft>
                <a:spcPts val="0"/>
              </a:spcAft>
              <a:defRPr sz="2000" b="1" i="0">
                <a:solidFill>
                  <a:srgbClr val="172326"/>
                </a:solidFill>
                <a:latin typeface="Calibri"/>
              </a:defRPr>
            </a:pPr>
            <a:r>
              <a:t>Interpretation</a:t>
            </a:r>
          </a:p>
        </p:txBody>
      </p:sp>
      <p:cxnSp>
        <p:nvCxnSpPr>
          <p:cNvPr id="12" name="Connector 11"/>
          <p:cNvCxnSpPr/>
          <p:nvPr/>
        </p:nvCxnSpPr>
        <p:spPr>
          <a:xfrm>
            <a:off x="585216" y="2221991"/>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713232" y="2242108"/>
            <a:ext cx="2167128" cy="774953"/>
          </a:xfrm>
          <a:prstGeom prst="rect">
            <a:avLst/>
          </a:prstGeom>
          <a:noFill/>
        </p:spPr>
        <p:txBody>
          <a:bodyPr wrap="square" lIns="0" rIns="0" tIns="0" bIns="0" anchor="ctr">
            <a:spAutoFit/>
          </a:bodyPr>
          <a:lstStyle/>
          <a:p>
            <a:pPr algn="l">
              <a:lnSpc>
                <a:spcPct val="106000"/>
              </a:lnSpc>
              <a:spcBef>
                <a:spcPts val="0"/>
              </a:spcBef>
              <a:spcAft>
                <a:spcPts val="0"/>
              </a:spcAft>
              <a:defRPr sz="2300" b="1" i="0">
                <a:solidFill>
                  <a:srgbClr val="172326"/>
                </a:solidFill>
                <a:latin typeface="Calibri"/>
              </a:defRPr>
            </a:pPr>
            <a:r>
              <a:t>Use</a:t>
            </a:r>
          </a:p>
        </p:txBody>
      </p:sp>
      <p:sp>
        <p:nvSpPr>
          <p:cNvPr id="14" name="TextBox 13"/>
          <p:cNvSpPr txBox="1"/>
          <p:nvPr/>
        </p:nvSpPr>
        <p:spPr>
          <a:xfrm>
            <a:off x="3136392" y="2242108"/>
            <a:ext cx="4453128" cy="774953"/>
          </a:xfrm>
          <a:prstGeom prst="rect">
            <a:avLst/>
          </a:prstGeom>
          <a:noFill/>
        </p:spPr>
        <p:txBody>
          <a:bodyPr wrap="square" lIns="0" rIns="0" tIns="0" bIns="0" anchor="ctr">
            <a:spAutoFit/>
          </a:bodyPr>
          <a:lstStyle/>
          <a:p>
            <a:pPr algn="l">
              <a:lnSpc>
                <a:spcPct val="106000"/>
              </a:lnSpc>
              <a:spcBef>
                <a:spcPts val="0"/>
              </a:spcBef>
              <a:spcAft>
                <a:spcPts val="0"/>
              </a:spcAft>
              <a:defRPr sz="2300" b="0" i="0">
                <a:solidFill>
                  <a:srgbClr val="253438"/>
                </a:solidFill>
                <a:latin typeface="Calibri"/>
              </a:defRPr>
            </a:pPr>
            <a:r>
              <a:t>Hours; days; interruptions</a:t>
            </a:r>
          </a:p>
        </p:txBody>
      </p:sp>
      <p:sp>
        <p:nvSpPr>
          <p:cNvPr id="15" name="TextBox 14"/>
          <p:cNvSpPr txBox="1"/>
          <p:nvPr/>
        </p:nvSpPr>
        <p:spPr>
          <a:xfrm>
            <a:off x="7845552" y="2242108"/>
            <a:ext cx="3633215" cy="774953"/>
          </a:xfrm>
          <a:prstGeom prst="rect">
            <a:avLst/>
          </a:prstGeom>
          <a:noFill/>
        </p:spPr>
        <p:txBody>
          <a:bodyPr wrap="square" lIns="0" rIns="0" tIns="0" bIns="0" anchor="ctr">
            <a:spAutoFit/>
          </a:bodyPr>
          <a:lstStyle/>
          <a:p>
            <a:pPr algn="l">
              <a:lnSpc>
                <a:spcPct val="106000"/>
              </a:lnSpc>
              <a:spcBef>
                <a:spcPts val="0"/>
              </a:spcBef>
              <a:spcAft>
                <a:spcPts val="0"/>
              </a:spcAft>
              <a:defRPr sz="2300" b="0" i="0">
                <a:solidFill>
                  <a:srgbClr val="253438"/>
                </a:solidFill>
                <a:latin typeface="Calibri"/>
              </a:defRPr>
            </a:pPr>
            <a:r>
              <a:t>Exposure to treatment</a:t>
            </a:r>
          </a:p>
        </p:txBody>
      </p:sp>
      <p:sp>
        <p:nvSpPr>
          <p:cNvPr id="16" name="Rectangle 15"/>
          <p:cNvSpPr/>
          <p:nvPr/>
        </p:nvSpPr>
        <p:spPr>
          <a:xfrm>
            <a:off x="585216" y="3038094"/>
            <a:ext cx="11021567" cy="816102"/>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585216" y="3038094"/>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713232" y="3058210"/>
            <a:ext cx="2167128" cy="774953"/>
          </a:xfrm>
          <a:prstGeom prst="rect">
            <a:avLst/>
          </a:prstGeom>
          <a:noFill/>
        </p:spPr>
        <p:txBody>
          <a:bodyPr wrap="square" lIns="0" rIns="0" tIns="0" bIns="0" anchor="ctr">
            <a:spAutoFit/>
          </a:bodyPr>
          <a:lstStyle/>
          <a:p>
            <a:pPr algn="l">
              <a:lnSpc>
                <a:spcPct val="106000"/>
              </a:lnSpc>
              <a:spcBef>
                <a:spcPts val="0"/>
              </a:spcBef>
              <a:spcAft>
                <a:spcPts val="0"/>
              </a:spcAft>
              <a:defRPr sz="2300" b="1" i="0">
                <a:solidFill>
                  <a:srgbClr val="172326"/>
                </a:solidFill>
                <a:latin typeface="Calibri"/>
              </a:defRPr>
            </a:pPr>
            <a:r>
              <a:t>Technical</a:t>
            </a:r>
          </a:p>
          <a:p>
            <a:pPr algn="l">
              <a:lnSpc>
                <a:spcPct val="106000"/>
              </a:lnSpc>
              <a:spcBef>
                <a:spcPts val="0"/>
              </a:spcBef>
              <a:spcAft>
                <a:spcPts val="0"/>
              </a:spcAft>
              <a:defRPr sz="2300" b="1" i="0">
                <a:solidFill>
                  <a:srgbClr val="172326"/>
                </a:solidFill>
                <a:latin typeface="Calibri"/>
              </a:defRPr>
            </a:pPr>
            <a:r>
              <a:t>support</a:t>
            </a:r>
          </a:p>
        </p:txBody>
      </p:sp>
      <p:sp>
        <p:nvSpPr>
          <p:cNvPr id="19" name="TextBox 18"/>
          <p:cNvSpPr txBox="1"/>
          <p:nvPr/>
        </p:nvSpPr>
        <p:spPr>
          <a:xfrm>
            <a:off x="3136392" y="3058210"/>
            <a:ext cx="4453128" cy="774953"/>
          </a:xfrm>
          <a:prstGeom prst="rect">
            <a:avLst/>
          </a:prstGeom>
          <a:noFill/>
        </p:spPr>
        <p:txBody>
          <a:bodyPr wrap="square" lIns="0" rIns="0" tIns="0" bIns="0" anchor="ctr">
            <a:spAutoFit/>
          </a:bodyPr>
          <a:lstStyle/>
          <a:p>
            <a:pPr algn="l">
              <a:lnSpc>
                <a:spcPct val="106000"/>
              </a:lnSpc>
              <a:spcBef>
                <a:spcPts val="0"/>
              </a:spcBef>
              <a:spcAft>
                <a:spcPts val="0"/>
              </a:spcAft>
              <a:defRPr sz="2300" b="0" i="0">
                <a:solidFill>
                  <a:srgbClr val="253438"/>
                </a:solidFill>
                <a:latin typeface="Calibri"/>
              </a:defRPr>
            </a:pPr>
            <a:r>
              <a:t>Leak; triggering; residual events</a:t>
            </a:r>
          </a:p>
        </p:txBody>
      </p:sp>
      <p:sp>
        <p:nvSpPr>
          <p:cNvPr id="20" name="TextBox 19"/>
          <p:cNvSpPr txBox="1"/>
          <p:nvPr/>
        </p:nvSpPr>
        <p:spPr>
          <a:xfrm>
            <a:off x="7845552" y="3058210"/>
            <a:ext cx="3633215" cy="774953"/>
          </a:xfrm>
          <a:prstGeom prst="rect">
            <a:avLst/>
          </a:prstGeom>
          <a:noFill/>
        </p:spPr>
        <p:txBody>
          <a:bodyPr wrap="square" lIns="0" rIns="0" tIns="0" bIns="0" anchor="ctr">
            <a:spAutoFit/>
          </a:bodyPr>
          <a:lstStyle/>
          <a:p>
            <a:pPr algn="l">
              <a:lnSpc>
                <a:spcPct val="106000"/>
              </a:lnSpc>
              <a:spcBef>
                <a:spcPts val="0"/>
              </a:spcBef>
              <a:spcAft>
                <a:spcPts val="0"/>
              </a:spcAft>
              <a:defRPr sz="2300" b="0" i="0">
                <a:solidFill>
                  <a:srgbClr val="253438"/>
                </a:solidFill>
                <a:latin typeface="Calibri"/>
              </a:defRPr>
            </a:pPr>
            <a:r>
              <a:t>Device-specific estimates</a:t>
            </a:r>
          </a:p>
        </p:txBody>
      </p:sp>
      <p:cxnSp>
        <p:nvCxnSpPr>
          <p:cNvPr id="21" name="Connector 20"/>
          <p:cNvCxnSpPr/>
          <p:nvPr/>
        </p:nvCxnSpPr>
        <p:spPr>
          <a:xfrm>
            <a:off x="585216" y="3854196"/>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713232" y="3874312"/>
            <a:ext cx="2167128" cy="774953"/>
          </a:xfrm>
          <a:prstGeom prst="rect">
            <a:avLst/>
          </a:prstGeom>
          <a:noFill/>
        </p:spPr>
        <p:txBody>
          <a:bodyPr wrap="square" lIns="0" rIns="0" tIns="0" bIns="0" anchor="ctr">
            <a:spAutoFit/>
          </a:bodyPr>
          <a:lstStyle/>
          <a:p>
            <a:pPr algn="l">
              <a:lnSpc>
                <a:spcPct val="106000"/>
              </a:lnSpc>
              <a:spcBef>
                <a:spcPts val="0"/>
              </a:spcBef>
              <a:spcAft>
                <a:spcPts val="0"/>
              </a:spcAft>
              <a:defRPr sz="2300" b="1" i="0">
                <a:solidFill>
                  <a:srgbClr val="172326"/>
                </a:solidFill>
                <a:latin typeface="Calibri"/>
              </a:defRPr>
            </a:pPr>
            <a:r>
              <a:t>Gas exchange</a:t>
            </a:r>
          </a:p>
        </p:txBody>
      </p:sp>
      <p:sp>
        <p:nvSpPr>
          <p:cNvPr id="23" name="TextBox 22"/>
          <p:cNvSpPr txBox="1"/>
          <p:nvPr/>
        </p:nvSpPr>
        <p:spPr>
          <a:xfrm>
            <a:off x="3136392" y="3874312"/>
            <a:ext cx="4453128" cy="774953"/>
          </a:xfrm>
          <a:prstGeom prst="rect">
            <a:avLst/>
          </a:prstGeom>
          <a:noFill/>
        </p:spPr>
        <p:txBody>
          <a:bodyPr wrap="square" lIns="0" rIns="0" tIns="0" bIns="0" anchor="ctr">
            <a:spAutoFit/>
          </a:bodyPr>
          <a:lstStyle/>
          <a:p>
            <a:pPr algn="l">
              <a:lnSpc>
                <a:spcPct val="106000"/>
              </a:lnSpc>
              <a:spcBef>
                <a:spcPts val="0"/>
              </a:spcBef>
              <a:spcAft>
                <a:spcPts val="0"/>
              </a:spcAft>
              <a:defRPr sz="2300" b="0" i="0">
                <a:solidFill>
                  <a:srgbClr val="253438"/>
                </a:solidFill>
                <a:latin typeface="Calibri"/>
              </a:defRPr>
            </a:pPr>
            <a:r>
              <a:t>Awake ABG; nocturnal CO₂ / SpO₂</a:t>
            </a:r>
          </a:p>
        </p:txBody>
      </p:sp>
      <p:sp>
        <p:nvSpPr>
          <p:cNvPr id="24" name="TextBox 23"/>
          <p:cNvSpPr txBox="1"/>
          <p:nvPr/>
        </p:nvSpPr>
        <p:spPr>
          <a:xfrm>
            <a:off x="7845552" y="3874312"/>
            <a:ext cx="3633215" cy="774953"/>
          </a:xfrm>
          <a:prstGeom prst="rect">
            <a:avLst/>
          </a:prstGeom>
          <a:noFill/>
        </p:spPr>
        <p:txBody>
          <a:bodyPr wrap="square" lIns="0" rIns="0" tIns="0" bIns="0" anchor="ctr">
            <a:spAutoFit/>
          </a:bodyPr>
          <a:lstStyle/>
          <a:p>
            <a:pPr algn="l">
              <a:lnSpc>
                <a:spcPct val="106000"/>
              </a:lnSpc>
              <a:spcBef>
                <a:spcPts val="0"/>
              </a:spcBef>
              <a:spcAft>
                <a:spcPts val="0"/>
              </a:spcAft>
              <a:defRPr sz="2300" b="0" i="0">
                <a:solidFill>
                  <a:srgbClr val="253438"/>
                </a:solidFill>
                <a:latin typeface="Calibri"/>
              </a:defRPr>
            </a:pPr>
            <a:r>
              <a:t>Timing and measurement</a:t>
            </a:r>
          </a:p>
          <a:p>
            <a:pPr algn="l">
              <a:lnSpc>
                <a:spcPct val="106000"/>
              </a:lnSpc>
              <a:spcBef>
                <a:spcPts val="0"/>
              </a:spcBef>
              <a:spcAft>
                <a:spcPts val="0"/>
              </a:spcAft>
              <a:defRPr sz="2300" b="0" i="0">
                <a:solidFill>
                  <a:srgbClr val="253438"/>
                </a:solidFill>
                <a:latin typeface="Calibri"/>
              </a:defRPr>
            </a:pPr>
            <a:r>
              <a:t>method matter</a:t>
            </a:r>
          </a:p>
        </p:txBody>
      </p:sp>
      <p:sp>
        <p:nvSpPr>
          <p:cNvPr id="25" name="Rectangle 24"/>
          <p:cNvSpPr/>
          <p:nvPr/>
        </p:nvSpPr>
        <p:spPr>
          <a:xfrm>
            <a:off x="585216" y="4670298"/>
            <a:ext cx="11021567" cy="816102"/>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6" name="Connector 25"/>
          <p:cNvCxnSpPr/>
          <p:nvPr/>
        </p:nvCxnSpPr>
        <p:spPr>
          <a:xfrm>
            <a:off x="585216" y="4670298"/>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713232" y="4690414"/>
            <a:ext cx="2167128" cy="774953"/>
          </a:xfrm>
          <a:prstGeom prst="rect">
            <a:avLst/>
          </a:prstGeom>
          <a:noFill/>
        </p:spPr>
        <p:txBody>
          <a:bodyPr wrap="square" lIns="0" rIns="0" tIns="0" bIns="0" anchor="ctr">
            <a:spAutoFit/>
          </a:bodyPr>
          <a:lstStyle/>
          <a:p>
            <a:pPr algn="l">
              <a:lnSpc>
                <a:spcPct val="106000"/>
              </a:lnSpc>
              <a:spcBef>
                <a:spcPts val="0"/>
              </a:spcBef>
              <a:spcAft>
                <a:spcPts val="0"/>
              </a:spcAft>
              <a:defRPr sz="2300" b="1" i="0">
                <a:solidFill>
                  <a:srgbClr val="172326"/>
                </a:solidFill>
                <a:latin typeface="Calibri"/>
              </a:defRPr>
            </a:pPr>
            <a:r>
              <a:t>Patient</a:t>
            </a:r>
          </a:p>
          <a:p>
            <a:pPr algn="l">
              <a:lnSpc>
                <a:spcPct val="106000"/>
              </a:lnSpc>
              <a:spcBef>
                <a:spcPts val="0"/>
              </a:spcBef>
              <a:spcAft>
                <a:spcPts val="0"/>
              </a:spcAft>
              <a:defRPr sz="2300" b="1" i="0">
                <a:solidFill>
                  <a:srgbClr val="172326"/>
                </a:solidFill>
                <a:latin typeface="Calibri"/>
              </a:defRPr>
            </a:pPr>
            <a:r>
              <a:t>outcomes</a:t>
            </a:r>
          </a:p>
        </p:txBody>
      </p:sp>
      <p:sp>
        <p:nvSpPr>
          <p:cNvPr id="28" name="TextBox 27"/>
          <p:cNvSpPr txBox="1"/>
          <p:nvPr/>
        </p:nvSpPr>
        <p:spPr>
          <a:xfrm>
            <a:off x="3136392" y="4690414"/>
            <a:ext cx="4453128" cy="774953"/>
          </a:xfrm>
          <a:prstGeom prst="rect">
            <a:avLst/>
          </a:prstGeom>
          <a:noFill/>
        </p:spPr>
        <p:txBody>
          <a:bodyPr wrap="square" lIns="0" rIns="0" tIns="0" bIns="0" anchor="ctr">
            <a:spAutoFit/>
          </a:bodyPr>
          <a:lstStyle/>
          <a:p>
            <a:pPr algn="l">
              <a:lnSpc>
                <a:spcPct val="106000"/>
              </a:lnSpc>
              <a:spcBef>
                <a:spcPts val="0"/>
              </a:spcBef>
              <a:spcAft>
                <a:spcPts val="0"/>
              </a:spcAft>
              <a:defRPr sz="2300" b="0" i="0">
                <a:solidFill>
                  <a:srgbClr val="253438"/>
                </a:solidFill>
                <a:latin typeface="Calibri"/>
              </a:defRPr>
            </a:pPr>
            <a:r>
              <a:t>Symptoms; sleep; function;</a:t>
            </a:r>
          </a:p>
          <a:p>
            <a:pPr algn="l">
              <a:lnSpc>
                <a:spcPct val="106000"/>
              </a:lnSpc>
              <a:spcBef>
                <a:spcPts val="0"/>
              </a:spcBef>
              <a:spcAft>
                <a:spcPts val="0"/>
              </a:spcAft>
              <a:defRPr sz="2300" b="0" i="0">
                <a:solidFill>
                  <a:srgbClr val="253438"/>
                </a:solidFill>
                <a:latin typeface="Calibri"/>
              </a:defRPr>
            </a:pPr>
            <a:r>
              <a:t>admissions</a:t>
            </a:r>
          </a:p>
        </p:txBody>
      </p:sp>
      <p:sp>
        <p:nvSpPr>
          <p:cNvPr id="29" name="TextBox 28"/>
          <p:cNvSpPr txBox="1"/>
          <p:nvPr/>
        </p:nvSpPr>
        <p:spPr>
          <a:xfrm>
            <a:off x="7845552" y="4690414"/>
            <a:ext cx="3633215" cy="774953"/>
          </a:xfrm>
          <a:prstGeom prst="rect">
            <a:avLst/>
          </a:prstGeom>
          <a:noFill/>
        </p:spPr>
        <p:txBody>
          <a:bodyPr wrap="square" lIns="0" rIns="0" tIns="0" bIns="0" anchor="ctr">
            <a:spAutoFit/>
          </a:bodyPr>
          <a:lstStyle/>
          <a:p>
            <a:pPr algn="l">
              <a:lnSpc>
                <a:spcPct val="106000"/>
              </a:lnSpc>
              <a:spcBef>
                <a:spcPts val="0"/>
              </a:spcBef>
              <a:spcAft>
                <a:spcPts val="0"/>
              </a:spcAft>
              <a:defRPr sz="2300" b="0" i="0">
                <a:solidFill>
                  <a:srgbClr val="253438"/>
                </a:solidFill>
                <a:latin typeface="Calibri"/>
              </a:defRPr>
            </a:pPr>
            <a:r>
              <a:t>Not interchangeable with</a:t>
            </a:r>
          </a:p>
          <a:p>
            <a:pPr algn="l">
              <a:lnSpc>
                <a:spcPct val="106000"/>
              </a:lnSpc>
              <a:spcBef>
                <a:spcPts val="0"/>
              </a:spcBef>
              <a:spcAft>
                <a:spcPts val="0"/>
              </a:spcAft>
              <a:defRPr sz="2300" b="0" i="0">
                <a:solidFill>
                  <a:srgbClr val="253438"/>
                </a:solidFill>
                <a:latin typeface="Calibri"/>
              </a:defRPr>
            </a:pPr>
            <a:r>
              <a:t>usage</a:t>
            </a:r>
          </a:p>
        </p:txBody>
      </p:sp>
      <p:cxnSp>
        <p:nvCxnSpPr>
          <p:cNvPr id="30" name="Connector 29"/>
          <p:cNvCxnSpPr/>
          <p:nvPr/>
        </p:nvCxnSpPr>
        <p:spPr>
          <a:xfrm>
            <a:off x="585216" y="5486400"/>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31" name="Rectangle 30"/>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1900" b="0" i="0">
                <a:solidFill>
                  <a:srgbClr val="172326"/>
                </a:solidFill>
                <a:latin typeface="Calibri"/>
              </a:defRPr>
            </a:pPr>
            <a:r>
              <a:t>Association between CO₂ reduction and outcome is not proof of a universal causal treatment target.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extBox 1"/>
          <p:cNvSpPr txBox="1"/>
          <p:nvPr/>
        </p:nvSpPr>
        <p:spPr>
          <a:xfrm>
            <a:off x="585216" y="201168"/>
            <a:ext cx="8778240" cy="256032"/>
          </a:xfrm>
          <a:prstGeom prst="rect">
            <a:avLst/>
          </a:prstGeom>
          <a:noFill/>
        </p:spPr>
        <p:txBody>
          <a:bodyPr wrap="square" lIns="0" rIns="0" tIns="0" bIns="0" anchor="t">
            <a:spAutoFit/>
          </a:bodyPr>
          <a:lstStyle/>
          <a:p>
            <a:pPr algn="l">
              <a:lnSpc>
                <a:spcPct val="106000"/>
              </a:lnSpc>
              <a:spcBef>
                <a:spcPts val="0"/>
              </a:spcBef>
              <a:spcAft>
                <a:spcPts val="0"/>
              </a:spcAft>
              <a:defRPr sz="1200" b="1" i="0">
                <a:solidFill>
                  <a:srgbClr val="596A70"/>
                </a:solidFill>
                <a:latin typeface="Calibri"/>
              </a:defRPr>
            </a:pPr>
            <a:r>
              <a:t>APPENDIX · CURRENT POLICY</a:t>
            </a:r>
          </a:p>
        </p:txBody>
      </p:sp>
      <p:sp>
        <p:nvSpPr>
          <p:cNvPr id="3" name="TextBox 2"/>
          <p:cNvSpPr txBox="1"/>
          <p:nvPr/>
        </p:nvSpPr>
        <p:spPr>
          <a:xfrm>
            <a:off x="585216" y="603504"/>
            <a:ext cx="11021567" cy="914400"/>
          </a:xfrm>
          <a:prstGeom prst="rect">
            <a:avLst/>
          </a:prstGeom>
          <a:noFill/>
        </p:spPr>
        <p:txBody>
          <a:bodyPr wrap="square" lIns="0" rIns="0" tIns="0" bIns="0" anchor="t">
            <a:spAutoFit/>
          </a:bodyPr>
          <a:lstStyle/>
          <a:p>
            <a:pPr algn="l">
              <a:lnSpc>
                <a:spcPct val="106000"/>
              </a:lnSpc>
              <a:spcBef>
                <a:spcPts val="0"/>
              </a:spcBef>
              <a:spcAft>
                <a:spcPts val="0"/>
              </a:spcAft>
              <a:defRPr sz="3300" b="1" i="0">
                <a:solidFill>
                  <a:srgbClr val="172326"/>
                </a:solidFill>
                <a:latin typeface="Calibri"/>
              </a:defRPr>
            </a:pPr>
            <a:r>
              <a:t>Documentation and source index</a:t>
            </a:r>
          </a:p>
        </p:txBody>
      </p:sp>
      <p:cxnSp>
        <p:nvCxnSpPr>
          <p:cNvPr id="4" name="Connector 3"/>
          <p:cNvCxnSpPr/>
          <p:nvPr/>
        </p:nvCxnSpPr>
        <p:spPr>
          <a:xfrm>
            <a:off x="585216" y="1472184"/>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a:off x="585216" y="6318504"/>
            <a:ext cx="11021567" cy="0"/>
          </a:xfrm>
          <a:prstGeom prst="line">
            <a:avLst/>
          </a:prstGeom>
          <a:ln w="8890">
            <a:solidFill>
              <a:srgbClr val="CBD5D8"/>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41948"/>
            <a:ext cx="9738360" cy="246888"/>
          </a:xfrm>
          <a:prstGeom prst="rect">
            <a:avLst/>
          </a:prstGeom>
          <a:noFill/>
        </p:spPr>
        <p:txBody>
          <a:bodyPr wrap="square" lIns="0" rIns="0" tIns="0" bIns="0" anchor="t">
            <a:spAutoFit/>
          </a:bodyPr>
          <a:lstStyle/>
          <a:p>
            <a:pPr algn="l">
              <a:lnSpc>
                <a:spcPct val="106000"/>
              </a:lnSpc>
              <a:spcBef>
                <a:spcPts val="0"/>
              </a:spcBef>
              <a:spcAft>
                <a:spcPts val="0"/>
              </a:spcAft>
              <a:defRPr sz="1019" b="0" i="0">
                <a:solidFill>
                  <a:srgbClr val="596A70"/>
                </a:solidFill>
                <a:latin typeface="Calibri"/>
              </a:defRPr>
            </a:pPr>
            <a:r>
              <a:t>CMS A55426 [R19] · CMS order requirements [R21] · R22, R23</a:t>
            </a:r>
          </a:p>
        </p:txBody>
      </p:sp>
      <p:sp>
        <p:nvSpPr>
          <p:cNvPr id="7" name="TextBox 6"/>
          <p:cNvSpPr txBox="1"/>
          <p:nvPr/>
        </p:nvSpPr>
        <p:spPr>
          <a:xfrm>
            <a:off x="10390631" y="6441948"/>
            <a:ext cx="1216152" cy="228600"/>
          </a:xfrm>
          <a:prstGeom prst="rect">
            <a:avLst/>
          </a:prstGeom>
          <a:noFill/>
        </p:spPr>
        <p:txBody>
          <a:bodyPr wrap="square" lIns="0" rIns="0" tIns="0" bIns="0" anchor="t">
            <a:spAutoFit/>
          </a:bodyPr>
          <a:lstStyle/>
          <a:p>
            <a:pPr algn="r">
              <a:lnSpc>
                <a:spcPct val="106000"/>
              </a:lnSpc>
              <a:spcBef>
                <a:spcPts val="0"/>
              </a:spcBef>
              <a:spcAft>
                <a:spcPts val="0"/>
              </a:spcAft>
              <a:defRPr sz="1019" b="0" i="0">
                <a:solidFill>
                  <a:srgbClr val="596A70"/>
                </a:solidFill>
                <a:latin typeface="Calibri"/>
              </a:defRPr>
            </a:pPr>
            <a:r>
              <a:t>BACKUP · A12</a:t>
            </a:r>
          </a:p>
        </p:txBody>
      </p:sp>
      <p:sp>
        <p:nvSpPr>
          <p:cNvPr id="8" name="Rectangle 7"/>
          <p:cNvSpPr/>
          <p:nvPr/>
        </p:nvSpPr>
        <p:spPr>
          <a:xfrm>
            <a:off x="585216" y="1746504"/>
            <a:ext cx="11021567" cy="475488"/>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13232" y="1819656"/>
            <a:ext cx="3767328" cy="365760"/>
          </a:xfrm>
          <a:prstGeom prst="rect">
            <a:avLst/>
          </a:prstGeom>
          <a:noFill/>
        </p:spPr>
        <p:txBody>
          <a:bodyPr wrap="square" lIns="0" rIns="0" tIns="0" bIns="0" anchor="t">
            <a:spAutoFit/>
          </a:bodyPr>
          <a:lstStyle/>
          <a:p>
            <a:pPr algn="l">
              <a:lnSpc>
                <a:spcPct val="106000"/>
              </a:lnSpc>
              <a:spcBef>
                <a:spcPts val="0"/>
              </a:spcBef>
              <a:spcAft>
                <a:spcPts val="0"/>
              </a:spcAft>
              <a:defRPr sz="2000" b="1" i="0">
                <a:solidFill>
                  <a:srgbClr val="172326"/>
                </a:solidFill>
                <a:latin typeface="Calibri"/>
              </a:defRPr>
            </a:pPr>
            <a:r>
              <a:t>Topic</a:t>
            </a:r>
          </a:p>
        </p:txBody>
      </p:sp>
      <p:sp>
        <p:nvSpPr>
          <p:cNvPr id="10" name="TextBox 9"/>
          <p:cNvSpPr txBox="1"/>
          <p:nvPr/>
        </p:nvSpPr>
        <p:spPr>
          <a:xfrm>
            <a:off x="4736592" y="1819656"/>
            <a:ext cx="6742175" cy="365760"/>
          </a:xfrm>
          <a:prstGeom prst="rect">
            <a:avLst/>
          </a:prstGeom>
          <a:noFill/>
        </p:spPr>
        <p:txBody>
          <a:bodyPr wrap="square" lIns="0" rIns="0" tIns="0" bIns="0" anchor="t">
            <a:spAutoFit/>
          </a:bodyPr>
          <a:lstStyle/>
          <a:p>
            <a:pPr algn="l">
              <a:lnSpc>
                <a:spcPct val="106000"/>
              </a:lnSpc>
              <a:spcBef>
                <a:spcPts val="0"/>
              </a:spcBef>
              <a:spcAft>
                <a:spcPts val="0"/>
              </a:spcAft>
              <a:defRPr sz="2000" b="1" i="0">
                <a:solidFill>
                  <a:srgbClr val="172326"/>
                </a:solidFill>
                <a:latin typeface="Calibri"/>
              </a:defRPr>
            </a:pPr>
            <a:r>
              <a:t>Source</a:t>
            </a:r>
          </a:p>
        </p:txBody>
      </p:sp>
      <p:cxnSp>
        <p:nvCxnSpPr>
          <p:cNvPr id="11" name="Connector 10"/>
          <p:cNvCxnSpPr/>
          <p:nvPr/>
        </p:nvCxnSpPr>
        <p:spPr>
          <a:xfrm>
            <a:off x="585216" y="2221991"/>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713232" y="2242108"/>
            <a:ext cx="3767328" cy="502919"/>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COPD RAD / HMV</a:t>
            </a:r>
          </a:p>
        </p:txBody>
      </p:sp>
      <p:sp>
        <p:nvSpPr>
          <p:cNvPr id="13" name="TextBox 12"/>
          <p:cNvSpPr txBox="1"/>
          <p:nvPr/>
        </p:nvSpPr>
        <p:spPr>
          <a:xfrm>
            <a:off x="4736592" y="2242108"/>
            <a:ext cx="6742175" cy="502919"/>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NCD 240.9 and CMS FAQ</a:t>
            </a:r>
          </a:p>
        </p:txBody>
      </p:sp>
      <p:sp>
        <p:nvSpPr>
          <p:cNvPr id="14" name="Rectangle 13"/>
          <p:cNvSpPr/>
          <p:nvPr/>
        </p:nvSpPr>
        <p:spPr>
          <a:xfrm>
            <a:off x="585216" y="2766059"/>
            <a:ext cx="11021567" cy="544068"/>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585216" y="2766059"/>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13232" y="2786176"/>
            <a:ext cx="3767328" cy="502919"/>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OSA PAP</a:t>
            </a:r>
          </a:p>
        </p:txBody>
      </p:sp>
      <p:sp>
        <p:nvSpPr>
          <p:cNvPr id="17" name="TextBox 16"/>
          <p:cNvSpPr txBox="1"/>
          <p:nvPr/>
        </p:nvSpPr>
        <p:spPr>
          <a:xfrm>
            <a:off x="4736592" y="2786176"/>
            <a:ext cx="6742175" cy="502919"/>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NCD 240.4; LCD L33718</a:t>
            </a:r>
          </a:p>
        </p:txBody>
      </p:sp>
      <p:cxnSp>
        <p:nvCxnSpPr>
          <p:cNvPr id="18" name="Connector 17"/>
          <p:cNvCxnSpPr/>
          <p:nvPr/>
        </p:nvCxnSpPr>
        <p:spPr>
          <a:xfrm>
            <a:off x="585216" y="3310127"/>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713232" y="3330244"/>
            <a:ext cx="3767328" cy="502919"/>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Non-COPD RAD</a:t>
            </a:r>
          </a:p>
        </p:txBody>
      </p:sp>
      <p:sp>
        <p:nvSpPr>
          <p:cNvPr id="20" name="TextBox 19"/>
          <p:cNvSpPr txBox="1"/>
          <p:nvPr/>
        </p:nvSpPr>
        <p:spPr>
          <a:xfrm>
            <a:off x="4736592" y="3330244"/>
            <a:ext cx="6742175" cy="502919"/>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LCD L33800</a:t>
            </a:r>
          </a:p>
        </p:txBody>
      </p:sp>
      <p:sp>
        <p:nvSpPr>
          <p:cNvPr id="21" name="Rectangle 20"/>
          <p:cNvSpPr/>
          <p:nvPr/>
        </p:nvSpPr>
        <p:spPr>
          <a:xfrm>
            <a:off x="585216" y="3854196"/>
            <a:ext cx="11021567" cy="544068"/>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585216" y="3854196"/>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713232" y="3874312"/>
            <a:ext cx="3767328" cy="502919"/>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Other ventilator indications</a:t>
            </a:r>
          </a:p>
        </p:txBody>
      </p:sp>
      <p:sp>
        <p:nvSpPr>
          <p:cNvPr id="24" name="TextBox 23"/>
          <p:cNvSpPr txBox="1"/>
          <p:nvPr/>
        </p:nvSpPr>
        <p:spPr>
          <a:xfrm>
            <a:off x="4736592" y="3874312"/>
            <a:ext cx="6742175" cy="502919"/>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NCD 280.1; contractor coding guidance</a:t>
            </a:r>
          </a:p>
        </p:txBody>
      </p:sp>
      <p:cxnSp>
        <p:nvCxnSpPr>
          <p:cNvPr id="25" name="Connector 24"/>
          <p:cNvCxnSpPr/>
          <p:nvPr/>
        </p:nvCxnSpPr>
        <p:spPr>
          <a:xfrm>
            <a:off x="585216" y="4398264"/>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713232" y="4418380"/>
            <a:ext cx="3767328" cy="502919"/>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F2F / prior written order</a:t>
            </a:r>
          </a:p>
        </p:txBody>
      </p:sp>
      <p:sp>
        <p:nvSpPr>
          <p:cNvPr id="27" name="TextBox 26"/>
          <p:cNvSpPr txBox="1"/>
          <p:nvPr/>
        </p:nvSpPr>
        <p:spPr>
          <a:xfrm>
            <a:off x="4736592" y="4418380"/>
            <a:ext cx="6742175" cy="502919"/>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CMS order requirements; Oct 28, 2026 expansion</a:t>
            </a:r>
          </a:p>
        </p:txBody>
      </p:sp>
      <p:sp>
        <p:nvSpPr>
          <p:cNvPr id="28" name="Rectangle 27"/>
          <p:cNvSpPr/>
          <p:nvPr/>
        </p:nvSpPr>
        <p:spPr>
          <a:xfrm>
            <a:off x="585216" y="4942331"/>
            <a:ext cx="11021567" cy="544068"/>
          </a:xfrm>
          <a:prstGeom prst="rect">
            <a:avLst/>
          </a:prstGeom>
          <a:solidFill>
            <a:srgbClr val="F4F6F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9" name="Connector 28"/>
          <p:cNvCxnSpPr/>
          <p:nvPr/>
        </p:nvCxnSpPr>
        <p:spPr>
          <a:xfrm>
            <a:off x="585216" y="4942331"/>
            <a:ext cx="11021567" cy="0"/>
          </a:xfrm>
          <a:prstGeom prst="line">
            <a:avLst/>
          </a:prstGeom>
          <a:ln w="7620">
            <a:solidFill>
              <a:srgbClr val="CBD5D8"/>
            </a:solidFill>
          </a:ln>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713232" y="4962448"/>
            <a:ext cx="3767328" cy="502919"/>
          </a:xfrm>
          <a:prstGeom prst="rect">
            <a:avLst/>
          </a:prstGeom>
          <a:noFill/>
        </p:spPr>
        <p:txBody>
          <a:bodyPr wrap="square" lIns="0" rIns="0" tIns="0" bIns="0" anchor="ctr">
            <a:spAutoFit/>
          </a:bodyPr>
          <a:lstStyle/>
          <a:p>
            <a:pPr algn="l">
              <a:lnSpc>
                <a:spcPct val="106000"/>
              </a:lnSpc>
              <a:spcBef>
                <a:spcPts val="0"/>
              </a:spcBef>
              <a:spcAft>
                <a:spcPts val="0"/>
              </a:spcAft>
              <a:defRPr sz="2200" b="1" i="0">
                <a:solidFill>
                  <a:srgbClr val="172326"/>
                </a:solidFill>
                <a:latin typeface="Calibri"/>
              </a:defRPr>
            </a:pPr>
            <a:r>
              <a:t>Utah Medicaid</a:t>
            </a:r>
          </a:p>
        </p:txBody>
      </p:sp>
      <p:sp>
        <p:nvSpPr>
          <p:cNvPr id="31" name="TextBox 30"/>
          <p:cNvSpPr txBox="1"/>
          <p:nvPr/>
        </p:nvSpPr>
        <p:spPr>
          <a:xfrm>
            <a:off x="4736592" y="4962448"/>
            <a:ext cx="6742175" cy="502919"/>
          </a:xfrm>
          <a:prstGeom prst="rect">
            <a:avLst/>
          </a:prstGeom>
          <a:noFill/>
        </p:spPr>
        <p:txBody>
          <a:bodyPr wrap="square" lIns="0" rIns="0" tIns="0" bIns="0" anchor="ctr">
            <a:spAutoFit/>
          </a:bodyPr>
          <a:lstStyle/>
          <a:p>
            <a:pPr algn="l">
              <a:lnSpc>
                <a:spcPct val="106000"/>
              </a:lnSpc>
              <a:spcBef>
                <a:spcPts val="0"/>
              </a:spcBef>
              <a:spcAft>
                <a:spcPts val="0"/>
              </a:spcAft>
              <a:defRPr sz="2200" b="0" i="0">
                <a:solidFill>
                  <a:srgbClr val="253438"/>
                </a:solidFill>
                <a:latin typeface="Calibri"/>
              </a:defRPr>
            </a:pPr>
            <a:r>
              <a:t>State criteria and applicable plan process</a:t>
            </a:r>
          </a:p>
        </p:txBody>
      </p:sp>
      <p:cxnSp>
        <p:nvCxnSpPr>
          <p:cNvPr id="32" name="Connector 31"/>
          <p:cNvCxnSpPr/>
          <p:nvPr/>
        </p:nvCxnSpPr>
        <p:spPr>
          <a:xfrm>
            <a:off x="585216" y="5486400"/>
            <a:ext cx="11021567" cy="0"/>
          </a:xfrm>
          <a:prstGeom prst="line">
            <a:avLst/>
          </a:prstGeom>
          <a:ln w="10160">
            <a:solidFill>
              <a:srgbClr val="CBD5D8"/>
            </a:solidFill>
          </a:ln>
        </p:spPr>
        <p:style>
          <a:lnRef idx="2">
            <a:schemeClr val="accent1"/>
          </a:lnRef>
          <a:fillRef idx="0">
            <a:schemeClr val="accent1"/>
          </a:fillRef>
          <a:effectRef idx="0">
            <a:schemeClr val="accent1"/>
          </a:effectRef>
          <a:fontRef idx="minor">
            <a:schemeClr val="tx1"/>
          </a:fontRef>
        </p:style>
      </p:cxnSp>
      <p:sp>
        <p:nvSpPr>
          <p:cNvPr id="33" name="Rectangle 32"/>
          <p:cNvSpPr/>
          <p:nvPr/>
        </p:nvSpPr>
        <p:spPr>
          <a:xfrm>
            <a:off x="585216" y="5559552"/>
            <a:ext cx="11021567" cy="594360"/>
          </a:xfrm>
          <a:prstGeom prst="rect">
            <a:avLst/>
          </a:prstGeom>
          <a:solidFill>
            <a:srgbClr val="ECF3F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ectangle 33"/>
          <p:cNvSpPr/>
          <p:nvPr/>
        </p:nvSpPr>
        <p:spPr>
          <a:xfrm>
            <a:off x="585216" y="5559552"/>
            <a:ext cx="45720" cy="594360"/>
          </a:xfrm>
          <a:prstGeom prst="rect">
            <a:avLst/>
          </a:prstGeom>
          <a:solidFill>
            <a:srgbClr val="1C69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740664" y="5596128"/>
            <a:ext cx="10710671" cy="502920"/>
          </a:xfrm>
          <a:prstGeom prst="rect">
            <a:avLst/>
          </a:prstGeom>
          <a:noFill/>
        </p:spPr>
        <p:txBody>
          <a:bodyPr wrap="square" lIns="0" rIns="0" tIns="0" bIns="0" anchor="ctr">
            <a:spAutoFit/>
          </a:bodyPr>
          <a:lstStyle/>
          <a:p>
            <a:pPr algn="l">
              <a:lnSpc>
                <a:spcPct val="106000"/>
              </a:lnSpc>
              <a:spcBef>
                <a:spcPts val="0"/>
              </a:spcBef>
              <a:spcAft>
                <a:spcPts val="0"/>
              </a:spcAft>
              <a:defRPr sz="1900" b="0" i="0">
                <a:solidFill>
                  <a:srgbClr val="172326"/>
                </a:solidFill>
                <a:latin typeface="Calibri"/>
              </a:defRPr>
            </a:pPr>
            <a:r>
              <a:t>Policy reference date: September 19, 2026. E0466/E0467/E0468 F2F/WOPD expansion is forthcoming.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PAP, RADs, HMVs: Historical Pathways and the Current Landscape</dc:title>
  <dc:subject>Pulmonary fellows lecture; history-first factual revision, version 2</dc:subject>
  <dc:creator>Brian W. Locke</dc:creator>
  <cp:keywords>PAP, CPAP, RAD, HMV, NIV, Medicare, 240.9</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